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12192000"/>
  <p:notesSz cx="6858000" cy="12192000"/>
  <p:embeddedFontLst>
    <p:embeddedFont>
      <p:font typeface="Roboto"/>
      <p:regular r:id="rId22"/>
      <p:bold r:id="rId23"/>
      <p:italic r:id="rId24"/>
      <p:boldItalic r:id="rId25"/>
    </p:embeddedFont>
    <p:embeddedFont>
      <p:font typeface="Roboto Mono"/>
      <p:regular r:id="rId26"/>
      <p:bold r:id="rId27"/>
      <p:italic r:id="rId28"/>
      <p:boldItalic r:id="rId29"/>
    </p:embeddedFont>
    <p:embeddedFont>
      <p:font typeface="Satisfy"/>
      <p:regular r:id="rId30"/>
    </p:embeddedFont>
    <p:embeddedFont>
      <p:font typeface="Open Sans"/>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B5CFB33-637F-46E9-A5E5-62C64E01FEC0}">
  <a:tblStyle styleId="{FB5CFB33-637F-46E9-A5E5-62C64E01FEC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oboto-regular.fntdata"/><Relationship Id="rId21" Type="http://schemas.openxmlformats.org/officeDocument/2006/relationships/slide" Target="slides/slide16.xml"/><Relationship Id="rId24" Type="http://schemas.openxmlformats.org/officeDocument/2006/relationships/font" Target="fonts/Roboto-italic.fntdata"/><Relationship Id="rId23" Type="http://schemas.openxmlformats.org/officeDocument/2006/relationships/font" Target="fonts/Roboto-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Mono-regular.fntdata"/><Relationship Id="rId25" Type="http://schemas.openxmlformats.org/officeDocument/2006/relationships/font" Target="fonts/Roboto-boldItalic.fntdata"/><Relationship Id="rId28" Type="http://schemas.openxmlformats.org/officeDocument/2006/relationships/font" Target="fonts/RobotoMono-italic.fntdata"/><Relationship Id="rId27" Type="http://schemas.openxmlformats.org/officeDocument/2006/relationships/font" Target="fonts/RobotoMon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Mono-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penSans-regular.fntdata"/><Relationship Id="rId30" Type="http://schemas.openxmlformats.org/officeDocument/2006/relationships/font" Target="fonts/Satisfy-regular.fntdata"/><Relationship Id="rId11" Type="http://schemas.openxmlformats.org/officeDocument/2006/relationships/slide" Target="slides/slide6.xml"/><Relationship Id="rId33" Type="http://schemas.openxmlformats.org/officeDocument/2006/relationships/font" Target="fonts/OpenSans-italic.fntdata"/><Relationship Id="rId10" Type="http://schemas.openxmlformats.org/officeDocument/2006/relationships/slide" Target="slides/slide5.xml"/><Relationship Id="rId32" Type="http://schemas.openxmlformats.org/officeDocument/2006/relationships/font" Target="fonts/OpenSans-bold.fntdata"/><Relationship Id="rId13" Type="http://schemas.openxmlformats.org/officeDocument/2006/relationships/slide" Target="slides/slide8.xml"/><Relationship Id="rId12" Type="http://schemas.openxmlformats.org/officeDocument/2006/relationships/slide" Target="slides/slide7.xml"/><Relationship Id="rId34" Type="http://schemas.openxmlformats.org/officeDocument/2006/relationships/font" Target="fonts/OpenSans-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presentation/d/1r7r2a83T4PFJ_TAQ4p7OT-7_79lvwniMklO8WJrVdeQ/edit#slide=id.p6" TargetMode="External"/><Relationship Id="rId3" Type="http://schemas.openxmlformats.org/officeDocument/2006/relationships/hyperlink" Target="https://docs.google.com/presentation/d/1r7r2a83T4PFJ_TAQ4p7OT-7_79lvwniMklO8WJrVdeQ/edit#slide=id.p6"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presentation/d/1r7r2a83T4PFJ_TAQ4p7OT-7_79lvwniMklO8WJrVdeQ/edit#slide=id.p10" TargetMode="External"/><Relationship Id="rId3" Type="http://schemas.openxmlformats.org/officeDocument/2006/relationships/hyperlink" Target="https://docs.google.com/presentation/d/1r7r2a83T4PFJ_TAQ4p7OT-7_79lvwniMklO8WJrVdeQ/edit#slide=id.p10"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I hope you are all doing well </a:t>
            </a:r>
            <a:endParaRPr/>
          </a:p>
          <a:p>
            <a:pPr indent="0" lvl="0" marL="0" rtl="0" algn="l">
              <a:spcBef>
                <a:spcPts val="0"/>
              </a:spcBef>
              <a:spcAft>
                <a:spcPts val="0"/>
              </a:spcAft>
              <a:buNone/>
            </a:pPr>
            <a:r>
              <a:rPr lang="en-US"/>
              <a:t>For my Final Topic i chose a theme that </a:t>
            </a:r>
            <a:r>
              <a:rPr lang="en-US"/>
              <a:t>interests</a:t>
            </a:r>
            <a:r>
              <a:rPr lang="en-US"/>
              <a:t> me and could be useful to other interest groups possibly aswell and that is..</a:t>
            </a:r>
            <a:endParaRPr/>
          </a:p>
          <a:p>
            <a:pPr indent="0" lvl="0" marL="0" rtl="0" algn="l">
              <a:spcBef>
                <a:spcPts val="0"/>
              </a:spcBef>
              <a:spcAft>
                <a:spcPts val="0"/>
              </a:spcAft>
              <a:buNone/>
            </a:pPr>
            <a:r>
              <a:rPr lang="en-US"/>
              <a:t>applying BERT (or </a:t>
            </a:r>
            <a:r>
              <a:rPr lang="en-US"/>
              <a:t>Bidirectional Encoder Representations from Transformers) to classify the severity of soccer injuries using reports or (input)</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 name="Google Shape;2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500"/>
              <a:buNone/>
            </a:pPr>
            <a:r>
              <a:rPr lang="en-US" sz="1500">
                <a:solidFill>
                  <a:srgbClr val="1E293B"/>
                </a:solidFill>
              </a:rPr>
              <a:t>So to explain my goal let me give you background </a:t>
            </a:r>
            <a:endParaRPr sz="1500">
              <a:solidFill>
                <a:srgbClr val="1E293B"/>
              </a:solidFill>
            </a:endParaRPr>
          </a:p>
          <a:p>
            <a:pPr indent="0" lvl="0" marL="0" rtl="0" algn="l">
              <a:spcBef>
                <a:spcPts val="0"/>
              </a:spcBef>
              <a:spcAft>
                <a:spcPts val="0"/>
              </a:spcAft>
              <a:buSzPts val="1500"/>
              <a:buNone/>
            </a:pPr>
            <a:r>
              <a:rPr lang="en-US" sz="1500">
                <a:solidFill>
                  <a:srgbClr val="1E293B"/>
                </a:solidFill>
              </a:rPr>
              <a:t>Soccer is a globally expanding sport, and </a:t>
            </a:r>
            <a:r>
              <a:rPr b="1" lang="en-US" sz="1500">
                <a:solidFill>
                  <a:srgbClr val="0F4C3A"/>
                </a:solidFill>
              </a:rPr>
              <a:t>athlete health is the foundation of competitive performance.</a:t>
            </a:r>
            <a:r>
              <a:rPr lang="en-US" sz="1500">
                <a:solidFill>
                  <a:srgbClr val="1E293B"/>
                </a:solidFill>
              </a:rPr>
              <a:t> When a player is injured, their physical capacity, on-field impact, and team's overall results suffer.</a:t>
            </a:r>
            <a:endParaRPr sz="1500">
              <a:solidFill>
                <a:srgbClr val="1E293B"/>
              </a:solidFill>
            </a:endParaRPr>
          </a:p>
          <a:p>
            <a:pPr indent="0" lvl="0" marL="0" rtl="0" algn="l">
              <a:spcBef>
                <a:spcPts val="0"/>
              </a:spcBef>
              <a:spcAft>
                <a:spcPts val="0"/>
              </a:spcAft>
              <a:buSzPts val="1500"/>
              <a:buNone/>
            </a:pPr>
            <a:r>
              <a:t/>
            </a:r>
            <a:endParaRPr sz="1500">
              <a:solidFill>
                <a:srgbClr val="1E293B"/>
              </a:solidFill>
            </a:endParaRPr>
          </a:p>
          <a:p>
            <a:pPr indent="0" lvl="0" marL="0" rtl="0" algn="l">
              <a:spcBef>
                <a:spcPts val="0"/>
              </a:spcBef>
              <a:spcAft>
                <a:spcPts val="0"/>
              </a:spcAft>
              <a:buSzPts val="1500"/>
              <a:buNone/>
            </a:pPr>
            <a:r>
              <a:rPr lang="en-US" sz="1500">
                <a:solidFill>
                  <a:srgbClr val="1E293B"/>
                </a:solidFill>
              </a:rPr>
              <a:t>Yet, despite decades of injury records, </a:t>
            </a:r>
            <a:r>
              <a:rPr b="1" lang="en-US" sz="1500">
                <a:solidFill>
                  <a:srgbClr val="1E293B"/>
                </a:solidFill>
              </a:rPr>
              <a:t>there is no standardized formula to predict recovery timelines</a:t>
            </a:r>
            <a:r>
              <a:rPr lang="en-US" sz="1500">
                <a:solidFill>
                  <a:srgbClr val="1E293B"/>
                </a:solidFill>
              </a:rPr>
              <a:t> from a written diagnosis. This project looks at whether a transformer language model — specifically BioBERT — can learn to read injury reports and automatically classify their severity. I want to know what limits are inevitable. ******NEXT SLIDE*****</a:t>
            </a:r>
            <a:endParaRPr sz="1500"/>
          </a:p>
          <a:p>
            <a:pPr indent="0" lvl="0" marL="0" rtl="0" algn="l">
              <a:spcBef>
                <a:spcPts val="0"/>
              </a:spcBef>
              <a:spcAft>
                <a:spcPts val="0"/>
              </a:spcAft>
              <a:buClr>
                <a:srgbClr val="1E293B"/>
              </a:buClr>
              <a:buSzPts val="1500"/>
              <a:buFont typeface="Calibri"/>
              <a:buNone/>
            </a:pPr>
            <a:r>
              <a:t/>
            </a:r>
            <a:endParaRPr sz="1500">
              <a:solidFill>
                <a:srgbClr val="1E293B"/>
              </a:solidFill>
            </a:endParaRPr>
          </a:p>
        </p:txBody>
      </p:sp>
      <p:sp>
        <p:nvSpPr>
          <p:cNvPr id="29" name="Google Shape;2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 name="Google Shape;5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a benefit for multiple </a:t>
            </a:r>
            <a:r>
              <a:rPr lang="en-US"/>
              <a:t>interest</a:t>
            </a:r>
            <a:r>
              <a:rPr lang="en-US"/>
              <a:t> groups of an entertainment form. Such including….</a:t>
            </a:r>
            <a:endParaRPr/>
          </a:p>
          <a:p>
            <a:pPr indent="0" lvl="0" marL="0" rtl="0" algn="l">
              <a:spcBef>
                <a:spcPts val="0"/>
              </a:spcBef>
              <a:spcAft>
                <a:spcPts val="0"/>
              </a:spcAft>
              <a:buNone/>
            </a:pPr>
            <a:r>
              <a:rPr lang="en-US"/>
              <a:t>A lot of people could benefit from this kind of research…. NEXT SLIDE</a:t>
            </a:r>
            <a:endParaRPr/>
          </a:p>
        </p:txBody>
      </p:sp>
      <p:sp>
        <p:nvSpPr>
          <p:cNvPr id="53" name="Google Shape;5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 name="Google Shape;7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500"/>
              <a:buNone/>
            </a:pPr>
            <a:r>
              <a:rPr lang="en-US" sz="1500">
                <a:solidFill>
                  <a:srgbClr val="1E293B"/>
                </a:solidFill>
              </a:rPr>
              <a:t>What i am hoping to gain is to </a:t>
            </a:r>
            <a:r>
              <a:rPr lang="en-US" sz="1500">
                <a:solidFill>
                  <a:srgbClr val="1E293B"/>
                </a:solidFill>
              </a:rPr>
              <a:t>Build a BioBERT classifier that, given a human-made injury description, predicts a severity class on a 1–5 scale and correlates with player rating trends before, during, and after the absence.</a:t>
            </a:r>
            <a:endParaRPr sz="1500">
              <a:solidFill>
                <a:srgbClr val="1E293B"/>
              </a:solidFill>
            </a:endParaRPr>
          </a:p>
          <a:p>
            <a:pPr indent="0" lvl="0" marL="0" rtl="0" algn="l">
              <a:spcBef>
                <a:spcPts val="0"/>
              </a:spcBef>
              <a:spcAft>
                <a:spcPts val="0"/>
              </a:spcAft>
              <a:buClr>
                <a:srgbClr val="1E293B"/>
              </a:buClr>
              <a:buSzPts val="1500"/>
              <a:buFont typeface="Calibri"/>
              <a:buNone/>
            </a:pPr>
            <a:r>
              <a:rPr lang="en-US" sz="1500">
                <a:solidFill>
                  <a:srgbClr val="1E293B"/>
                </a:solidFill>
              </a:rPr>
              <a:t>To do this we need to know what BERT is ****** NEXT SLIDE *******</a:t>
            </a:r>
            <a:endParaRPr sz="1500">
              <a:solidFill>
                <a:srgbClr val="1E293B"/>
              </a:solidFill>
            </a:endParaRPr>
          </a:p>
        </p:txBody>
      </p:sp>
      <p:sp>
        <p:nvSpPr>
          <p:cNvPr id="80" name="Google Shape;8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US">
                <a:solidFill>
                  <a:srgbClr val="64748B"/>
                </a:solidFill>
              </a:rPr>
              <a:t>looks at words to the left AND right at the same time, capturing full context.</a:t>
            </a:r>
            <a:endParaRPr>
              <a:solidFill>
                <a:srgbClr val="64748B"/>
              </a:solidFill>
            </a:endParaRPr>
          </a:p>
          <a:p>
            <a:pPr indent="0" lvl="0" marL="0" rtl="0" algn="l">
              <a:spcBef>
                <a:spcPts val="0"/>
              </a:spcBef>
              <a:spcAft>
                <a:spcPts val="0"/>
              </a:spcAft>
              <a:buSzPts val="1200"/>
              <a:buNone/>
            </a:pPr>
            <a:r>
              <a:rPr lang="en-US">
                <a:solidFill>
                  <a:srgbClr val="64748B"/>
                </a:solidFill>
              </a:rPr>
              <a:t>Utilizes Wikipedia + BookCorpus, learning general language patterns before any task.</a:t>
            </a:r>
            <a:endParaRPr>
              <a:solidFill>
                <a:srgbClr val="64748B"/>
              </a:solidFil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You could! In fact, Naive Bayes is often used as a </a:t>
            </a:r>
            <a:r>
              <a:rPr b="1" lang="en-US" sz="1100">
                <a:latin typeface="Arial"/>
                <a:ea typeface="Arial"/>
                <a:cs typeface="Arial"/>
                <a:sym typeface="Arial"/>
              </a:rPr>
              <a:t>baseline</a:t>
            </a:r>
            <a:r>
              <a:rPr lang="en-US" sz="1100">
                <a:latin typeface="Arial"/>
                <a:ea typeface="Arial"/>
                <a:cs typeface="Arial"/>
                <a:sym typeface="Arial"/>
              </a:rPr>
              <a:t> for text classification. However, as noted on</a:t>
            </a:r>
            <a:r>
              <a:rPr lang="en-US" sz="1100">
                <a:uFill>
                  <a:noFill/>
                </a:uFill>
                <a:latin typeface="Arial"/>
                <a:ea typeface="Arial"/>
                <a:cs typeface="Arial"/>
                <a:sym typeface="Arial"/>
                <a:hlinkClick r:id="rId2"/>
              </a:rPr>
              <a:t> </a:t>
            </a:r>
            <a:r>
              <a:rPr lang="en-US" sz="1100" u="sng">
                <a:solidFill>
                  <a:schemeClr val="hlink"/>
                </a:solidFill>
                <a:latin typeface="Arial"/>
                <a:ea typeface="Arial"/>
                <a:cs typeface="Arial"/>
                <a:sym typeface="Arial"/>
                <a:hlinkClick r:id="rId3"/>
              </a:rPr>
              <a:t>Slide 6</a:t>
            </a:r>
            <a:r>
              <a:rPr lang="en-US" sz="1100">
                <a:latin typeface="Arial"/>
                <a:ea typeface="Arial"/>
                <a:cs typeface="Arial"/>
                <a:sym typeface="Arial"/>
              </a:rPr>
              <a:t>, "Vanilla" models often struggle with complex medical context.</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b="1" lang="en-US" sz="1100">
                <a:latin typeface="Arial"/>
                <a:ea typeface="Arial"/>
                <a:cs typeface="Arial"/>
                <a:sym typeface="Arial"/>
              </a:rPr>
              <a:t>Naive Bayes</a:t>
            </a:r>
            <a:r>
              <a:rPr lang="en-US" sz="1100">
                <a:latin typeface="Arial"/>
                <a:ea typeface="Arial"/>
                <a:cs typeface="Arial"/>
                <a:sym typeface="Arial"/>
              </a:rPr>
              <a:t> assumes all words are independent (the "naive" part). It wouldn't understand that "no ACL tear" is the opposite of "ACL tear."</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BioBERT</a:t>
            </a:r>
            <a:r>
              <a:rPr lang="en-US" sz="1100">
                <a:latin typeface="Arial"/>
                <a:ea typeface="Arial"/>
                <a:cs typeface="Arial"/>
                <a:sym typeface="Arial"/>
              </a:rPr>
              <a:t> uses self-attention to understand the relationship between every word in the sentence, which is why the author chose it for better accuracy.</a:t>
            </a:r>
            <a:endParaRPr sz="1100">
              <a:latin typeface="Arial"/>
              <a:ea typeface="Arial"/>
              <a:cs typeface="Arial"/>
              <a:sym typeface="Arial"/>
            </a:endParaRPr>
          </a:p>
          <a:p>
            <a:pPr indent="0" lvl="0" marL="0" rtl="0" algn="l">
              <a:spcBef>
                <a:spcPts val="1200"/>
              </a:spcBef>
              <a:spcAft>
                <a:spcPts val="0"/>
              </a:spcAft>
              <a:buSzPts val="1200"/>
              <a:buNone/>
            </a:pPr>
            <a:r>
              <a:t/>
            </a:r>
            <a:endParaRPr>
              <a:solidFill>
                <a:srgbClr val="64748B"/>
              </a:solidFill>
            </a:endParaRPr>
          </a:p>
          <a:p>
            <a:pPr indent="0" lvl="0" marL="0" rtl="0" algn="l">
              <a:spcBef>
                <a:spcPts val="0"/>
              </a:spcBef>
              <a:spcAft>
                <a:spcPts val="0"/>
              </a:spcAft>
              <a:buClr>
                <a:srgbClr val="64748B"/>
              </a:buClr>
              <a:buSzPts val="1200"/>
              <a:buFont typeface="Calibri"/>
              <a:buNone/>
            </a:pPr>
            <a:r>
              <a:rPr lang="en-US">
                <a:solidFill>
                  <a:srgbClr val="64748B"/>
                </a:solidFill>
              </a:rPr>
              <a:t>But WHY? ***** NEXT SLIDE</a:t>
            </a:r>
            <a:endParaRPr>
              <a:solidFill>
                <a:srgbClr val="64748B"/>
              </a:solidFill>
            </a:endParaRPr>
          </a:p>
        </p:txBody>
      </p:sp>
      <p:sp>
        <p:nvSpPr>
          <p:cNvPr id="115" name="Google Shape;11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rPr i="1" lang="en-US" sz="1400">
                <a:solidFill>
                  <a:srgbClr val="64748B"/>
                </a:solidFill>
              </a:rPr>
              <a:t>BioBERT (Lee et al., 2019) is the same architecture as BERT, but pretrained on millions of biomedical documents in addition to general English. Domain-specific vocabulary like "hamstring strain," "ACL rupture," or "meniscus tear" is far better represented.</a:t>
            </a:r>
            <a:endParaRPr i="1" sz="1400">
              <a:solidFill>
                <a:srgbClr val="64748B"/>
              </a:solidFill>
            </a:endParaRPr>
          </a:p>
          <a:p>
            <a:pPr indent="0" lvl="0" marL="0" rtl="0" algn="l">
              <a:spcBef>
                <a:spcPts val="0"/>
              </a:spcBef>
              <a:spcAft>
                <a:spcPts val="0"/>
              </a:spcAft>
              <a:buSzPts val="1400"/>
              <a:buNone/>
            </a:pPr>
            <a:r>
              <a:rPr i="1" lang="en-US" sz="1400">
                <a:solidFill>
                  <a:srgbClr val="64748B"/>
                </a:solidFill>
              </a:rPr>
              <a:t>Notice the difference in not only amount of words in each models context, but also the source of where that content is derived from</a:t>
            </a:r>
            <a:endParaRPr i="1" sz="1400">
              <a:solidFill>
                <a:srgbClr val="64748B"/>
              </a:solidFill>
            </a:endParaRPr>
          </a:p>
          <a:p>
            <a:pPr indent="0" lvl="0" marL="0" rtl="0" algn="l">
              <a:spcBef>
                <a:spcPts val="0"/>
              </a:spcBef>
              <a:spcAft>
                <a:spcPts val="0"/>
              </a:spcAft>
              <a:buSzPts val="1131"/>
              <a:buNone/>
            </a:pPr>
            <a:r>
              <a:rPr i="1" lang="en-US" sz="1131">
                <a:solidFill>
                  <a:srgbClr val="1E293B"/>
                </a:solidFill>
              </a:rPr>
              <a:t>Injury reports are essentially short clinical notes. BioBERT's pretrained vocabulary gives us a head start before we ever see our soccer-specific data.</a:t>
            </a:r>
            <a:endParaRPr i="1" sz="1131">
              <a:solidFill>
                <a:srgbClr val="1E293B"/>
              </a:solidFill>
            </a:endParaRPr>
          </a:p>
          <a:p>
            <a:pPr indent="0" lvl="0" marL="0" rtl="0" algn="l">
              <a:spcBef>
                <a:spcPts val="0"/>
              </a:spcBef>
              <a:spcAft>
                <a:spcPts val="0"/>
              </a:spcAft>
              <a:buClr>
                <a:srgbClr val="1E293B"/>
              </a:buClr>
              <a:buSzPts val="1131"/>
              <a:buFont typeface="Calibri"/>
              <a:buNone/>
            </a:pPr>
            <a:r>
              <a:rPr i="1" lang="en-US" sz="1131">
                <a:solidFill>
                  <a:srgbClr val="1E293B"/>
                </a:solidFill>
              </a:rPr>
              <a:t>**** NEXT SLIDE</a:t>
            </a:r>
            <a:endParaRPr i="1" sz="1131">
              <a:solidFill>
                <a:srgbClr val="1E293B"/>
              </a:solidFill>
            </a:endParaRPr>
          </a:p>
        </p:txBody>
      </p:sp>
      <p:sp>
        <p:nvSpPr>
          <p:cNvPr id="142" name="Google Shape;14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DataSet</a:t>
            </a:r>
            <a:endParaRPr/>
          </a:p>
          <a:p>
            <a:pPr indent="0" lvl="0" marL="0" rtl="0" algn="l">
              <a:spcBef>
                <a:spcPts val="0"/>
              </a:spcBef>
              <a:spcAft>
                <a:spcPts val="0"/>
              </a:spcAft>
              <a:buNone/>
            </a:pPr>
            <a:r>
              <a:rPr lang="en-US"/>
              <a:t>it contains 15000+ records which are not a lot considering…</a:t>
            </a:r>
            <a:endParaRPr/>
          </a:p>
          <a:p>
            <a:pPr indent="0" lvl="0" marL="0" rtl="0" algn="l">
              <a:spcBef>
                <a:spcPts val="0"/>
              </a:spcBef>
              <a:spcAft>
                <a:spcPts val="0"/>
              </a:spcAft>
              <a:buNone/>
            </a:pPr>
            <a:r>
              <a:rPr lang="en-US"/>
              <a:t>there are over five </a:t>
            </a:r>
            <a:r>
              <a:rPr lang="en-US"/>
              <a:t>leagues, anyone can be injured playing soccer, and everyone is different</a:t>
            </a:r>
            <a:endParaRPr/>
          </a:p>
          <a:p>
            <a:pPr indent="0" lvl="0" marL="0" rtl="0" algn="l">
              <a:spcBef>
                <a:spcPts val="0"/>
              </a:spcBef>
              <a:spcAft>
                <a:spcPts val="0"/>
              </a:spcAft>
              <a:buNone/>
            </a:pPr>
            <a:r>
              <a:rPr lang="en-US"/>
              <a:t>if anything 15,603 is astronomically low when we want to be accurate about predictions on a possible 8b+ different individuals. **** NEXT SLIDE</a:t>
            </a:r>
            <a:endParaRPr/>
          </a:p>
        </p:txBody>
      </p:sp>
      <p:sp>
        <p:nvSpPr>
          <p:cNvPr id="170" name="Google Shape;17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300"/>
              <a:buNone/>
            </a:pPr>
            <a:r>
              <a:rPr i="1" lang="en-US" sz="1300">
                <a:solidFill>
                  <a:srgbClr val="64748B"/>
                </a:solidFill>
              </a:rPr>
              <a:t>The full workflow from raw injury text to a deployed classifier — three phases, fifteen steps.</a:t>
            </a:r>
            <a:endParaRPr i="1" sz="1300">
              <a:solidFill>
                <a:srgbClr val="64748B"/>
              </a:solidFill>
            </a:endParaRPr>
          </a:p>
          <a:p>
            <a:pPr indent="0" lvl="0" marL="0" rtl="0" algn="l">
              <a:spcBef>
                <a:spcPts val="0"/>
              </a:spcBef>
              <a:spcAft>
                <a:spcPts val="0"/>
              </a:spcAft>
              <a:buClr>
                <a:srgbClr val="64748B"/>
              </a:buClr>
              <a:buSzPts val="1300"/>
              <a:buFont typeface="Calibri"/>
              <a:buNone/>
            </a:pPr>
            <a:r>
              <a:rPr i="1" lang="en-US" sz="1300">
                <a:solidFill>
                  <a:srgbClr val="64748B"/>
                </a:solidFill>
              </a:rPr>
              <a:t>Lets talk about how the model trains ***NEXT SLIDE</a:t>
            </a:r>
            <a:endParaRPr i="1" sz="1300">
              <a:solidFill>
                <a:srgbClr val="64748B"/>
              </a:solidFill>
            </a:endParaRPr>
          </a:p>
        </p:txBody>
      </p:sp>
      <p:sp>
        <p:nvSpPr>
          <p:cNvPr id="197" name="Google Shape;19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rPr i="1" lang="en-US" sz="1300">
                <a:solidFill>
                  <a:srgbClr val="64748B"/>
                </a:solidFill>
              </a:rPr>
              <a:t>specifically how much data the data we separate for training, testing, and so on matters. </a:t>
            </a:r>
            <a:r>
              <a:rPr lang="en-US" sz="1539">
                <a:solidFill>
                  <a:srgbClr val="1E293B"/>
                </a:solidFill>
              </a:rPr>
              <a:t>A 70/15/15 random split sounds reasonable, but if season-ending injuries is 3% of ALL records, a random sample could pull a fewinto validation, throwing off the entire metric.</a:t>
            </a:r>
            <a:endParaRPr sz="1539"/>
          </a:p>
          <a:p>
            <a:pPr indent="0" lvl="0" marL="0" rtl="0" algn="l">
              <a:spcBef>
                <a:spcPts val="0"/>
              </a:spcBef>
              <a:spcAft>
                <a:spcPts val="0"/>
              </a:spcAft>
              <a:buSzPts val="1400"/>
              <a:buNone/>
            </a:pPr>
            <a:r>
              <a:rPr i="1" lang="en-US" sz="1400">
                <a:solidFill>
                  <a:srgbClr val="64748B"/>
                </a:solidFill>
              </a:rPr>
              <a:t>since when these classes are imbalanced it leaves rare classes underrepresented in training — or absent from validation altogether.</a:t>
            </a:r>
            <a:endParaRPr i="1" sz="1400">
              <a:solidFill>
                <a:srgbClr val="64748B"/>
              </a:solidFill>
            </a:endParaRPr>
          </a:p>
          <a:p>
            <a:pPr indent="0" lvl="0" marL="0" rtl="0" algn="l">
              <a:spcBef>
                <a:spcPts val="0"/>
              </a:spcBef>
              <a:spcAft>
                <a:spcPts val="0"/>
              </a:spcAft>
              <a:buSzPts val="1400"/>
              <a:buNone/>
            </a:pPr>
            <a:r>
              <a:rPr i="1" lang="en-US" sz="1400">
                <a:solidFill>
                  <a:srgbClr val="64748B"/>
                </a:solidFill>
              </a:rPr>
              <a:t>The Solution: </a:t>
            </a:r>
            <a:endParaRPr i="1" sz="1400">
              <a:solidFill>
                <a:srgbClr val="64748B"/>
              </a:solidFill>
            </a:endParaRPr>
          </a:p>
          <a:p>
            <a:pPr indent="0" lvl="0" marL="0" rtl="0" algn="l">
              <a:spcBef>
                <a:spcPts val="0"/>
              </a:spcBef>
              <a:spcAft>
                <a:spcPts val="0"/>
              </a:spcAft>
              <a:buClr>
                <a:srgbClr val="1E293B"/>
              </a:buClr>
              <a:buSzPts val="1339"/>
              <a:buFont typeface="Calibri"/>
              <a:buNone/>
            </a:pPr>
            <a:r>
              <a:rPr b="1" lang="en-US" sz="1539">
                <a:solidFill>
                  <a:srgbClr val="1E293B"/>
                </a:solidFill>
              </a:rPr>
              <a:t>Stratified sampling — </a:t>
            </a:r>
            <a:r>
              <a:rPr lang="en-US" sz="1539">
                <a:solidFill>
                  <a:srgbClr val="1E293B"/>
                </a:solidFill>
              </a:rPr>
              <a:t>draw the same 80/10/10 ratio </a:t>
            </a:r>
            <a:r>
              <a:rPr b="1" i="1" lang="en-US" sz="1539">
                <a:solidFill>
                  <a:srgbClr val="1E293B"/>
                </a:solidFill>
              </a:rPr>
              <a:t>within each class</a:t>
            </a:r>
            <a:r>
              <a:rPr lang="en-US" sz="1539">
                <a:solidFill>
                  <a:srgbClr val="1E293B"/>
                </a:solidFill>
              </a:rPr>
              <a:t>.  ********NEXT SLIDE</a:t>
            </a:r>
            <a:endParaRPr sz="1539">
              <a:solidFill>
                <a:srgbClr val="1E293B"/>
              </a:solidFill>
            </a:endParaRPr>
          </a:p>
        </p:txBody>
      </p:sp>
      <p:sp>
        <p:nvSpPr>
          <p:cNvPr id="261" name="Google Shape;26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64748B"/>
              </a:buClr>
              <a:buSzPts val="1400"/>
              <a:buFont typeface="Calibri"/>
              <a:buNone/>
            </a:pPr>
            <a:r>
              <a:rPr i="1" lang="en-US" sz="1400">
                <a:solidFill>
                  <a:srgbClr val="64748B"/>
                </a:solidFill>
              </a:rPr>
              <a:t>Before BioBERT can read an injury report, the text must be converted into the numerical inputs the model expects. This is what "tokenization" means in practice.</a:t>
            </a:r>
            <a:endParaRPr i="1" sz="1400">
              <a:solidFill>
                <a:srgbClr val="64748B"/>
              </a:solidFil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BioBERT (and all BERT models) uses a method called </a:t>
            </a:r>
            <a:r>
              <a:rPr b="1" lang="en-US" sz="1100">
                <a:latin typeface="Arial"/>
                <a:ea typeface="Arial"/>
                <a:cs typeface="Arial"/>
                <a:sym typeface="Arial"/>
              </a:rPr>
              <a:t>WordPiece tokenization</a:t>
            </a:r>
            <a:r>
              <a:rPr lang="en-US" sz="1100">
                <a:latin typeface="Arial"/>
                <a:ea typeface="Arial"/>
                <a:cs typeface="Arial"/>
                <a:sym typeface="Arial"/>
              </a:rPr>
              <a: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NLTK/spaCy</a:t>
            </a:r>
            <a:r>
              <a:rPr lang="en-US" sz="1100">
                <a:latin typeface="Arial"/>
                <a:ea typeface="Arial"/>
                <a:cs typeface="Arial"/>
                <a:sym typeface="Arial"/>
              </a:rPr>
              <a:t> typically split text into whole words (e.g., </a:t>
            </a:r>
            <a:r>
              <a:rPr lang="en-US" sz="1100">
                <a:solidFill>
                  <a:srgbClr val="188038"/>
                </a:solidFill>
                <a:latin typeface="Roboto Mono"/>
                <a:ea typeface="Roboto Mono"/>
                <a:cs typeface="Roboto Mono"/>
                <a:sym typeface="Roboto Mono"/>
              </a:rPr>
              <a:t>"meniscectomy"</a:t>
            </a:r>
            <a:r>
              <a:rPr lang="en-US" sz="1100">
                <a:latin typeface="Arial"/>
                <a:ea typeface="Arial"/>
                <a:cs typeface="Arial"/>
                <a:sym typeface="Arial"/>
              </a:rPr>
              <a:t> becomes one token).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BioBERT's Tokenizer</a:t>
            </a:r>
            <a:r>
              <a:rPr lang="en-US" sz="1100">
                <a:latin typeface="Arial"/>
                <a:ea typeface="Arial"/>
                <a:cs typeface="Arial"/>
                <a:sym typeface="Arial"/>
              </a:rPr>
              <a:t> splits unknown or complex words into sub-units (e.g., as seen on</a:t>
            </a:r>
            <a:r>
              <a:rPr lang="en-US" sz="1100">
                <a:uFill>
                  <a:noFill/>
                </a:uFill>
                <a:latin typeface="Arial"/>
                <a:ea typeface="Arial"/>
                <a:cs typeface="Arial"/>
                <a:sym typeface="Arial"/>
                <a:hlinkClick r:id="rId2"/>
              </a:rPr>
              <a:t> </a:t>
            </a:r>
            <a:r>
              <a:rPr lang="en-US" sz="1100" u="sng">
                <a:solidFill>
                  <a:schemeClr val="hlink"/>
                </a:solidFill>
                <a:latin typeface="Arial"/>
                <a:ea typeface="Arial"/>
                <a:cs typeface="Arial"/>
                <a:sym typeface="Arial"/>
                <a:hlinkClick r:id="rId3"/>
              </a:rPr>
              <a:t>Slide 10</a:t>
            </a:r>
            <a:r>
              <a:rPr lang="en-US" sz="1100">
                <a:latin typeface="Arial"/>
                <a:ea typeface="Arial"/>
                <a:cs typeface="Arial"/>
                <a:sym typeface="Arial"/>
              </a:rPr>
              <a:t>, </a:t>
            </a:r>
            <a:r>
              <a:rPr lang="en-US" sz="1100">
                <a:solidFill>
                  <a:srgbClr val="188038"/>
                </a:solidFill>
                <a:latin typeface="Roboto Mono"/>
                <a:ea typeface="Roboto Mono"/>
                <a:cs typeface="Roboto Mono"/>
                <a:sym typeface="Roboto Mono"/>
              </a:rPr>
              <a:t>"collateral"</a:t>
            </a:r>
            <a:r>
              <a:rPr lang="en-US" sz="1100">
                <a:latin typeface="Arial"/>
                <a:ea typeface="Arial"/>
                <a:cs typeface="Arial"/>
                <a:sym typeface="Arial"/>
              </a:rPr>
              <a:t> might be split into </a:t>
            </a:r>
            <a:r>
              <a:rPr lang="en-US" sz="1100">
                <a:solidFill>
                  <a:srgbClr val="188038"/>
                </a:solidFill>
                <a:latin typeface="Roboto Mono"/>
                <a:ea typeface="Roboto Mono"/>
                <a:cs typeface="Roboto Mono"/>
                <a:sym typeface="Roboto Mono"/>
              </a:rPr>
              <a:t>["coll", "##ateral"]</a:t>
            </a:r>
            <a:r>
              <a:rPr lang="en-US" sz="1100">
                <a:latin typeface="Arial"/>
                <a:ea typeface="Arial"/>
                <a:cs typeface="Arial"/>
                <a:sym typeface="Arial"/>
              </a:rPr>
              <a: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If you used NLTK to tokenize the text and then fed those words into BioBERT, the model wouldn't recognize the inputs because they wouldn't match the specific vocabulary IDs it was trained on.</a:t>
            </a:r>
            <a:endParaRPr sz="1100">
              <a:latin typeface="Arial"/>
              <a:ea typeface="Arial"/>
              <a:cs typeface="Arial"/>
              <a:sym typeface="Arial"/>
            </a:endParaRPr>
          </a:p>
          <a:p>
            <a:pPr indent="0" lvl="0" marL="0" rtl="0" algn="l">
              <a:spcBef>
                <a:spcPts val="1200"/>
              </a:spcBef>
              <a:spcAft>
                <a:spcPts val="0"/>
              </a:spcAft>
              <a:buClr>
                <a:srgbClr val="64748B"/>
              </a:buClr>
              <a:buSzPts val="1400"/>
              <a:buFont typeface="Calibri"/>
              <a:buNone/>
            </a:pPr>
            <a:r>
              <a:t/>
            </a:r>
            <a:endParaRPr i="1" sz="1400">
              <a:solidFill>
                <a:srgbClr val="64748B"/>
              </a:solidFill>
            </a:endParaRPr>
          </a:p>
        </p:txBody>
      </p:sp>
      <p:sp>
        <p:nvSpPr>
          <p:cNvPr id="276" name="Google Shape;27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64748B"/>
              </a:buClr>
              <a:buSzPts val="1300"/>
              <a:buFont typeface="Calibri"/>
              <a:buNone/>
            </a:pPr>
            <a:r>
              <a:rPr i="1" lang="en-US" sz="1300">
                <a:solidFill>
                  <a:srgbClr val="64748B"/>
                </a:solidFill>
              </a:rPr>
              <a:t>Fine-tuning BioBERT on a task-specific dataset is more art than science. These are the typical settings — each is a tradeoff between fit, speed, and overfitting.</a:t>
            </a:r>
            <a:endParaRPr sz="1300"/>
          </a:p>
          <a:p>
            <a:pPr indent="0" lvl="0" marL="0" rtl="0" algn="l">
              <a:spcBef>
                <a:spcPts val="0"/>
              </a:spcBef>
              <a:spcAft>
                <a:spcPts val="0"/>
              </a:spcAft>
              <a:buNone/>
            </a:pPr>
            <a:r>
              <a:t/>
            </a:r>
            <a:endParaRPr/>
          </a:p>
        </p:txBody>
      </p:sp>
      <p:sp>
        <p:nvSpPr>
          <p:cNvPr id="302" name="Google Shape;302;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317500" lvl="0" marL="457200" rtl="0" algn="l">
              <a:spcBef>
                <a:spcPts val="0"/>
              </a:spcBef>
              <a:spcAft>
                <a:spcPts val="0"/>
              </a:spcAft>
              <a:buSzPts val="1400"/>
              <a:buChar char="●"/>
            </a:pPr>
            <a:r>
              <a:rPr lang="en-US" sz="1150">
                <a:solidFill>
                  <a:srgbClr val="64748B"/>
                </a:solidFill>
              </a:rPr>
              <a:t>The four tracked metrics</a:t>
            </a:r>
            <a:endParaRPr sz="1150">
              <a:solidFill>
                <a:srgbClr val="64748B"/>
              </a:solidFill>
            </a:endParaRPr>
          </a:p>
          <a:p>
            <a:pPr indent="-317500" lvl="0" marL="457200" rtl="0" algn="l">
              <a:spcBef>
                <a:spcPts val="0"/>
              </a:spcBef>
              <a:spcAft>
                <a:spcPts val="0"/>
              </a:spcAft>
              <a:buSzPts val="1400"/>
              <a:buChar char="●"/>
            </a:pPr>
            <a:r>
              <a:rPr lang="en-US" sz="1150">
                <a:solidFill>
                  <a:srgbClr val="64748B"/>
                </a:solidFill>
              </a:rPr>
              <a:t>Accuracy - </a:t>
            </a:r>
            <a:r>
              <a:rPr lang="en-US" sz="1150">
                <a:solidFill>
                  <a:srgbClr val="64748B"/>
                </a:solidFill>
              </a:rPr>
              <a:t>Overall percent correct.</a:t>
            </a:r>
            <a:endParaRPr sz="1150">
              <a:solidFill>
                <a:srgbClr val="64748B"/>
              </a:solidFill>
            </a:endParaRPr>
          </a:p>
          <a:p>
            <a:pPr indent="-301625" lvl="0" marL="457200" rtl="0" algn="l">
              <a:spcBef>
                <a:spcPts val="0"/>
              </a:spcBef>
              <a:spcAft>
                <a:spcPts val="0"/>
              </a:spcAft>
              <a:buClr>
                <a:srgbClr val="64748B"/>
              </a:buClr>
              <a:buSzPts val="1150"/>
              <a:buChar char="●"/>
            </a:pPr>
            <a:r>
              <a:rPr lang="en-US" sz="1150">
                <a:solidFill>
                  <a:srgbClr val="64748B"/>
                </a:solidFill>
              </a:rPr>
              <a:t>Precision - Of records the model labeled "severe," how many actually were? Low precision = false alarms.</a:t>
            </a:r>
            <a:endParaRPr sz="1150">
              <a:solidFill>
                <a:srgbClr val="64748B"/>
              </a:solidFill>
            </a:endParaRPr>
          </a:p>
          <a:p>
            <a:pPr indent="-301625" lvl="0" marL="457200" rtl="0" algn="l">
              <a:spcBef>
                <a:spcPts val="0"/>
              </a:spcBef>
              <a:spcAft>
                <a:spcPts val="0"/>
              </a:spcAft>
              <a:buClr>
                <a:srgbClr val="64748B"/>
              </a:buClr>
              <a:buSzPts val="1150"/>
              <a:buChar char="●"/>
            </a:pPr>
            <a:r>
              <a:rPr lang="en-US" sz="1150">
                <a:solidFill>
                  <a:srgbClr val="64748B"/>
                </a:solidFill>
              </a:rPr>
              <a:t>Recall - Of the truly "severe" injuries, how many did we catch? Low recall = missed cases.</a:t>
            </a:r>
            <a:endParaRPr sz="1150">
              <a:solidFill>
                <a:srgbClr val="64748B"/>
              </a:solidFill>
            </a:endParaRPr>
          </a:p>
          <a:p>
            <a:pPr indent="-301625" lvl="0" marL="457200" rtl="0" algn="l">
              <a:spcBef>
                <a:spcPts val="0"/>
              </a:spcBef>
              <a:spcAft>
                <a:spcPts val="0"/>
              </a:spcAft>
              <a:buClr>
                <a:srgbClr val="64748B"/>
              </a:buClr>
              <a:buSzPts val="1150"/>
              <a:buChar char="●"/>
            </a:pPr>
            <a:r>
              <a:rPr lang="en-US" sz="1150">
                <a:solidFill>
                  <a:srgbClr val="64748B"/>
                </a:solidFill>
              </a:rPr>
              <a:t>F1 Macro- Single number that balances precision and recall, averaged equally across all 5 classes.</a:t>
            </a:r>
            <a:endParaRPr sz="1150">
              <a:solidFill>
                <a:srgbClr val="64748B"/>
              </a:solidFill>
            </a:endParaRPr>
          </a:p>
          <a:p>
            <a:pPr indent="0" lvl="0" marL="0" rtl="0" algn="l">
              <a:spcBef>
                <a:spcPts val="0"/>
              </a:spcBef>
              <a:spcAft>
                <a:spcPts val="0"/>
              </a:spcAft>
              <a:buNone/>
            </a:pPr>
            <a:r>
              <a:t/>
            </a:r>
            <a:endParaRPr sz="1150">
              <a:solidFill>
                <a:srgbClr val="64748B"/>
              </a:solidFill>
            </a:endParaRPr>
          </a:p>
          <a:p>
            <a:pPr indent="0" lvl="0" marL="0" rtl="0" algn="l">
              <a:spcBef>
                <a:spcPts val="0"/>
              </a:spcBef>
              <a:spcAft>
                <a:spcPts val="0"/>
              </a:spcAft>
              <a:buNone/>
            </a:pPr>
            <a:r>
              <a:rPr lang="en-US" sz="1150">
                <a:solidFill>
                  <a:srgbClr val="64748B"/>
                </a:solidFill>
              </a:rPr>
              <a:t>Talk about how metrics told stories across different version of BERT</a:t>
            </a:r>
            <a:endParaRPr sz="1150">
              <a:solidFill>
                <a:srgbClr val="64748B"/>
              </a:solidFill>
            </a:endParaRPr>
          </a:p>
        </p:txBody>
      </p:sp>
      <p:sp>
        <p:nvSpPr>
          <p:cNvPr id="314" name="Google Shape;31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 name="Google Shape;34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317500" lvl="0" marL="457200" rtl="0" algn="l">
              <a:spcBef>
                <a:spcPts val="0"/>
              </a:spcBef>
              <a:spcAft>
                <a:spcPts val="0"/>
              </a:spcAft>
              <a:buSzPts val="1400"/>
              <a:buChar char="●"/>
            </a:pPr>
            <a:r>
              <a:rPr lang="en-US">
                <a:solidFill>
                  <a:srgbClr val="64748B"/>
                </a:solidFill>
              </a:rPr>
              <a:t>15K records is small by deep-learning standards. Coverage is heavier on top European leagues — model may not generalize to women's, lower-tier, or non-European football.</a:t>
            </a:r>
            <a:endParaRPr>
              <a:solidFill>
                <a:srgbClr val="64748B"/>
              </a:solidFill>
            </a:endParaRPr>
          </a:p>
          <a:p>
            <a:pPr indent="-317500" lvl="0" marL="457200" rtl="0" algn="l">
              <a:spcBef>
                <a:spcPts val="0"/>
              </a:spcBef>
              <a:spcAft>
                <a:spcPts val="0"/>
              </a:spcAft>
              <a:buClr>
                <a:srgbClr val="64748B"/>
              </a:buClr>
              <a:buSzPts val="1400"/>
              <a:buChar char="●"/>
            </a:pPr>
            <a:r>
              <a:rPr lang="en-US">
                <a:solidFill>
                  <a:srgbClr val="64748B"/>
                </a:solidFill>
              </a:rPr>
              <a:t>BioBERT was pretrained on PubMed and PMC — clinical research literature, not soccer match reports. Sports-specific phrases ("knock," "twinge," "international duty") aren't well represented.</a:t>
            </a:r>
            <a:endParaRPr>
              <a:solidFill>
                <a:srgbClr val="64748B"/>
              </a:solidFill>
            </a:endParaRPr>
          </a:p>
          <a:p>
            <a:pPr indent="-317500" lvl="0" marL="457200" rtl="0" algn="l">
              <a:spcBef>
                <a:spcPts val="0"/>
              </a:spcBef>
              <a:spcAft>
                <a:spcPts val="0"/>
              </a:spcAft>
              <a:buClr>
                <a:srgbClr val="64748B"/>
              </a:buClr>
              <a:buSzPts val="1400"/>
              <a:buChar char="●"/>
            </a:pPr>
            <a:r>
              <a:rPr lang="en-US">
                <a:solidFill>
                  <a:srgbClr val="64748B"/>
                </a:solidFill>
              </a:rPr>
              <a:t>Severity tiers are derived from absence duration, but reported return dates are often optimistic estimates rather than ground truth — adding noise to labels.</a:t>
            </a:r>
            <a:endParaRPr>
              <a:solidFill>
                <a:srgbClr val="64748B"/>
              </a:solidFill>
            </a:endParaRPr>
          </a:p>
          <a:p>
            <a:pPr indent="-317500" lvl="0" marL="457200" rtl="0" algn="l">
              <a:spcBef>
                <a:spcPts val="0"/>
              </a:spcBef>
              <a:spcAft>
                <a:spcPts val="0"/>
              </a:spcAft>
              <a:buClr>
                <a:srgbClr val="64748B"/>
              </a:buClr>
              <a:buSzPts val="1400"/>
              <a:buChar char="●"/>
            </a:pPr>
            <a:r>
              <a:rPr lang="en-US">
                <a:solidFill>
                  <a:srgbClr val="64748B"/>
                </a:solidFill>
              </a:rPr>
              <a:t>Text alone ignores rich signals: player age, position, biomechanics, prior injury history, medical imaging, and team-level workload data.</a:t>
            </a:r>
            <a:endParaRPr>
              <a:solidFill>
                <a:srgbClr val="64748B"/>
              </a:solidFill>
            </a:endParaRPr>
          </a:p>
          <a:p>
            <a:pPr indent="-330200" lvl="0" marL="457200" rtl="0" algn="l">
              <a:lnSpc>
                <a:spcPct val="125000"/>
              </a:lnSpc>
              <a:spcBef>
                <a:spcPts val="0"/>
              </a:spcBef>
              <a:spcAft>
                <a:spcPts val="0"/>
              </a:spcAft>
              <a:buClr>
                <a:srgbClr val="333333"/>
              </a:buClr>
              <a:buSzPts val="1600"/>
              <a:buFont typeface="Open Sans"/>
              <a:buChar char="●"/>
            </a:pPr>
            <a:r>
              <a:rPr lang="en-US" sz="1600" u="sng">
                <a:solidFill>
                  <a:srgbClr val="333333"/>
                </a:solidFill>
                <a:latin typeface="Open Sans"/>
                <a:ea typeface="Open Sans"/>
                <a:cs typeface="Open Sans"/>
                <a:sym typeface="Open Sans"/>
              </a:rPr>
              <a:t>Regress on Days Missed, Then Threshold</a:t>
            </a:r>
            <a:endParaRPr sz="1600" u="sng">
              <a:solidFill>
                <a:srgbClr val="333333"/>
              </a:solidFill>
              <a:latin typeface="Open Sans"/>
              <a:ea typeface="Open Sans"/>
              <a:cs typeface="Open Sans"/>
              <a:sym typeface="Open Sans"/>
            </a:endParaRPr>
          </a:p>
          <a:p>
            <a:pPr indent="0" lvl="0" marL="0" rtl="0" algn="l">
              <a:lnSpc>
                <a:spcPct val="125000"/>
              </a:lnSpc>
              <a:spcBef>
                <a:spcPts val="0"/>
              </a:spcBef>
              <a:spcAft>
                <a:spcPts val="0"/>
              </a:spcAft>
              <a:buNone/>
            </a:pPr>
            <a:r>
              <a:rPr lang="en-US">
                <a:solidFill>
                  <a:srgbClr val="333333"/>
                </a:solidFill>
                <a:latin typeface="Open Sans"/>
                <a:ea typeface="Open Sans"/>
                <a:cs typeface="Open Sans"/>
                <a:sym typeface="Open Sans"/>
              </a:rPr>
              <a:t>Instead of predicting a class, predict the log(days_missed) as a value, then apply the border to classifying severity based on the regressions output. This would effectively fix a 6 day injury and 8 day injury from being placed in different classes even though their values are so close.</a:t>
            </a:r>
            <a:endParaRPr>
              <a:solidFill>
                <a:srgbClr val="333333"/>
              </a:solidFill>
              <a:latin typeface="Open Sans"/>
              <a:ea typeface="Open Sans"/>
              <a:cs typeface="Open Sans"/>
              <a:sym typeface="Open Sans"/>
            </a:endParaRPr>
          </a:p>
          <a:p>
            <a:pPr indent="-330200" lvl="0" marL="457200" rtl="0" algn="l">
              <a:lnSpc>
                <a:spcPct val="125000"/>
              </a:lnSpc>
              <a:spcBef>
                <a:spcPts val="0"/>
              </a:spcBef>
              <a:spcAft>
                <a:spcPts val="0"/>
              </a:spcAft>
              <a:buClr>
                <a:srgbClr val="333333"/>
              </a:buClr>
              <a:buSzPts val="1600"/>
              <a:buFont typeface="Open Sans"/>
              <a:buChar char="●"/>
            </a:pPr>
            <a:r>
              <a:rPr lang="en-US" sz="1600" u="sng">
                <a:solidFill>
                  <a:srgbClr val="333333"/>
                </a:solidFill>
                <a:latin typeface="Open Sans"/>
                <a:ea typeface="Open Sans"/>
                <a:cs typeface="Open Sans"/>
                <a:sym typeface="Open Sans"/>
              </a:rPr>
              <a:t>Decrease to Three Classes</a:t>
            </a:r>
            <a:endParaRPr sz="1600" u="sng">
              <a:solidFill>
                <a:srgbClr val="333333"/>
              </a:solidFill>
              <a:latin typeface="Open Sans"/>
              <a:ea typeface="Open Sans"/>
              <a:cs typeface="Open Sans"/>
              <a:sym typeface="Open Sans"/>
            </a:endParaRPr>
          </a:p>
          <a:p>
            <a:pPr indent="0" lvl="0" marL="0" rtl="0" algn="l">
              <a:lnSpc>
                <a:spcPct val="125000"/>
              </a:lnSpc>
              <a:spcBef>
                <a:spcPts val="0"/>
              </a:spcBef>
              <a:spcAft>
                <a:spcPts val="0"/>
              </a:spcAft>
              <a:buNone/>
            </a:pPr>
            <a:r>
              <a:rPr lang="en-US">
                <a:solidFill>
                  <a:srgbClr val="333333"/>
                </a:solidFill>
                <a:latin typeface="Open Sans"/>
                <a:ea typeface="Open Sans"/>
                <a:cs typeface="Open Sans"/>
                <a:sym typeface="Open Sans"/>
              </a:rPr>
              <a:t>Given the model lacks the ability to decipher the ranges between Short-Term and Medium-Term &amp; Long-Term and Season-Ending, closing this gap would imply an increase in scores. In other words, reformulating as [Minor, Moderate, Severe] is a highly more reliable classifier, with the trade off being less detailed predictions. Less choices to choose insinuates more reliable output. </a:t>
            </a:r>
            <a:endParaRPr>
              <a:solidFill>
                <a:srgbClr val="333333"/>
              </a:solidFill>
              <a:latin typeface="Open Sans"/>
              <a:ea typeface="Open Sans"/>
              <a:cs typeface="Open Sans"/>
              <a:sym typeface="Open Sans"/>
            </a:endParaRPr>
          </a:p>
          <a:p>
            <a:pPr indent="-330200" lvl="0" marL="457200" rtl="0" algn="l">
              <a:lnSpc>
                <a:spcPct val="125000"/>
              </a:lnSpc>
              <a:spcBef>
                <a:spcPts val="0"/>
              </a:spcBef>
              <a:spcAft>
                <a:spcPts val="0"/>
              </a:spcAft>
              <a:buClr>
                <a:srgbClr val="333333"/>
              </a:buClr>
              <a:buSzPts val="1600"/>
              <a:buFont typeface="Open Sans"/>
              <a:buChar char="●"/>
            </a:pPr>
            <a:r>
              <a:rPr lang="en-US" sz="1600" u="sng">
                <a:solidFill>
                  <a:srgbClr val="333333"/>
                </a:solidFill>
                <a:latin typeface="Open Sans"/>
                <a:ea typeface="Open Sans"/>
                <a:cs typeface="Open Sans"/>
                <a:sym typeface="Open Sans"/>
              </a:rPr>
              <a:t>Hybrid Text-Plus-Tabular Model</a:t>
            </a:r>
            <a:endParaRPr sz="1600" u="sng">
              <a:solidFill>
                <a:srgbClr val="333333"/>
              </a:solidFill>
              <a:latin typeface="Open Sans"/>
              <a:ea typeface="Open Sans"/>
              <a:cs typeface="Open Sans"/>
              <a:sym typeface="Open Sans"/>
            </a:endParaRPr>
          </a:p>
          <a:p>
            <a:pPr indent="0" lvl="0" marL="0" rtl="0" algn="l">
              <a:lnSpc>
                <a:spcPct val="125000"/>
              </a:lnSpc>
              <a:spcBef>
                <a:spcPts val="0"/>
              </a:spcBef>
              <a:spcAft>
                <a:spcPts val="0"/>
              </a:spcAft>
              <a:buNone/>
            </a:pPr>
            <a:r>
              <a:rPr lang="en-US">
                <a:solidFill>
                  <a:srgbClr val="333333"/>
                </a:solidFill>
                <a:latin typeface="Open Sans"/>
                <a:ea typeface="Open Sans"/>
                <a:cs typeface="Open Sans"/>
                <a:sym typeface="Open Sans"/>
              </a:rPr>
              <a:t>The most effective alteration that does not change the dataset, is to reformulate the input from “text only” to “text plus structured features”. Concatenate BioBERT’s pooled output with embeddings of player_age, player_position, club league, and an engineered prior-injury-count feature. The structured fields would give real value that the text by itself cannot provide to the model.</a:t>
            </a:r>
            <a:endParaRPr>
              <a:solidFill>
                <a:srgbClr val="64748B"/>
              </a:solidFill>
            </a:endParaRPr>
          </a:p>
        </p:txBody>
      </p:sp>
      <p:sp>
        <p:nvSpPr>
          <p:cNvPr id="345" name="Google Shape;34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 name="Google Shape;37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Better versatility and better models/performance = better results</a:t>
            </a:r>
            <a:endParaRPr/>
          </a:p>
        </p:txBody>
      </p:sp>
      <p:sp>
        <p:nvSpPr>
          <p:cNvPr id="376" name="Google Shape;37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5" name="Google Shape;39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a </a:t>
            </a:r>
            <a:endParaRPr/>
          </a:p>
        </p:txBody>
      </p:sp>
      <p:sp>
        <p:nvSpPr>
          <p:cNvPr id="396" name="Google Shape;396;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3" name="Google Shape;42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4" name="Google Shape;42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6.png"/><Relationship Id="rId6"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2E22"/>
        </a:solidFill>
      </p:bgPr>
    </p:bg>
    <p:spTree>
      <p:nvGrpSpPr>
        <p:cNvPr id="15" name="Shape 15"/>
        <p:cNvGrpSpPr/>
        <p:nvPr/>
      </p:nvGrpSpPr>
      <p:grpSpPr>
        <a:xfrm>
          <a:off x="0" y="0"/>
          <a:ext cx="0" cy="0"/>
          <a:chOff x="0" y="0"/>
          <a:chExt cx="0" cy="0"/>
        </a:xfrm>
      </p:grpSpPr>
      <p:sp>
        <p:nvSpPr>
          <p:cNvPr id="16" name="Google Shape;16;p3"/>
          <p:cNvSpPr/>
          <p:nvPr/>
        </p:nvSpPr>
        <p:spPr>
          <a:xfrm>
            <a:off x="-3200400" y="-3200400"/>
            <a:ext cx="6400800" cy="6400800"/>
          </a:xfrm>
          <a:prstGeom prst="ellipse">
            <a:avLst/>
          </a:prstGeom>
          <a:solidFill>
            <a:srgbClr val="0F4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9448495" y="4114800"/>
            <a:ext cx="5486400" cy="5486400"/>
          </a:xfrm>
          <a:prstGeom prst="ellipse">
            <a:avLst/>
          </a:prstGeom>
          <a:solidFill>
            <a:srgbClr val="F59E0B">
              <a:alpha val="1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 name="Google Shape;18;p3"/>
          <p:cNvPicPr preferRelativeResize="0"/>
          <p:nvPr/>
        </p:nvPicPr>
        <p:blipFill rotWithShape="1">
          <a:blip r:embed="rId3">
            <a:alphaModFix/>
          </a:blip>
          <a:srcRect b="0" l="0" r="0" t="0"/>
          <a:stretch/>
        </p:blipFill>
        <p:spPr>
          <a:xfrm>
            <a:off x="640080" y="548640"/>
            <a:ext cx="640080" cy="640080"/>
          </a:xfrm>
          <a:prstGeom prst="rect">
            <a:avLst/>
          </a:prstGeom>
          <a:noFill/>
          <a:ln>
            <a:noFill/>
          </a:ln>
        </p:spPr>
      </p:pic>
      <p:sp>
        <p:nvSpPr>
          <p:cNvPr id="19" name="Google Shape;19;p3"/>
          <p:cNvSpPr/>
          <p:nvPr/>
        </p:nvSpPr>
        <p:spPr>
          <a:xfrm>
            <a:off x="1417320" y="685800"/>
            <a:ext cx="9144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100"/>
              <a:buFont typeface="Calibri"/>
              <a:buNone/>
            </a:pPr>
            <a:r>
              <a:rPr b="1" i="0" lang="en-US" sz="1100" u="none" cap="none" strike="noStrike">
                <a:solidFill>
                  <a:srgbClr val="F59E0B"/>
                </a:solidFill>
                <a:latin typeface="Calibri"/>
                <a:ea typeface="Calibri"/>
                <a:cs typeface="Calibri"/>
                <a:sym typeface="Calibri"/>
              </a:rPr>
              <a:t>RESEARCH PROJECT  ·  EDUCATIONAL PRESENTATION</a:t>
            </a:r>
            <a:endParaRPr b="0" i="0" sz="1100" u="none" cap="none" strike="noStrike">
              <a:solidFill>
                <a:schemeClr val="dk1"/>
              </a:solidFill>
              <a:latin typeface="Calibri"/>
              <a:ea typeface="Calibri"/>
              <a:cs typeface="Calibri"/>
              <a:sym typeface="Calibri"/>
            </a:endParaRPr>
          </a:p>
        </p:txBody>
      </p:sp>
      <p:sp>
        <p:nvSpPr>
          <p:cNvPr id="20" name="Google Shape;20;p3"/>
          <p:cNvSpPr/>
          <p:nvPr/>
        </p:nvSpPr>
        <p:spPr>
          <a:xfrm>
            <a:off x="640080" y="2011680"/>
            <a:ext cx="109728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Georgia"/>
              <a:buNone/>
            </a:pPr>
            <a:r>
              <a:rPr b="1" i="0" lang="en-US" sz="4400" u="none" cap="none" strike="noStrike">
                <a:solidFill>
                  <a:srgbClr val="FFFFFF"/>
                </a:solidFill>
                <a:latin typeface="Georgia"/>
                <a:ea typeface="Georgia"/>
                <a:cs typeface="Georgia"/>
                <a:sym typeface="Georgia"/>
              </a:rPr>
              <a:t>Applying BERT for </a:t>
            </a:r>
            <a:endParaRPr b="0" i="0" sz="4400" u="none" cap="none" strike="noStrike">
              <a:solidFill>
                <a:schemeClr val="dk1"/>
              </a:solidFill>
              <a:latin typeface="Calibri"/>
              <a:ea typeface="Calibri"/>
              <a:cs typeface="Calibri"/>
              <a:sym typeface="Calibri"/>
            </a:endParaRPr>
          </a:p>
        </p:txBody>
      </p:sp>
      <p:sp>
        <p:nvSpPr>
          <p:cNvPr id="21" name="Google Shape;21;p3"/>
          <p:cNvSpPr/>
          <p:nvPr/>
        </p:nvSpPr>
        <p:spPr>
          <a:xfrm>
            <a:off x="640080" y="2788920"/>
            <a:ext cx="109728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Georgia"/>
              <a:buNone/>
            </a:pPr>
            <a:r>
              <a:rPr b="1" i="0" lang="en-US" sz="4400" u="none" cap="none" strike="noStrike">
                <a:solidFill>
                  <a:srgbClr val="FFFFFF"/>
                </a:solidFill>
                <a:latin typeface="Georgia"/>
                <a:ea typeface="Georgia"/>
                <a:cs typeface="Georgia"/>
                <a:sym typeface="Georgia"/>
              </a:rPr>
              <a:t>Severity Classification of</a:t>
            </a:r>
            <a:endParaRPr b="0" i="0" sz="4400" u="none" cap="none" strike="noStrike">
              <a:solidFill>
                <a:schemeClr val="dk1"/>
              </a:solidFill>
              <a:latin typeface="Calibri"/>
              <a:ea typeface="Calibri"/>
              <a:cs typeface="Calibri"/>
              <a:sym typeface="Calibri"/>
            </a:endParaRPr>
          </a:p>
        </p:txBody>
      </p:sp>
      <p:sp>
        <p:nvSpPr>
          <p:cNvPr id="22" name="Google Shape;22;p3"/>
          <p:cNvSpPr/>
          <p:nvPr/>
        </p:nvSpPr>
        <p:spPr>
          <a:xfrm>
            <a:off x="640080" y="3566160"/>
            <a:ext cx="109728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Georgia"/>
              <a:buNone/>
            </a:pPr>
            <a:r>
              <a:rPr b="1" i="1" lang="en-US" sz="4400" u="none" cap="none" strike="noStrike">
                <a:solidFill>
                  <a:srgbClr val="FFFFFF"/>
                </a:solidFill>
                <a:latin typeface="Georgia"/>
                <a:ea typeface="Georgia"/>
                <a:cs typeface="Georgia"/>
                <a:sym typeface="Georgia"/>
              </a:rPr>
              <a:t>Soccer Injury</a:t>
            </a:r>
            <a:r>
              <a:rPr b="1" i="1" lang="en-US" sz="4400" u="none" cap="none" strike="noStrike">
                <a:solidFill>
                  <a:srgbClr val="F59E0B"/>
                </a:solidFill>
                <a:latin typeface="Georgia"/>
                <a:ea typeface="Georgia"/>
                <a:cs typeface="Georgia"/>
                <a:sym typeface="Georgia"/>
              </a:rPr>
              <a:t> Reports</a:t>
            </a:r>
            <a:endParaRPr b="0" i="0" sz="4400" u="none" cap="none" strike="noStrike">
              <a:solidFill>
                <a:schemeClr val="dk1"/>
              </a:solidFill>
              <a:latin typeface="Calibri"/>
              <a:ea typeface="Calibri"/>
              <a:cs typeface="Calibri"/>
              <a:sym typeface="Calibri"/>
            </a:endParaRPr>
          </a:p>
        </p:txBody>
      </p:sp>
      <p:sp>
        <p:nvSpPr>
          <p:cNvPr id="23" name="Google Shape;23;p3"/>
          <p:cNvSpPr/>
          <p:nvPr/>
        </p:nvSpPr>
        <p:spPr>
          <a:xfrm>
            <a:off x="640080" y="4663440"/>
            <a:ext cx="548640" cy="36576"/>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a:off x="640080" y="4800600"/>
            <a:ext cx="100584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1600"/>
              <a:buFont typeface="Calibri"/>
              <a:buNone/>
            </a:pPr>
            <a:r>
              <a:rPr b="0" i="0" lang="en-US" sz="1600" u="none" cap="none" strike="noStrike">
                <a:solidFill>
                  <a:srgbClr val="CBD5E1"/>
                </a:solidFill>
                <a:latin typeface="Calibri"/>
                <a:ea typeface="Calibri"/>
                <a:cs typeface="Calibri"/>
                <a:sym typeface="Calibri"/>
              </a:rPr>
              <a:t>A natural language processing approach to predicting recovery timelines</a:t>
            </a:r>
            <a:endParaRPr b="0" i="0" sz="16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CBD5E1"/>
              </a:buClr>
              <a:buSzPts val="1600"/>
              <a:buFont typeface="Calibri"/>
              <a:buNone/>
            </a:pPr>
            <a:r>
              <a:rPr b="0" i="0" lang="en-US" sz="1600" u="none" cap="none" strike="noStrike">
                <a:solidFill>
                  <a:srgbClr val="CBD5E1"/>
                </a:solidFill>
                <a:latin typeface="Calibri"/>
                <a:ea typeface="Calibri"/>
                <a:cs typeface="Calibri"/>
                <a:sym typeface="Calibri"/>
              </a:rPr>
              <a:t>from unstructured medical injury text using a domain-specific transformer.</a:t>
            </a:r>
            <a:endParaRPr b="0" i="0" sz="1600" u="none" cap="none" strike="noStrike">
              <a:solidFill>
                <a:schemeClr val="dk1"/>
              </a:solidFill>
              <a:latin typeface="Calibri"/>
              <a:ea typeface="Calibri"/>
              <a:cs typeface="Calibri"/>
              <a:sym typeface="Calibri"/>
            </a:endParaRPr>
          </a:p>
        </p:txBody>
      </p:sp>
      <p:sp>
        <p:nvSpPr>
          <p:cNvPr id="25" name="Google Shape;25;p3"/>
          <p:cNvSpPr/>
          <p:nvPr/>
        </p:nvSpPr>
        <p:spPr>
          <a:xfrm>
            <a:off x="640080" y="6126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000"/>
              <a:buFont typeface="Calibri"/>
              <a:buNone/>
            </a:pPr>
            <a:r>
              <a:rPr b="1" i="0" lang="en-US" sz="1000" u="none" cap="none" strike="noStrike">
                <a:solidFill>
                  <a:srgbClr val="F59E0B"/>
                </a:solidFill>
                <a:latin typeface="Calibri"/>
                <a:ea typeface="Calibri"/>
                <a:cs typeface="Calibri"/>
                <a:sym typeface="Calibri"/>
              </a:rPr>
              <a:t>BioBERT  ·  PyTorch  ·  Stratified Multi-Class Classification</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 name="Shape 30"/>
        <p:cNvGrpSpPr/>
        <p:nvPr/>
      </p:nvGrpSpPr>
      <p:grpSpPr>
        <a:xfrm>
          <a:off x="0" y="0"/>
          <a:ext cx="0" cy="0"/>
          <a:chOff x="0" y="0"/>
          <a:chExt cx="0" cy="0"/>
        </a:xfrm>
      </p:grpSpPr>
      <p:sp>
        <p:nvSpPr>
          <p:cNvPr id="31" name="Google Shape;31;p4"/>
          <p:cNvSpPr/>
          <p:nvPr/>
        </p:nvSpPr>
        <p:spPr>
          <a:xfrm>
            <a:off x="548640" y="45720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100"/>
              <a:buFont typeface="Calibri"/>
              <a:buNone/>
            </a:pPr>
            <a:r>
              <a:rPr b="1" i="0" lang="en-US" sz="1100" u="none" cap="none" strike="noStrike">
                <a:solidFill>
                  <a:srgbClr val="B45309"/>
                </a:solidFill>
                <a:latin typeface="Calibri"/>
                <a:ea typeface="Calibri"/>
                <a:cs typeface="Calibri"/>
                <a:sym typeface="Calibri"/>
              </a:rPr>
              <a:t>01  ·  INTRODUCTION</a:t>
            </a:r>
            <a:endParaRPr b="0" i="0" sz="1100" u="none" cap="none" strike="noStrike">
              <a:solidFill>
                <a:schemeClr val="dk1"/>
              </a:solidFill>
              <a:latin typeface="Calibri"/>
              <a:ea typeface="Calibri"/>
              <a:cs typeface="Calibri"/>
              <a:sym typeface="Calibri"/>
            </a:endParaRPr>
          </a:p>
        </p:txBody>
      </p:sp>
      <p:sp>
        <p:nvSpPr>
          <p:cNvPr id="32" name="Google Shape;32;p4"/>
          <p:cNvSpPr/>
          <p:nvPr/>
        </p:nvSpPr>
        <p:spPr>
          <a:xfrm>
            <a:off x="548640" y="77724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3200"/>
              <a:buFont typeface="Georgia"/>
              <a:buNone/>
            </a:pPr>
            <a:r>
              <a:rPr b="1" lang="en-US" sz="3200">
                <a:solidFill>
                  <a:srgbClr val="1E293B"/>
                </a:solidFill>
                <a:latin typeface="Georgia"/>
                <a:ea typeface="Georgia"/>
                <a:cs typeface="Georgia"/>
                <a:sym typeface="Georgia"/>
              </a:rPr>
              <a:t>What’s my goal?</a:t>
            </a:r>
            <a:endParaRPr b="0" i="0" sz="3200" u="none" cap="none" strike="noStrike">
              <a:solidFill>
                <a:schemeClr val="dk1"/>
              </a:solidFill>
              <a:latin typeface="Calibri"/>
              <a:ea typeface="Calibri"/>
              <a:cs typeface="Calibri"/>
              <a:sym typeface="Calibri"/>
            </a:endParaRPr>
          </a:p>
        </p:txBody>
      </p:sp>
      <p:sp>
        <p:nvSpPr>
          <p:cNvPr id="33" name="Google Shape;33;p4"/>
          <p:cNvSpPr/>
          <p:nvPr/>
        </p:nvSpPr>
        <p:spPr>
          <a:xfrm>
            <a:off x="548640" y="1691640"/>
            <a:ext cx="5669280" cy="1371600"/>
          </a:xfrm>
          <a:prstGeom prst="rect">
            <a:avLst/>
          </a:prstGeom>
          <a:noFill/>
          <a:ln>
            <a:noFill/>
          </a:ln>
        </p:spPr>
        <p:txBody>
          <a:bodyPr anchorCtr="0" anchor="ctr" bIns="0" lIns="0" spcFirstLastPara="1" rIns="0" wrap="square" tIns="0">
            <a:noAutofit/>
          </a:bodyPr>
          <a:lstStyle/>
          <a:p>
            <a:pPr indent="-323850" lvl="0" marL="457200" rtl="0" algn="l">
              <a:spcBef>
                <a:spcPts val="0"/>
              </a:spcBef>
              <a:spcAft>
                <a:spcPts val="0"/>
              </a:spcAft>
              <a:buClr>
                <a:schemeClr val="dk1"/>
              </a:buClr>
              <a:buSzPts val="1500"/>
              <a:buFont typeface="Calibri"/>
              <a:buChar char="●"/>
            </a:pPr>
            <a:r>
              <a:rPr b="1" lang="en-US" sz="1500">
                <a:solidFill>
                  <a:srgbClr val="0F4C3A"/>
                </a:solidFill>
                <a:latin typeface="Calibri"/>
                <a:ea typeface="Calibri"/>
                <a:cs typeface="Calibri"/>
                <a:sym typeface="Calibri"/>
              </a:rPr>
              <a:t>athlete health is the foundation of competitive performance</a:t>
            </a:r>
            <a:endParaRPr b="0" i="0" sz="1500" u="none" cap="none" strike="noStrike">
              <a:solidFill>
                <a:schemeClr val="dk1"/>
              </a:solidFill>
              <a:latin typeface="Calibri"/>
              <a:ea typeface="Calibri"/>
              <a:cs typeface="Calibri"/>
              <a:sym typeface="Calibri"/>
            </a:endParaRPr>
          </a:p>
        </p:txBody>
      </p:sp>
      <p:sp>
        <p:nvSpPr>
          <p:cNvPr id="34" name="Google Shape;34;p4"/>
          <p:cNvSpPr/>
          <p:nvPr/>
        </p:nvSpPr>
        <p:spPr>
          <a:xfrm>
            <a:off x="548640" y="3154680"/>
            <a:ext cx="5669280" cy="1828800"/>
          </a:xfrm>
          <a:prstGeom prst="rect">
            <a:avLst/>
          </a:prstGeom>
          <a:noFill/>
          <a:ln>
            <a:noFill/>
          </a:ln>
        </p:spPr>
        <p:txBody>
          <a:bodyPr anchorCtr="0" anchor="ctr" bIns="0" lIns="0" spcFirstLastPara="1" rIns="0" wrap="square" tIns="0">
            <a:noAutofit/>
          </a:bodyPr>
          <a:lstStyle/>
          <a:p>
            <a:pPr indent="-323850" lvl="0" marL="457200" marR="0" rtl="0" algn="l">
              <a:spcBef>
                <a:spcPts val="0"/>
              </a:spcBef>
              <a:spcAft>
                <a:spcPts val="0"/>
              </a:spcAft>
              <a:buClr>
                <a:srgbClr val="1E293B"/>
              </a:buClr>
              <a:buSzPts val="1500"/>
              <a:buFont typeface="Calibri"/>
              <a:buChar char="●"/>
            </a:pPr>
            <a:r>
              <a:rPr b="1" i="0" lang="en-US" sz="1500" u="none" cap="none" strike="noStrike">
                <a:solidFill>
                  <a:srgbClr val="1E293B"/>
                </a:solidFill>
                <a:latin typeface="Calibri"/>
                <a:ea typeface="Calibri"/>
                <a:cs typeface="Calibri"/>
                <a:sym typeface="Calibri"/>
              </a:rPr>
              <a:t>there is no standardized formula to predict recovery timelines</a:t>
            </a:r>
            <a:endParaRPr b="0" i="0" sz="1500" u="none" cap="none" strike="noStrike">
              <a:solidFill>
                <a:schemeClr val="dk1"/>
              </a:solidFill>
              <a:latin typeface="Calibri"/>
              <a:ea typeface="Calibri"/>
              <a:cs typeface="Calibri"/>
              <a:sym typeface="Calibri"/>
            </a:endParaRPr>
          </a:p>
        </p:txBody>
      </p:sp>
      <p:sp>
        <p:nvSpPr>
          <p:cNvPr id="35" name="Google Shape;35;p4"/>
          <p:cNvSpPr/>
          <p:nvPr/>
        </p:nvSpPr>
        <p:spPr>
          <a:xfrm>
            <a:off x="6766560" y="1691640"/>
            <a:ext cx="4846320" cy="146304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a:off x="6766560" y="1691640"/>
            <a:ext cx="73152" cy="1463040"/>
          </a:xfrm>
          <a:prstGeom prst="rect">
            <a:avLst/>
          </a:prstGeom>
          <a:solidFill>
            <a:srgbClr val="0F4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a:off x="7040880" y="1783080"/>
            <a:ext cx="43891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4C3A"/>
              </a:buClr>
              <a:buSzPts val="4200"/>
              <a:buFont typeface="Georgia"/>
              <a:buNone/>
            </a:pPr>
            <a:r>
              <a:rPr b="1" i="0" lang="en-US" sz="4200" u="none" cap="none" strike="noStrike">
                <a:solidFill>
                  <a:srgbClr val="0F4C3A"/>
                </a:solidFill>
                <a:latin typeface="Georgia"/>
                <a:ea typeface="Georgia"/>
                <a:cs typeface="Georgia"/>
                <a:sym typeface="Georgia"/>
              </a:rPr>
              <a:t>15,603</a:t>
            </a:r>
            <a:endParaRPr b="0" i="0" sz="4200" u="none" cap="none" strike="noStrike">
              <a:solidFill>
                <a:schemeClr val="dk1"/>
              </a:solidFill>
              <a:latin typeface="Calibri"/>
              <a:ea typeface="Calibri"/>
              <a:cs typeface="Calibri"/>
              <a:sym typeface="Calibri"/>
            </a:endParaRPr>
          </a:p>
        </p:txBody>
      </p:sp>
      <p:sp>
        <p:nvSpPr>
          <p:cNvPr id="38" name="Google Shape;38;p4"/>
          <p:cNvSpPr/>
          <p:nvPr/>
        </p:nvSpPr>
        <p:spPr>
          <a:xfrm>
            <a:off x="7040880" y="2468880"/>
            <a:ext cx="43891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injury records analyzed across professional leagues</a:t>
            </a:r>
            <a:endParaRPr b="0" i="0" sz="1300" u="none" cap="none" strike="noStrike">
              <a:solidFill>
                <a:schemeClr val="dk1"/>
              </a:solidFill>
              <a:latin typeface="Calibri"/>
              <a:ea typeface="Calibri"/>
              <a:cs typeface="Calibri"/>
              <a:sym typeface="Calibri"/>
            </a:endParaRPr>
          </a:p>
        </p:txBody>
      </p:sp>
      <p:sp>
        <p:nvSpPr>
          <p:cNvPr id="39" name="Google Shape;39;p4"/>
          <p:cNvSpPr/>
          <p:nvPr/>
        </p:nvSpPr>
        <p:spPr>
          <a:xfrm>
            <a:off x="6766560" y="3337560"/>
            <a:ext cx="4846320" cy="146304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a:off x="6766560" y="3337560"/>
            <a:ext cx="73152" cy="1463040"/>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a:off x="7040880" y="3429000"/>
            <a:ext cx="43891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4200"/>
              <a:buFont typeface="Georgia"/>
              <a:buNone/>
            </a:pPr>
            <a:r>
              <a:rPr b="1" i="0" lang="en-US" sz="4200" u="none" cap="none" strike="noStrike">
                <a:solidFill>
                  <a:srgbClr val="B45309"/>
                </a:solidFill>
                <a:latin typeface="Georgia"/>
                <a:ea typeface="Georgia"/>
                <a:cs typeface="Georgia"/>
                <a:sym typeface="Georgia"/>
              </a:rPr>
              <a:t>5</a:t>
            </a:r>
            <a:endParaRPr b="0" i="0" sz="4200" u="none" cap="none" strike="noStrike">
              <a:solidFill>
                <a:schemeClr val="dk1"/>
              </a:solidFill>
              <a:latin typeface="Calibri"/>
              <a:ea typeface="Calibri"/>
              <a:cs typeface="Calibri"/>
              <a:sym typeface="Calibri"/>
            </a:endParaRPr>
          </a:p>
        </p:txBody>
      </p:sp>
      <p:sp>
        <p:nvSpPr>
          <p:cNvPr id="42" name="Google Shape;42;p4"/>
          <p:cNvSpPr/>
          <p:nvPr/>
        </p:nvSpPr>
        <p:spPr>
          <a:xfrm>
            <a:off x="7040880" y="4114800"/>
            <a:ext cx="43891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severity tiers, from minor knock to season-ending</a:t>
            </a:r>
            <a:endParaRPr b="0" i="0" sz="1300" u="none" cap="none" strike="noStrike">
              <a:solidFill>
                <a:schemeClr val="dk1"/>
              </a:solidFill>
              <a:latin typeface="Calibri"/>
              <a:ea typeface="Calibri"/>
              <a:cs typeface="Calibri"/>
              <a:sym typeface="Calibri"/>
            </a:endParaRPr>
          </a:p>
        </p:txBody>
      </p:sp>
      <p:sp>
        <p:nvSpPr>
          <p:cNvPr id="43" name="Google Shape;43;p4"/>
          <p:cNvSpPr/>
          <p:nvPr/>
        </p:nvSpPr>
        <p:spPr>
          <a:xfrm>
            <a:off x="6766560" y="4983480"/>
            <a:ext cx="4846320" cy="132588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a:off x="6766560" y="4983480"/>
            <a:ext cx="73152" cy="1325880"/>
          </a:xfrm>
          <a:prstGeom prst="rect">
            <a:avLst/>
          </a:prstGeom>
          <a:solidFill>
            <a:srgbClr val="1E2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a:off x="7040880" y="5074920"/>
            <a:ext cx="43891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2800"/>
              <a:buFont typeface="Georgia"/>
              <a:buNone/>
            </a:pPr>
            <a:r>
              <a:rPr b="1" i="0" lang="en-US" sz="2800" u="none" cap="none" strike="noStrike">
                <a:solidFill>
                  <a:srgbClr val="1E293B"/>
                </a:solidFill>
                <a:latin typeface="Georgia"/>
                <a:ea typeface="Georgia"/>
                <a:cs typeface="Georgia"/>
                <a:sym typeface="Georgia"/>
              </a:rPr>
              <a:t>BioBERT</a:t>
            </a:r>
            <a:endParaRPr b="0" i="0" sz="2800" u="none" cap="none" strike="noStrike">
              <a:solidFill>
                <a:schemeClr val="dk1"/>
              </a:solidFill>
              <a:latin typeface="Calibri"/>
              <a:ea typeface="Calibri"/>
              <a:cs typeface="Calibri"/>
              <a:sym typeface="Calibri"/>
            </a:endParaRPr>
          </a:p>
        </p:txBody>
      </p:sp>
      <p:sp>
        <p:nvSpPr>
          <p:cNvPr id="46" name="Google Shape;46;p4"/>
          <p:cNvSpPr/>
          <p:nvPr/>
        </p:nvSpPr>
        <p:spPr>
          <a:xfrm>
            <a:off x="7040880" y="5623560"/>
            <a:ext cx="43891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a transformer pretrained on biomedical literature</a:t>
            </a:r>
            <a:endParaRPr b="0" i="0" sz="1300" u="none" cap="none" strike="noStrike">
              <a:solidFill>
                <a:schemeClr val="dk1"/>
              </a:solidFill>
              <a:latin typeface="Calibri"/>
              <a:ea typeface="Calibri"/>
              <a:cs typeface="Calibri"/>
              <a:sym typeface="Calibri"/>
            </a:endParaRPr>
          </a:p>
        </p:txBody>
      </p:sp>
      <p:cxnSp>
        <p:nvCxnSpPr>
          <p:cNvPr id="47" name="Google Shape;47;p4"/>
          <p:cNvCxnSpPr/>
          <p:nvPr/>
        </p:nvCxnSpPr>
        <p:spPr>
          <a:xfrm>
            <a:off x="548640" y="6446520"/>
            <a:ext cx="11094415" cy="0"/>
          </a:xfrm>
          <a:prstGeom prst="straightConnector1">
            <a:avLst/>
          </a:prstGeom>
          <a:noFill/>
          <a:ln cap="flat" cmpd="sng" w="9525">
            <a:solidFill>
              <a:srgbClr val="E2E8F0"/>
            </a:solidFill>
            <a:prstDash val="solid"/>
            <a:round/>
            <a:headEnd len="sm" w="sm" type="none"/>
            <a:tailEnd len="sm" w="sm" type="none"/>
          </a:ln>
        </p:spPr>
      </p:cxnSp>
      <p:sp>
        <p:nvSpPr>
          <p:cNvPr id="48" name="Google Shape;48;p4"/>
          <p:cNvSpPr/>
          <p:nvPr/>
        </p:nvSpPr>
        <p:spPr>
          <a:xfrm>
            <a:off x="54864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BioBERT · Soccer Injury Severity Classification</a:t>
            </a:r>
            <a:endParaRPr b="0" i="0" sz="900" u="none" cap="none" strike="noStrike">
              <a:solidFill>
                <a:schemeClr val="dk1"/>
              </a:solidFill>
              <a:latin typeface="Calibri"/>
              <a:ea typeface="Calibri"/>
              <a:cs typeface="Calibri"/>
              <a:sym typeface="Calibri"/>
            </a:endParaRPr>
          </a:p>
        </p:txBody>
      </p:sp>
      <p:sp>
        <p:nvSpPr>
          <p:cNvPr id="49" name="Google Shape;49;p4"/>
          <p:cNvSpPr/>
          <p:nvPr/>
        </p:nvSpPr>
        <p:spPr>
          <a:xfrm>
            <a:off x="10728655" y="649224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2 / 16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 name="Shape 54"/>
        <p:cNvGrpSpPr/>
        <p:nvPr/>
      </p:nvGrpSpPr>
      <p:grpSpPr>
        <a:xfrm>
          <a:off x="0" y="0"/>
          <a:ext cx="0" cy="0"/>
          <a:chOff x="0" y="0"/>
          <a:chExt cx="0" cy="0"/>
        </a:xfrm>
      </p:grpSpPr>
      <p:sp>
        <p:nvSpPr>
          <p:cNvPr id="55" name="Google Shape;55;p5"/>
          <p:cNvSpPr/>
          <p:nvPr/>
        </p:nvSpPr>
        <p:spPr>
          <a:xfrm>
            <a:off x="548640" y="45720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100"/>
              <a:buFont typeface="Calibri"/>
              <a:buNone/>
            </a:pPr>
            <a:r>
              <a:rPr b="1" i="0" lang="en-US" sz="1100" u="none" cap="none" strike="noStrike">
                <a:solidFill>
                  <a:srgbClr val="B45309"/>
                </a:solidFill>
                <a:latin typeface="Calibri"/>
                <a:ea typeface="Calibri"/>
                <a:cs typeface="Calibri"/>
                <a:sym typeface="Calibri"/>
              </a:rPr>
              <a:t>02  ·  THE WHY</a:t>
            </a:r>
            <a:endParaRPr b="0" i="0" sz="1100" u="none" cap="none" strike="noStrike">
              <a:solidFill>
                <a:schemeClr val="dk1"/>
              </a:solidFill>
              <a:latin typeface="Calibri"/>
              <a:ea typeface="Calibri"/>
              <a:cs typeface="Calibri"/>
              <a:sym typeface="Calibri"/>
            </a:endParaRPr>
          </a:p>
        </p:txBody>
      </p:sp>
      <p:sp>
        <p:nvSpPr>
          <p:cNvPr id="56" name="Google Shape;56;p5"/>
          <p:cNvSpPr/>
          <p:nvPr/>
        </p:nvSpPr>
        <p:spPr>
          <a:xfrm>
            <a:off x="548640" y="77724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3200"/>
              <a:buFont typeface="Georgia"/>
              <a:buNone/>
            </a:pPr>
            <a:r>
              <a:rPr b="1" i="0" lang="en-US" sz="3200" u="none" cap="none" strike="noStrike">
                <a:solidFill>
                  <a:srgbClr val="1E293B"/>
                </a:solidFill>
                <a:latin typeface="Georgia"/>
                <a:ea typeface="Georgia"/>
                <a:cs typeface="Georgia"/>
                <a:sym typeface="Georgia"/>
              </a:rPr>
              <a:t>Why this problem matters</a:t>
            </a:r>
            <a:endParaRPr b="0" i="0" sz="3200" u="none" cap="none" strike="noStrike">
              <a:solidFill>
                <a:schemeClr val="dk1"/>
              </a:solidFill>
              <a:latin typeface="Calibri"/>
              <a:ea typeface="Calibri"/>
              <a:cs typeface="Calibri"/>
              <a:sym typeface="Calibri"/>
            </a:endParaRPr>
          </a:p>
        </p:txBody>
      </p:sp>
      <p:sp>
        <p:nvSpPr>
          <p:cNvPr id="57" name="Google Shape;57;p5"/>
          <p:cNvSpPr/>
          <p:nvPr/>
        </p:nvSpPr>
        <p:spPr>
          <a:xfrm>
            <a:off x="548640" y="1508760"/>
            <a:ext cx="109728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400"/>
              <a:buFont typeface="Calibri"/>
              <a:buNone/>
            </a:pPr>
            <a:r>
              <a:rPr b="0" i="1" lang="en-US" sz="1400" u="none" cap="none" strike="noStrike">
                <a:solidFill>
                  <a:srgbClr val="64748B"/>
                </a:solidFill>
                <a:latin typeface="Calibri"/>
                <a:ea typeface="Calibri"/>
                <a:cs typeface="Calibri"/>
                <a:sym typeface="Calibri"/>
              </a:rPr>
              <a:t>Injury severity prediction sits at the intersection of sports medicine, analytics, and finance.</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400"/>
              <a:buFont typeface="Calibri"/>
              <a:buNone/>
            </a:pPr>
            <a:r>
              <a:rPr b="0" i="1" lang="en-US" sz="1400" u="none" cap="none" strike="noStrike">
                <a:solidFill>
                  <a:srgbClr val="64748B"/>
                </a:solidFill>
                <a:latin typeface="Calibri"/>
                <a:ea typeface="Calibri"/>
                <a:cs typeface="Calibri"/>
                <a:sym typeface="Calibri"/>
              </a:rPr>
              <a:t>A reliable, automated classifier creates value for four distinct audiences:</a:t>
            </a:r>
            <a:endParaRPr b="0" i="0" sz="1400" u="none" cap="none" strike="noStrike">
              <a:solidFill>
                <a:schemeClr val="dk1"/>
              </a:solidFill>
              <a:latin typeface="Calibri"/>
              <a:ea typeface="Calibri"/>
              <a:cs typeface="Calibri"/>
              <a:sym typeface="Calibri"/>
            </a:endParaRPr>
          </a:p>
        </p:txBody>
      </p:sp>
      <p:sp>
        <p:nvSpPr>
          <p:cNvPr id="58" name="Google Shape;58;p5"/>
          <p:cNvSpPr/>
          <p:nvPr/>
        </p:nvSpPr>
        <p:spPr>
          <a:xfrm>
            <a:off x="548640" y="2468880"/>
            <a:ext cx="5532120" cy="18288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822960" y="2743200"/>
            <a:ext cx="640080" cy="640080"/>
          </a:xfrm>
          <a:prstGeom prst="ellipse">
            <a:avLst/>
          </a:prstGeom>
          <a:solidFill>
            <a:srgbClr val="0F4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0" name="Google Shape;60;p5"/>
          <p:cNvPicPr preferRelativeResize="0"/>
          <p:nvPr/>
        </p:nvPicPr>
        <p:blipFill rotWithShape="1">
          <a:blip r:embed="rId3">
            <a:alphaModFix/>
          </a:blip>
          <a:srcRect b="0" l="0" r="0" t="0"/>
          <a:stretch/>
        </p:blipFill>
        <p:spPr>
          <a:xfrm>
            <a:off x="960120" y="2880360"/>
            <a:ext cx="365760" cy="365760"/>
          </a:xfrm>
          <a:prstGeom prst="rect">
            <a:avLst/>
          </a:prstGeom>
          <a:noFill/>
          <a:ln>
            <a:noFill/>
          </a:ln>
        </p:spPr>
      </p:pic>
      <p:sp>
        <p:nvSpPr>
          <p:cNvPr id="61" name="Google Shape;61;p5"/>
          <p:cNvSpPr/>
          <p:nvPr/>
        </p:nvSpPr>
        <p:spPr>
          <a:xfrm>
            <a:off x="1600200" y="2761488"/>
            <a:ext cx="4343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700"/>
              <a:buFont typeface="Georgia"/>
              <a:buNone/>
            </a:pPr>
            <a:r>
              <a:rPr b="1" i="0" lang="en-US" sz="1700" u="none" cap="none" strike="noStrike">
                <a:solidFill>
                  <a:srgbClr val="1E293B"/>
                </a:solidFill>
                <a:latin typeface="Georgia"/>
                <a:ea typeface="Georgia"/>
                <a:cs typeface="Georgia"/>
                <a:sym typeface="Georgia"/>
              </a:rPr>
              <a:t>Sports Medicine</a:t>
            </a:r>
            <a:endParaRPr b="0" i="0" sz="1700" u="none" cap="none" strike="noStrike">
              <a:solidFill>
                <a:schemeClr val="dk1"/>
              </a:solidFill>
              <a:latin typeface="Calibri"/>
              <a:ea typeface="Calibri"/>
              <a:cs typeface="Calibri"/>
              <a:sym typeface="Calibri"/>
            </a:endParaRPr>
          </a:p>
        </p:txBody>
      </p:sp>
      <p:sp>
        <p:nvSpPr>
          <p:cNvPr id="62" name="Google Shape;62;p5"/>
          <p:cNvSpPr/>
          <p:nvPr/>
        </p:nvSpPr>
        <p:spPr>
          <a:xfrm>
            <a:off x="6263640" y="2468880"/>
            <a:ext cx="5532120" cy="18288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5"/>
          <p:cNvSpPr/>
          <p:nvPr/>
        </p:nvSpPr>
        <p:spPr>
          <a:xfrm>
            <a:off x="6537960" y="2743200"/>
            <a:ext cx="640080" cy="640080"/>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4" name="Google Shape;64;p5"/>
          <p:cNvPicPr preferRelativeResize="0"/>
          <p:nvPr/>
        </p:nvPicPr>
        <p:blipFill rotWithShape="1">
          <a:blip r:embed="rId4">
            <a:alphaModFix/>
          </a:blip>
          <a:srcRect b="0" l="0" r="0" t="0"/>
          <a:stretch/>
        </p:blipFill>
        <p:spPr>
          <a:xfrm>
            <a:off x="6675120" y="2880360"/>
            <a:ext cx="365760" cy="365760"/>
          </a:xfrm>
          <a:prstGeom prst="rect">
            <a:avLst/>
          </a:prstGeom>
          <a:noFill/>
          <a:ln>
            <a:noFill/>
          </a:ln>
        </p:spPr>
      </p:pic>
      <p:sp>
        <p:nvSpPr>
          <p:cNvPr id="65" name="Google Shape;65;p5"/>
          <p:cNvSpPr/>
          <p:nvPr/>
        </p:nvSpPr>
        <p:spPr>
          <a:xfrm>
            <a:off x="7315200" y="2761488"/>
            <a:ext cx="4343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700"/>
              <a:buFont typeface="Georgia"/>
              <a:buNone/>
            </a:pPr>
            <a:r>
              <a:rPr b="1" i="0" lang="en-US" sz="1700" u="none" cap="none" strike="noStrike">
                <a:solidFill>
                  <a:srgbClr val="1E293B"/>
                </a:solidFill>
                <a:latin typeface="Georgia"/>
                <a:ea typeface="Georgia"/>
                <a:cs typeface="Georgia"/>
                <a:sym typeface="Georgia"/>
              </a:rPr>
              <a:t>Team Management</a:t>
            </a:r>
            <a:endParaRPr b="0" i="0" sz="1700" u="none" cap="none" strike="noStrike">
              <a:solidFill>
                <a:schemeClr val="dk1"/>
              </a:solidFill>
              <a:latin typeface="Calibri"/>
              <a:ea typeface="Calibri"/>
              <a:cs typeface="Calibri"/>
              <a:sym typeface="Calibri"/>
            </a:endParaRPr>
          </a:p>
        </p:txBody>
      </p:sp>
      <p:sp>
        <p:nvSpPr>
          <p:cNvPr id="66" name="Google Shape;66;p5"/>
          <p:cNvSpPr/>
          <p:nvPr/>
        </p:nvSpPr>
        <p:spPr>
          <a:xfrm>
            <a:off x="548640" y="4480560"/>
            <a:ext cx="5532120" cy="18288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5"/>
          <p:cNvSpPr/>
          <p:nvPr/>
        </p:nvSpPr>
        <p:spPr>
          <a:xfrm>
            <a:off x="822960" y="4754880"/>
            <a:ext cx="640080" cy="640080"/>
          </a:xfrm>
          <a:prstGeom prst="ellipse">
            <a:avLst/>
          </a:prstGeom>
          <a:solidFill>
            <a:srgbClr val="1E2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8" name="Google Shape;68;p5"/>
          <p:cNvPicPr preferRelativeResize="0"/>
          <p:nvPr/>
        </p:nvPicPr>
        <p:blipFill rotWithShape="1">
          <a:blip r:embed="rId5">
            <a:alphaModFix/>
          </a:blip>
          <a:srcRect b="0" l="0" r="0" t="0"/>
          <a:stretch/>
        </p:blipFill>
        <p:spPr>
          <a:xfrm>
            <a:off x="960120" y="4892040"/>
            <a:ext cx="365760" cy="365760"/>
          </a:xfrm>
          <a:prstGeom prst="rect">
            <a:avLst/>
          </a:prstGeom>
          <a:noFill/>
          <a:ln>
            <a:noFill/>
          </a:ln>
        </p:spPr>
      </p:pic>
      <p:sp>
        <p:nvSpPr>
          <p:cNvPr id="69" name="Google Shape;69;p5"/>
          <p:cNvSpPr/>
          <p:nvPr/>
        </p:nvSpPr>
        <p:spPr>
          <a:xfrm>
            <a:off x="1600200" y="4773168"/>
            <a:ext cx="4343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700"/>
              <a:buFont typeface="Georgia"/>
              <a:buNone/>
            </a:pPr>
            <a:r>
              <a:rPr b="1" i="0" lang="en-US" sz="1700" u="none" cap="none" strike="noStrike">
                <a:solidFill>
                  <a:srgbClr val="1E293B"/>
                </a:solidFill>
                <a:latin typeface="Georgia"/>
                <a:ea typeface="Georgia"/>
                <a:cs typeface="Georgia"/>
                <a:sym typeface="Georgia"/>
              </a:rPr>
              <a:t>Fantasy &amp; Fans</a:t>
            </a:r>
            <a:endParaRPr b="0" i="0" sz="1700" u="none" cap="none" strike="noStrike">
              <a:solidFill>
                <a:schemeClr val="dk1"/>
              </a:solidFill>
              <a:latin typeface="Calibri"/>
              <a:ea typeface="Calibri"/>
              <a:cs typeface="Calibri"/>
              <a:sym typeface="Calibri"/>
            </a:endParaRPr>
          </a:p>
        </p:txBody>
      </p:sp>
      <p:sp>
        <p:nvSpPr>
          <p:cNvPr id="70" name="Google Shape;70;p5"/>
          <p:cNvSpPr/>
          <p:nvPr/>
        </p:nvSpPr>
        <p:spPr>
          <a:xfrm>
            <a:off x="6263640" y="4480560"/>
            <a:ext cx="5532120" cy="18288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5"/>
          <p:cNvSpPr/>
          <p:nvPr/>
        </p:nvSpPr>
        <p:spPr>
          <a:xfrm>
            <a:off x="6537960" y="4754880"/>
            <a:ext cx="640080" cy="640080"/>
          </a:xfrm>
          <a:prstGeom prst="ellipse">
            <a:avLst/>
          </a:prstGeom>
          <a:solidFill>
            <a:srgbClr val="5C8C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2" name="Google Shape;72;p5"/>
          <p:cNvPicPr preferRelativeResize="0"/>
          <p:nvPr/>
        </p:nvPicPr>
        <p:blipFill rotWithShape="1">
          <a:blip r:embed="rId6">
            <a:alphaModFix/>
          </a:blip>
          <a:srcRect b="0" l="0" r="0" t="0"/>
          <a:stretch/>
        </p:blipFill>
        <p:spPr>
          <a:xfrm>
            <a:off x="6675120" y="4892040"/>
            <a:ext cx="365760" cy="365760"/>
          </a:xfrm>
          <a:prstGeom prst="rect">
            <a:avLst/>
          </a:prstGeom>
          <a:noFill/>
          <a:ln>
            <a:noFill/>
          </a:ln>
        </p:spPr>
      </p:pic>
      <p:sp>
        <p:nvSpPr>
          <p:cNvPr id="73" name="Google Shape;73;p5"/>
          <p:cNvSpPr/>
          <p:nvPr/>
        </p:nvSpPr>
        <p:spPr>
          <a:xfrm>
            <a:off x="7315200" y="4773168"/>
            <a:ext cx="4343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700"/>
              <a:buFont typeface="Georgia"/>
              <a:buNone/>
            </a:pPr>
            <a:r>
              <a:rPr b="1" i="0" lang="en-US" sz="1700" u="none" cap="none" strike="noStrike">
                <a:solidFill>
                  <a:srgbClr val="1E293B"/>
                </a:solidFill>
                <a:latin typeface="Georgia"/>
                <a:ea typeface="Georgia"/>
                <a:cs typeface="Georgia"/>
                <a:sym typeface="Georgia"/>
              </a:rPr>
              <a:t>Sports Betting &amp; Markets</a:t>
            </a:r>
            <a:endParaRPr b="0" i="0" sz="1700" u="none" cap="none" strike="noStrike">
              <a:solidFill>
                <a:schemeClr val="dk1"/>
              </a:solidFill>
              <a:latin typeface="Calibri"/>
              <a:ea typeface="Calibri"/>
              <a:cs typeface="Calibri"/>
              <a:sym typeface="Calibri"/>
            </a:endParaRPr>
          </a:p>
        </p:txBody>
      </p:sp>
      <p:cxnSp>
        <p:nvCxnSpPr>
          <p:cNvPr id="74" name="Google Shape;74;p5"/>
          <p:cNvCxnSpPr/>
          <p:nvPr/>
        </p:nvCxnSpPr>
        <p:spPr>
          <a:xfrm>
            <a:off x="548640" y="6446520"/>
            <a:ext cx="11094415" cy="0"/>
          </a:xfrm>
          <a:prstGeom prst="straightConnector1">
            <a:avLst/>
          </a:prstGeom>
          <a:noFill/>
          <a:ln cap="flat" cmpd="sng" w="9525">
            <a:solidFill>
              <a:srgbClr val="E2E8F0"/>
            </a:solidFill>
            <a:prstDash val="solid"/>
            <a:round/>
            <a:headEnd len="sm" w="sm" type="none"/>
            <a:tailEnd len="sm" w="sm" type="none"/>
          </a:ln>
        </p:spPr>
      </p:cxnSp>
      <p:sp>
        <p:nvSpPr>
          <p:cNvPr id="75" name="Google Shape;75;p5"/>
          <p:cNvSpPr/>
          <p:nvPr/>
        </p:nvSpPr>
        <p:spPr>
          <a:xfrm>
            <a:off x="54864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BioBERT · Soccer Injury Severity Classification</a:t>
            </a:r>
            <a:endParaRPr b="0" i="0" sz="900" u="none" cap="none" strike="noStrike">
              <a:solidFill>
                <a:schemeClr val="dk1"/>
              </a:solidFill>
              <a:latin typeface="Calibri"/>
              <a:ea typeface="Calibri"/>
              <a:cs typeface="Calibri"/>
              <a:sym typeface="Calibri"/>
            </a:endParaRPr>
          </a:p>
        </p:txBody>
      </p:sp>
      <p:sp>
        <p:nvSpPr>
          <p:cNvPr id="76" name="Google Shape;76;p5"/>
          <p:cNvSpPr/>
          <p:nvPr/>
        </p:nvSpPr>
        <p:spPr>
          <a:xfrm>
            <a:off x="10728655" y="649224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3 / 16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1" name="Shape 81"/>
        <p:cNvGrpSpPr/>
        <p:nvPr/>
      </p:nvGrpSpPr>
      <p:grpSpPr>
        <a:xfrm>
          <a:off x="0" y="0"/>
          <a:ext cx="0" cy="0"/>
          <a:chOff x="0" y="0"/>
          <a:chExt cx="0" cy="0"/>
        </a:xfrm>
      </p:grpSpPr>
      <p:sp>
        <p:nvSpPr>
          <p:cNvPr id="82" name="Google Shape;82;p6"/>
          <p:cNvSpPr/>
          <p:nvPr/>
        </p:nvSpPr>
        <p:spPr>
          <a:xfrm>
            <a:off x="548640" y="45720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100"/>
              <a:buFont typeface="Calibri"/>
              <a:buNone/>
            </a:pPr>
            <a:r>
              <a:rPr b="1" i="0" lang="en-US" sz="1100" u="none" cap="none" strike="noStrike">
                <a:solidFill>
                  <a:srgbClr val="B45309"/>
                </a:solidFill>
                <a:latin typeface="Calibri"/>
                <a:ea typeface="Calibri"/>
                <a:cs typeface="Calibri"/>
                <a:sym typeface="Calibri"/>
              </a:rPr>
              <a:t>03  ·  THE WHAT</a:t>
            </a:r>
            <a:endParaRPr b="0" i="0" sz="1100" u="none" cap="none" strike="noStrike">
              <a:solidFill>
                <a:schemeClr val="dk1"/>
              </a:solidFill>
              <a:latin typeface="Calibri"/>
              <a:ea typeface="Calibri"/>
              <a:cs typeface="Calibri"/>
              <a:sym typeface="Calibri"/>
            </a:endParaRPr>
          </a:p>
        </p:txBody>
      </p:sp>
      <p:sp>
        <p:nvSpPr>
          <p:cNvPr id="83" name="Google Shape;83;p6"/>
          <p:cNvSpPr/>
          <p:nvPr/>
        </p:nvSpPr>
        <p:spPr>
          <a:xfrm>
            <a:off x="548640" y="77724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3200"/>
              <a:buFont typeface="Georgia"/>
              <a:buNone/>
            </a:pPr>
            <a:r>
              <a:rPr b="1" i="0" lang="en-US" sz="3200" u="none" cap="none" strike="noStrike">
                <a:solidFill>
                  <a:srgbClr val="1E293B"/>
                </a:solidFill>
                <a:latin typeface="Georgia"/>
                <a:ea typeface="Georgia"/>
                <a:cs typeface="Georgia"/>
                <a:sym typeface="Georgia"/>
              </a:rPr>
              <a:t>Goals and expected outcomes</a:t>
            </a:r>
            <a:endParaRPr b="0" i="0" sz="3200" u="none" cap="none" strike="noStrike">
              <a:solidFill>
                <a:schemeClr val="dk1"/>
              </a:solidFill>
              <a:latin typeface="Calibri"/>
              <a:ea typeface="Calibri"/>
              <a:cs typeface="Calibri"/>
              <a:sym typeface="Calibri"/>
            </a:endParaRPr>
          </a:p>
        </p:txBody>
      </p:sp>
      <p:sp>
        <p:nvSpPr>
          <p:cNvPr id="84" name="Google Shape;84;p6"/>
          <p:cNvSpPr/>
          <p:nvPr/>
        </p:nvSpPr>
        <p:spPr>
          <a:xfrm>
            <a:off x="6583665" y="137172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100"/>
              <a:buFont typeface="Calibri"/>
              <a:buNone/>
            </a:pPr>
            <a:r>
              <a:rPr b="1" i="0" lang="en-US" u="none" cap="none" strike="noStrike">
                <a:solidFill>
                  <a:srgbClr val="B45309"/>
                </a:solidFill>
                <a:latin typeface="Calibri"/>
                <a:ea typeface="Calibri"/>
                <a:cs typeface="Calibri"/>
                <a:sym typeface="Calibri"/>
              </a:rPr>
              <a:t>THE GOAL</a:t>
            </a:r>
            <a:endParaRPr b="0" i="0" u="none" cap="none" strike="noStrike">
              <a:solidFill>
                <a:schemeClr val="dk1"/>
              </a:solidFill>
              <a:latin typeface="Calibri"/>
              <a:ea typeface="Calibri"/>
              <a:cs typeface="Calibri"/>
              <a:sym typeface="Calibri"/>
            </a:endParaRPr>
          </a:p>
        </p:txBody>
      </p:sp>
      <p:sp>
        <p:nvSpPr>
          <p:cNvPr id="85" name="Google Shape;85;p6"/>
          <p:cNvSpPr/>
          <p:nvPr/>
        </p:nvSpPr>
        <p:spPr>
          <a:xfrm>
            <a:off x="657490" y="196607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100"/>
              <a:buFont typeface="Calibri"/>
              <a:buNone/>
            </a:pPr>
            <a:r>
              <a:rPr b="1" i="0" lang="en-US" u="none" cap="none" strike="noStrike">
                <a:solidFill>
                  <a:srgbClr val="B45309"/>
                </a:solidFill>
                <a:latin typeface="Calibri"/>
                <a:ea typeface="Calibri"/>
                <a:cs typeface="Calibri"/>
                <a:sym typeface="Calibri"/>
              </a:rPr>
              <a:t>EXPECTED RESULTS</a:t>
            </a:r>
            <a:endParaRPr b="0" i="0" u="none" cap="none" strike="noStrike">
              <a:solidFill>
                <a:schemeClr val="dk1"/>
              </a:solidFill>
              <a:latin typeface="Calibri"/>
              <a:ea typeface="Calibri"/>
              <a:cs typeface="Calibri"/>
              <a:sym typeface="Calibri"/>
            </a:endParaRPr>
          </a:p>
        </p:txBody>
      </p:sp>
      <p:sp>
        <p:nvSpPr>
          <p:cNvPr id="86" name="Google Shape;86;p6"/>
          <p:cNvSpPr/>
          <p:nvPr/>
        </p:nvSpPr>
        <p:spPr>
          <a:xfrm>
            <a:off x="548650" y="2514598"/>
            <a:ext cx="5486400" cy="13770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E293B"/>
              </a:buClr>
              <a:buSzPts val="1300"/>
              <a:buFont typeface="Calibri"/>
              <a:buChar char="•"/>
            </a:pPr>
            <a:r>
              <a:rPr b="0" i="0" lang="en-US" sz="1300" u="none" cap="none" strike="noStrike">
                <a:solidFill>
                  <a:srgbClr val="1E293B"/>
                </a:solidFill>
                <a:latin typeface="Calibri"/>
                <a:ea typeface="Calibri"/>
                <a:cs typeface="Calibri"/>
                <a:sym typeface="Calibri"/>
              </a:rPr>
              <a:t>Macro F1 above majority-class baseline</a:t>
            </a:r>
            <a:endParaRPr b="0" i="0" sz="13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E293B"/>
              </a:buClr>
              <a:buSzPts val="1300"/>
              <a:buFont typeface="Calibri"/>
              <a:buChar char="•"/>
            </a:pPr>
            <a:r>
              <a:rPr b="0" i="0" lang="en-US" sz="1300" u="none" cap="none" strike="noStrike">
                <a:solidFill>
                  <a:srgbClr val="1E293B"/>
                </a:solidFill>
                <a:latin typeface="Calibri"/>
                <a:ea typeface="Calibri"/>
                <a:cs typeface="Calibri"/>
                <a:sym typeface="Calibri"/>
              </a:rPr>
              <a:t>Useful precision on rare classes (e.g. season-ending)</a:t>
            </a:r>
            <a:endParaRPr b="0" i="0" sz="13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E293B"/>
              </a:buClr>
              <a:buSzPts val="1300"/>
              <a:buFont typeface="Calibri"/>
              <a:buChar char="•"/>
            </a:pPr>
            <a:r>
              <a:rPr b="0" i="0" lang="en-US" sz="1300" u="none" cap="none" strike="noStrike">
                <a:solidFill>
                  <a:srgbClr val="1E293B"/>
                </a:solidFill>
                <a:latin typeface="Calibri"/>
                <a:ea typeface="Calibri"/>
                <a:cs typeface="Calibri"/>
                <a:sym typeface="Calibri"/>
              </a:rPr>
              <a:t>Demonstrated transfer from biomedical text to sports medicine vocabulary</a:t>
            </a:r>
            <a:endParaRPr b="0" i="0" sz="1300" u="none" cap="none" strike="noStrike">
              <a:solidFill>
                <a:schemeClr val="dk1"/>
              </a:solidFill>
              <a:latin typeface="Calibri"/>
              <a:ea typeface="Calibri"/>
              <a:cs typeface="Calibri"/>
              <a:sym typeface="Calibri"/>
            </a:endParaRPr>
          </a:p>
        </p:txBody>
      </p:sp>
      <p:sp>
        <p:nvSpPr>
          <p:cNvPr id="87" name="Google Shape;87;p6"/>
          <p:cNvSpPr/>
          <p:nvPr/>
        </p:nvSpPr>
        <p:spPr>
          <a:xfrm>
            <a:off x="6583680" y="1691640"/>
            <a:ext cx="5029200" cy="452628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6"/>
          <p:cNvSpPr/>
          <p:nvPr/>
        </p:nvSpPr>
        <p:spPr>
          <a:xfrm>
            <a:off x="6858000" y="1920240"/>
            <a:ext cx="4480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1" i="0" lang="en-US" sz="1000" u="none" cap="none" strike="noStrike">
                <a:solidFill>
                  <a:srgbClr val="64748B"/>
                </a:solidFill>
                <a:latin typeface="Calibri"/>
                <a:ea typeface="Calibri"/>
                <a:cs typeface="Calibri"/>
                <a:sym typeface="Calibri"/>
              </a:rPr>
              <a:t>SEVERITY SCALE (target labels)</a:t>
            </a:r>
            <a:endParaRPr b="0" i="0" sz="1000" u="none" cap="none" strike="noStrike">
              <a:solidFill>
                <a:schemeClr val="dk1"/>
              </a:solidFill>
              <a:latin typeface="Calibri"/>
              <a:ea typeface="Calibri"/>
              <a:cs typeface="Calibri"/>
              <a:sym typeface="Calibri"/>
            </a:endParaRPr>
          </a:p>
        </p:txBody>
      </p:sp>
      <p:sp>
        <p:nvSpPr>
          <p:cNvPr id="89" name="Google Shape;89;p6"/>
          <p:cNvSpPr/>
          <p:nvPr/>
        </p:nvSpPr>
        <p:spPr>
          <a:xfrm>
            <a:off x="6858000" y="2468880"/>
            <a:ext cx="502920" cy="502920"/>
          </a:xfrm>
          <a:prstGeom prst="ellipse">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6"/>
          <p:cNvSpPr/>
          <p:nvPr/>
        </p:nvSpPr>
        <p:spPr>
          <a:xfrm>
            <a:off x="6858000" y="246888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1</a:t>
            </a:r>
            <a:endParaRPr b="0" i="0" sz="1800" u="none" cap="none" strike="noStrike">
              <a:solidFill>
                <a:schemeClr val="dk1"/>
              </a:solidFill>
              <a:latin typeface="Calibri"/>
              <a:ea typeface="Calibri"/>
              <a:cs typeface="Calibri"/>
              <a:sym typeface="Calibri"/>
            </a:endParaRPr>
          </a:p>
        </p:txBody>
      </p:sp>
      <p:sp>
        <p:nvSpPr>
          <p:cNvPr id="91" name="Google Shape;91;p6"/>
          <p:cNvSpPr/>
          <p:nvPr/>
        </p:nvSpPr>
        <p:spPr>
          <a:xfrm>
            <a:off x="7543800" y="2514600"/>
            <a:ext cx="22860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500"/>
              <a:buFont typeface="Calibri"/>
              <a:buNone/>
            </a:pPr>
            <a:r>
              <a:rPr b="1" i="0" lang="en-US" sz="1500" u="none" cap="none" strike="noStrike">
                <a:solidFill>
                  <a:srgbClr val="1E293B"/>
                </a:solidFill>
                <a:latin typeface="Calibri"/>
                <a:ea typeface="Calibri"/>
                <a:cs typeface="Calibri"/>
                <a:sym typeface="Calibri"/>
              </a:rPr>
              <a:t>Minor</a:t>
            </a:r>
            <a:endParaRPr b="0" i="0" sz="1500" u="none" cap="none" strike="noStrike">
              <a:solidFill>
                <a:schemeClr val="dk1"/>
              </a:solidFill>
              <a:latin typeface="Calibri"/>
              <a:ea typeface="Calibri"/>
              <a:cs typeface="Calibri"/>
              <a:sym typeface="Calibri"/>
            </a:endParaRPr>
          </a:p>
        </p:txBody>
      </p:sp>
      <p:sp>
        <p:nvSpPr>
          <p:cNvPr id="92" name="Google Shape;92;p6"/>
          <p:cNvSpPr/>
          <p:nvPr/>
        </p:nvSpPr>
        <p:spPr>
          <a:xfrm>
            <a:off x="9692640" y="2514600"/>
            <a:ext cx="18288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1300"/>
              <a:buFont typeface="Calibri"/>
              <a:buNone/>
            </a:pPr>
            <a:r>
              <a:rPr b="0" i="1" lang="en-US" sz="1300" u="none" cap="none" strike="noStrike">
                <a:solidFill>
                  <a:srgbClr val="64748B"/>
                </a:solidFill>
                <a:latin typeface="Calibri"/>
                <a:ea typeface="Calibri"/>
                <a:cs typeface="Calibri"/>
                <a:sym typeface="Calibri"/>
              </a:rPr>
              <a:t>1 – 7 days</a:t>
            </a:r>
            <a:endParaRPr b="0" i="0" sz="1300" u="none" cap="none" strike="noStrike">
              <a:solidFill>
                <a:schemeClr val="dk1"/>
              </a:solidFill>
              <a:latin typeface="Calibri"/>
              <a:ea typeface="Calibri"/>
              <a:cs typeface="Calibri"/>
              <a:sym typeface="Calibri"/>
            </a:endParaRPr>
          </a:p>
        </p:txBody>
      </p:sp>
      <p:sp>
        <p:nvSpPr>
          <p:cNvPr id="93" name="Google Shape;93;p6"/>
          <p:cNvSpPr/>
          <p:nvPr/>
        </p:nvSpPr>
        <p:spPr>
          <a:xfrm>
            <a:off x="6858000" y="3182112"/>
            <a:ext cx="502920" cy="502920"/>
          </a:xfrm>
          <a:prstGeom prst="ellipse">
            <a:avLst/>
          </a:prstGeom>
          <a:solidFill>
            <a:srgbClr val="84CC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6"/>
          <p:cNvSpPr/>
          <p:nvPr/>
        </p:nvSpPr>
        <p:spPr>
          <a:xfrm>
            <a:off x="6858000" y="3182112"/>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2</a:t>
            </a:r>
            <a:endParaRPr b="0" i="0" sz="1800" u="none" cap="none" strike="noStrike">
              <a:solidFill>
                <a:schemeClr val="dk1"/>
              </a:solidFill>
              <a:latin typeface="Calibri"/>
              <a:ea typeface="Calibri"/>
              <a:cs typeface="Calibri"/>
              <a:sym typeface="Calibri"/>
            </a:endParaRPr>
          </a:p>
        </p:txBody>
      </p:sp>
      <p:sp>
        <p:nvSpPr>
          <p:cNvPr id="95" name="Google Shape;95;p6"/>
          <p:cNvSpPr/>
          <p:nvPr/>
        </p:nvSpPr>
        <p:spPr>
          <a:xfrm>
            <a:off x="7543800" y="3227832"/>
            <a:ext cx="22860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500"/>
              <a:buFont typeface="Calibri"/>
              <a:buNone/>
            </a:pPr>
            <a:r>
              <a:rPr b="1" i="0" lang="en-US" sz="1500" u="none" cap="none" strike="noStrike">
                <a:solidFill>
                  <a:srgbClr val="1E293B"/>
                </a:solidFill>
                <a:latin typeface="Calibri"/>
                <a:ea typeface="Calibri"/>
                <a:cs typeface="Calibri"/>
                <a:sym typeface="Calibri"/>
              </a:rPr>
              <a:t>Mild</a:t>
            </a:r>
            <a:endParaRPr b="0" i="0" sz="1500" u="none" cap="none" strike="noStrike">
              <a:solidFill>
                <a:schemeClr val="dk1"/>
              </a:solidFill>
              <a:latin typeface="Calibri"/>
              <a:ea typeface="Calibri"/>
              <a:cs typeface="Calibri"/>
              <a:sym typeface="Calibri"/>
            </a:endParaRPr>
          </a:p>
        </p:txBody>
      </p:sp>
      <p:sp>
        <p:nvSpPr>
          <p:cNvPr id="96" name="Google Shape;96;p6"/>
          <p:cNvSpPr/>
          <p:nvPr/>
        </p:nvSpPr>
        <p:spPr>
          <a:xfrm>
            <a:off x="9692640" y="3227832"/>
            <a:ext cx="18288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1300"/>
              <a:buFont typeface="Calibri"/>
              <a:buNone/>
            </a:pPr>
            <a:r>
              <a:rPr b="0" i="1" lang="en-US" sz="1300" u="none" cap="none" strike="noStrike">
                <a:solidFill>
                  <a:srgbClr val="64748B"/>
                </a:solidFill>
                <a:latin typeface="Calibri"/>
                <a:ea typeface="Calibri"/>
                <a:cs typeface="Calibri"/>
                <a:sym typeface="Calibri"/>
              </a:rPr>
              <a:t>1 – 3 weeks</a:t>
            </a:r>
            <a:endParaRPr b="0" i="0" sz="1300" u="none" cap="none" strike="noStrike">
              <a:solidFill>
                <a:schemeClr val="dk1"/>
              </a:solidFill>
              <a:latin typeface="Calibri"/>
              <a:ea typeface="Calibri"/>
              <a:cs typeface="Calibri"/>
              <a:sym typeface="Calibri"/>
            </a:endParaRPr>
          </a:p>
        </p:txBody>
      </p:sp>
      <p:sp>
        <p:nvSpPr>
          <p:cNvPr id="97" name="Google Shape;97;p6"/>
          <p:cNvSpPr/>
          <p:nvPr/>
        </p:nvSpPr>
        <p:spPr>
          <a:xfrm>
            <a:off x="6858000" y="3895344"/>
            <a:ext cx="502920" cy="502920"/>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6"/>
          <p:cNvSpPr/>
          <p:nvPr/>
        </p:nvSpPr>
        <p:spPr>
          <a:xfrm>
            <a:off x="6858000" y="3895344"/>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3</a:t>
            </a:r>
            <a:endParaRPr b="0" i="0" sz="1800" u="none" cap="none" strike="noStrike">
              <a:solidFill>
                <a:schemeClr val="dk1"/>
              </a:solidFill>
              <a:latin typeface="Calibri"/>
              <a:ea typeface="Calibri"/>
              <a:cs typeface="Calibri"/>
              <a:sym typeface="Calibri"/>
            </a:endParaRPr>
          </a:p>
        </p:txBody>
      </p:sp>
      <p:sp>
        <p:nvSpPr>
          <p:cNvPr id="99" name="Google Shape;99;p6"/>
          <p:cNvSpPr/>
          <p:nvPr/>
        </p:nvSpPr>
        <p:spPr>
          <a:xfrm>
            <a:off x="7543800" y="3941064"/>
            <a:ext cx="22860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500"/>
              <a:buFont typeface="Calibri"/>
              <a:buNone/>
            </a:pPr>
            <a:r>
              <a:rPr b="1" i="0" lang="en-US" sz="1500" u="none" cap="none" strike="noStrike">
                <a:solidFill>
                  <a:srgbClr val="1E293B"/>
                </a:solidFill>
                <a:latin typeface="Calibri"/>
                <a:ea typeface="Calibri"/>
                <a:cs typeface="Calibri"/>
                <a:sym typeface="Calibri"/>
              </a:rPr>
              <a:t>Moderate</a:t>
            </a:r>
            <a:endParaRPr b="0" i="0" sz="1500" u="none" cap="none" strike="noStrike">
              <a:solidFill>
                <a:schemeClr val="dk1"/>
              </a:solidFill>
              <a:latin typeface="Calibri"/>
              <a:ea typeface="Calibri"/>
              <a:cs typeface="Calibri"/>
              <a:sym typeface="Calibri"/>
            </a:endParaRPr>
          </a:p>
        </p:txBody>
      </p:sp>
      <p:sp>
        <p:nvSpPr>
          <p:cNvPr id="100" name="Google Shape;100;p6"/>
          <p:cNvSpPr/>
          <p:nvPr/>
        </p:nvSpPr>
        <p:spPr>
          <a:xfrm>
            <a:off x="9692640" y="3941064"/>
            <a:ext cx="18288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1300"/>
              <a:buFont typeface="Calibri"/>
              <a:buNone/>
            </a:pPr>
            <a:r>
              <a:rPr b="0" i="1" lang="en-US" sz="1300" u="none" cap="none" strike="noStrike">
                <a:solidFill>
                  <a:srgbClr val="64748B"/>
                </a:solidFill>
                <a:latin typeface="Calibri"/>
                <a:ea typeface="Calibri"/>
                <a:cs typeface="Calibri"/>
                <a:sym typeface="Calibri"/>
              </a:rPr>
              <a:t>3 – 8 weeks</a:t>
            </a:r>
            <a:endParaRPr b="0" i="0" sz="1300" u="none" cap="none" strike="noStrike">
              <a:solidFill>
                <a:schemeClr val="dk1"/>
              </a:solidFill>
              <a:latin typeface="Calibri"/>
              <a:ea typeface="Calibri"/>
              <a:cs typeface="Calibri"/>
              <a:sym typeface="Calibri"/>
            </a:endParaRPr>
          </a:p>
        </p:txBody>
      </p:sp>
      <p:sp>
        <p:nvSpPr>
          <p:cNvPr id="101" name="Google Shape;101;p6"/>
          <p:cNvSpPr/>
          <p:nvPr/>
        </p:nvSpPr>
        <p:spPr>
          <a:xfrm>
            <a:off x="6858000" y="4608576"/>
            <a:ext cx="502920" cy="502920"/>
          </a:xfrm>
          <a:prstGeom prst="ellipse">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a:off x="6858000" y="4608576"/>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4</a:t>
            </a:r>
            <a:endParaRPr b="0" i="0" sz="1800" u="none" cap="none" strike="noStrike">
              <a:solidFill>
                <a:schemeClr val="dk1"/>
              </a:solidFill>
              <a:latin typeface="Calibri"/>
              <a:ea typeface="Calibri"/>
              <a:cs typeface="Calibri"/>
              <a:sym typeface="Calibri"/>
            </a:endParaRPr>
          </a:p>
        </p:txBody>
      </p:sp>
      <p:sp>
        <p:nvSpPr>
          <p:cNvPr id="103" name="Google Shape;103;p6"/>
          <p:cNvSpPr/>
          <p:nvPr/>
        </p:nvSpPr>
        <p:spPr>
          <a:xfrm>
            <a:off x="7543800" y="4654296"/>
            <a:ext cx="22860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500"/>
              <a:buFont typeface="Calibri"/>
              <a:buNone/>
            </a:pPr>
            <a:r>
              <a:rPr b="1" i="0" lang="en-US" sz="1500" u="none" cap="none" strike="noStrike">
                <a:solidFill>
                  <a:srgbClr val="1E293B"/>
                </a:solidFill>
                <a:latin typeface="Calibri"/>
                <a:ea typeface="Calibri"/>
                <a:cs typeface="Calibri"/>
                <a:sym typeface="Calibri"/>
              </a:rPr>
              <a:t>Severe</a:t>
            </a:r>
            <a:endParaRPr b="0" i="0" sz="1500" u="none" cap="none" strike="noStrike">
              <a:solidFill>
                <a:schemeClr val="dk1"/>
              </a:solidFill>
              <a:latin typeface="Calibri"/>
              <a:ea typeface="Calibri"/>
              <a:cs typeface="Calibri"/>
              <a:sym typeface="Calibri"/>
            </a:endParaRPr>
          </a:p>
        </p:txBody>
      </p:sp>
      <p:sp>
        <p:nvSpPr>
          <p:cNvPr id="104" name="Google Shape;104;p6"/>
          <p:cNvSpPr/>
          <p:nvPr/>
        </p:nvSpPr>
        <p:spPr>
          <a:xfrm>
            <a:off x="9692640" y="4654296"/>
            <a:ext cx="18288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1300"/>
              <a:buFont typeface="Calibri"/>
              <a:buNone/>
            </a:pPr>
            <a:r>
              <a:rPr b="0" i="1" lang="en-US" sz="1300" u="none" cap="none" strike="noStrike">
                <a:solidFill>
                  <a:srgbClr val="64748B"/>
                </a:solidFill>
                <a:latin typeface="Calibri"/>
                <a:ea typeface="Calibri"/>
                <a:cs typeface="Calibri"/>
                <a:sym typeface="Calibri"/>
              </a:rPr>
              <a:t>2 – 6 months</a:t>
            </a:r>
            <a:endParaRPr b="0" i="0" sz="1300" u="none" cap="none" strike="noStrike">
              <a:solidFill>
                <a:schemeClr val="dk1"/>
              </a:solidFill>
              <a:latin typeface="Calibri"/>
              <a:ea typeface="Calibri"/>
              <a:cs typeface="Calibri"/>
              <a:sym typeface="Calibri"/>
            </a:endParaRPr>
          </a:p>
        </p:txBody>
      </p:sp>
      <p:sp>
        <p:nvSpPr>
          <p:cNvPr id="105" name="Google Shape;105;p6"/>
          <p:cNvSpPr/>
          <p:nvPr/>
        </p:nvSpPr>
        <p:spPr>
          <a:xfrm>
            <a:off x="6858000" y="5321808"/>
            <a:ext cx="502920" cy="502920"/>
          </a:xfrm>
          <a:prstGeom prst="ellipse">
            <a:avLst/>
          </a:prstGeom>
          <a:solidFill>
            <a:srgbClr val="991B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6"/>
          <p:cNvSpPr/>
          <p:nvPr/>
        </p:nvSpPr>
        <p:spPr>
          <a:xfrm>
            <a:off x="6858000" y="5321808"/>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5</a:t>
            </a:r>
            <a:endParaRPr b="0" i="0" sz="1800" u="none" cap="none" strike="noStrike">
              <a:solidFill>
                <a:schemeClr val="dk1"/>
              </a:solidFill>
              <a:latin typeface="Calibri"/>
              <a:ea typeface="Calibri"/>
              <a:cs typeface="Calibri"/>
              <a:sym typeface="Calibri"/>
            </a:endParaRPr>
          </a:p>
        </p:txBody>
      </p:sp>
      <p:sp>
        <p:nvSpPr>
          <p:cNvPr id="107" name="Google Shape;107;p6"/>
          <p:cNvSpPr/>
          <p:nvPr/>
        </p:nvSpPr>
        <p:spPr>
          <a:xfrm>
            <a:off x="7543800" y="5367528"/>
            <a:ext cx="22860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500"/>
              <a:buFont typeface="Calibri"/>
              <a:buNone/>
            </a:pPr>
            <a:r>
              <a:rPr b="1" i="0" lang="en-US" sz="1500" u="none" cap="none" strike="noStrike">
                <a:solidFill>
                  <a:srgbClr val="1E293B"/>
                </a:solidFill>
                <a:latin typeface="Calibri"/>
                <a:ea typeface="Calibri"/>
                <a:cs typeface="Calibri"/>
                <a:sym typeface="Calibri"/>
              </a:rPr>
              <a:t>Season-Ending</a:t>
            </a:r>
            <a:endParaRPr b="0" i="0" sz="1500" u="none" cap="none" strike="noStrike">
              <a:solidFill>
                <a:schemeClr val="dk1"/>
              </a:solidFill>
              <a:latin typeface="Calibri"/>
              <a:ea typeface="Calibri"/>
              <a:cs typeface="Calibri"/>
              <a:sym typeface="Calibri"/>
            </a:endParaRPr>
          </a:p>
        </p:txBody>
      </p:sp>
      <p:sp>
        <p:nvSpPr>
          <p:cNvPr id="108" name="Google Shape;108;p6"/>
          <p:cNvSpPr/>
          <p:nvPr/>
        </p:nvSpPr>
        <p:spPr>
          <a:xfrm>
            <a:off x="9692640" y="5367528"/>
            <a:ext cx="18288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1300"/>
              <a:buFont typeface="Calibri"/>
              <a:buNone/>
            </a:pPr>
            <a:r>
              <a:rPr b="0" i="1" lang="en-US" sz="1300" u="none" cap="none" strike="noStrike">
                <a:solidFill>
                  <a:srgbClr val="64748B"/>
                </a:solidFill>
                <a:latin typeface="Calibri"/>
                <a:ea typeface="Calibri"/>
                <a:cs typeface="Calibri"/>
                <a:sym typeface="Calibri"/>
              </a:rPr>
              <a:t>6+ months</a:t>
            </a:r>
            <a:endParaRPr b="0" i="0" sz="1300" u="none" cap="none" strike="noStrike">
              <a:solidFill>
                <a:schemeClr val="dk1"/>
              </a:solidFill>
              <a:latin typeface="Calibri"/>
              <a:ea typeface="Calibri"/>
              <a:cs typeface="Calibri"/>
              <a:sym typeface="Calibri"/>
            </a:endParaRPr>
          </a:p>
        </p:txBody>
      </p:sp>
      <p:cxnSp>
        <p:nvCxnSpPr>
          <p:cNvPr id="109" name="Google Shape;109;p6"/>
          <p:cNvCxnSpPr/>
          <p:nvPr/>
        </p:nvCxnSpPr>
        <p:spPr>
          <a:xfrm>
            <a:off x="548640" y="6446520"/>
            <a:ext cx="11094415" cy="0"/>
          </a:xfrm>
          <a:prstGeom prst="straightConnector1">
            <a:avLst/>
          </a:prstGeom>
          <a:noFill/>
          <a:ln cap="flat" cmpd="sng" w="9525">
            <a:solidFill>
              <a:srgbClr val="E2E8F0"/>
            </a:solidFill>
            <a:prstDash val="solid"/>
            <a:round/>
            <a:headEnd len="sm" w="sm" type="none"/>
            <a:tailEnd len="sm" w="sm" type="none"/>
          </a:ln>
        </p:spPr>
      </p:cxnSp>
      <p:sp>
        <p:nvSpPr>
          <p:cNvPr id="110" name="Google Shape;110;p6"/>
          <p:cNvSpPr/>
          <p:nvPr/>
        </p:nvSpPr>
        <p:spPr>
          <a:xfrm>
            <a:off x="54864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BioBERT · Soccer Injury Severity Classification</a:t>
            </a:r>
            <a:endParaRPr b="0" i="0" sz="900" u="none" cap="none" strike="noStrike">
              <a:solidFill>
                <a:schemeClr val="dk1"/>
              </a:solidFill>
              <a:latin typeface="Calibri"/>
              <a:ea typeface="Calibri"/>
              <a:cs typeface="Calibri"/>
              <a:sym typeface="Calibri"/>
            </a:endParaRPr>
          </a:p>
        </p:txBody>
      </p:sp>
      <p:sp>
        <p:nvSpPr>
          <p:cNvPr id="111" name="Google Shape;111;p6"/>
          <p:cNvSpPr/>
          <p:nvPr/>
        </p:nvSpPr>
        <p:spPr>
          <a:xfrm>
            <a:off x="10728655" y="649224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4 / 16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6" name="Shape 116"/>
        <p:cNvGrpSpPr/>
        <p:nvPr/>
      </p:nvGrpSpPr>
      <p:grpSpPr>
        <a:xfrm>
          <a:off x="0" y="0"/>
          <a:ext cx="0" cy="0"/>
          <a:chOff x="0" y="0"/>
          <a:chExt cx="0" cy="0"/>
        </a:xfrm>
      </p:grpSpPr>
      <p:sp>
        <p:nvSpPr>
          <p:cNvPr id="117" name="Google Shape;117;p7"/>
          <p:cNvSpPr/>
          <p:nvPr/>
        </p:nvSpPr>
        <p:spPr>
          <a:xfrm>
            <a:off x="548640" y="45720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100"/>
              <a:buFont typeface="Calibri"/>
              <a:buNone/>
            </a:pPr>
            <a:r>
              <a:rPr b="1" i="0" lang="en-US" sz="1100" u="none" cap="none" strike="noStrike">
                <a:solidFill>
                  <a:srgbClr val="B45309"/>
                </a:solidFill>
                <a:latin typeface="Calibri"/>
                <a:ea typeface="Calibri"/>
                <a:cs typeface="Calibri"/>
                <a:sym typeface="Calibri"/>
              </a:rPr>
              <a:t>04  ·  BACKGROUND</a:t>
            </a:r>
            <a:endParaRPr b="0" i="0" sz="1100" u="none" cap="none" strike="noStrike">
              <a:solidFill>
                <a:schemeClr val="dk1"/>
              </a:solidFill>
              <a:latin typeface="Calibri"/>
              <a:ea typeface="Calibri"/>
              <a:cs typeface="Calibri"/>
              <a:sym typeface="Calibri"/>
            </a:endParaRPr>
          </a:p>
        </p:txBody>
      </p:sp>
      <p:sp>
        <p:nvSpPr>
          <p:cNvPr id="118" name="Google Shape;118;p7"/>
          <p:cNvSpPr/>
          <p:nvPr/>
        </p:nvSpPr>
        <p:spPr>
          <a:xfrm>
            <a:off x="548640" y="77724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3200"/>
              <a:buFont typeface="Georgia"/>
              <a:buNone/>
            </a:pPr>
            <a:r>
              <a:rPr b="1" i="0" lang="en-US" sz="3200" u="none" cap="none" strike="noStrike">
                <a:solidFill>
                  <a:srgbClr val="1E293B"/>
                </a:solidFill>
                <a:latin typeface="Georgia"/>
                <a:ea typeface="Georgia"/>
                <a:cs typeface="Georgia"/>
                <a:sym typeface="Georgia"/>
              </a:rPr>
              <a:t>What is BERT?</a:t>
            </a:r>
            <a:endParaRPr b="0" i="0" sz="3200" u="none" cap="none" strike="noStrike">
              <a:solidFill>
                <a:schemeClr val="dk1"/>
              </a:solidFill>
              <a:latin typeface="Calibri"/>
              <a:ea typeface="Calibri"/>
              <a:cs typeface="Calibri"/>
              <a:sym typeface="Calibri"/>
            </a:endParaRPr>
          </a:p>
        </p:txBody>
      </p:sp>
      <p:sp>
        <p:nvSpPr>
          <p:cNvPr id="119" name="Google Shape;119;p7"/>
          <p:cNvSpPr/>
          <p:nvPr/>
        </p:nvSpPr>
        <p:spPr>
          <a:xfrm>
            <a:off x="548640" y="1691640"/>
            <a:ext cx="5943600" cy="1280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4C3A"/>
              </a:buClr>
              <a:buSzPts val="1400"/>
              <a:buFont typeface="Calibri"/>
              <a:buNone/>
            </a:pPr>
            <a:r>
              <a:rPr b="1" i="0" lang="en-US" sz="1500" u="none" cap="none" strike="noStrike">
                <a:solidFill>
                  <a:srgbClr val="0F4C3A"/>
                </a:solidFill>
                <a:latin typeface="Calibri"/>
                <a:ea typeface="Calibri"/>
                <a:cs typeface="Calibri"/>
                <a:sym typeface="Calibri"/>
              </a:rPr>
              <a:t>BER</a:t>
            </a:r>
            <a:r>
              <a:rPr b="1" i="0" lang="en-US" sz="1500" u="none" cap="none" strike="noStrike">
                <a:solidFill>
                  <a:srgbClr val="0F4C3A"/>
                </a:solidFill>
                <a:latin typeface="Calibri"/>
                <a:ea typeface="Calibri"/>
                <a:cs typeface="Calibri"/>
                <a:sym typeface="Calibri"/>
              </a:rPr>
              <a:t>T</a:t>
            </a:r>
            <a:r>
              <a:rPr lang="en-US" sz="1600">
                <a:solidFill>
                  <a:srgbClr val="1E293B"/>
                </a:solidFill>
                <a:latin typeface="Calibri"/>
                <a:ea typeface="Calibri"/>
                <a:cs typeface="Calibri"/>
                <a:sym typeface="Calibri"/>
              </a:rPr>
              <a:t>, </a:t>
            </a:r>
            <a:r>
              <a:rPr b="0" i="1" lang="en-US" sz="1400" u="none" cap="none" strike="noStrike">
                <a:solidFill>
                  <a:srgbClr val="1E293B"/>
                </a:solidFill>
                <a:latin typeface="Calibri"/>
                <a:ea typeface="Calibri"/>
                <a:cs typeface="Calibri"/>
                <a:sym typeface="Calibri"/>
              </a:rPr>
              <a:t>Bidirectional Encoder Representations from Transformers</a:t>
            </a:r>
            <a:r>
              <a:rPr lang="en-US">
                <a:solidFill>
                  <a:srgbClr val="1E293B"/>
                </a:solidFill>
                <a:latin typeface="Calibri"/>
                <a:ea typeface="Calibri"/>
                <a:cs typeface="Calibri"/>
                <a:sym typeface="Calibri"/>
              </a:rPr>
              <a:t>, </a:t>
            </a:r>
            <a:r>
              <a:rPr b="0" i="0" lang="en-US" sz="1400" u="none" cap="none" strike="noStrike">
                <a:solidFill>
                  <a:srgbClr val="1E293B"/>
                </a:solidFill>
                <a:latin typeface="Calibri"/>
                <a:ea typeface="Calibri"/>
                <a:cs typeface="Calibri"/>
                <a:sym typeface="Calibri"/>
              </a:rPr>
              <a:t>was released by Google in 2018 and reshaped natural language processing.</a:t>
            </a:r>
            <a:endParaRPr b="0" i="0" sz="1400" u="none" cap="none" strike="noStrike">
              <a:solidFill>
                <a:schemeClr val="dk1"/>
              </a:solidFill>
              <a:latin typeface="Calibri"/>
              <a:ea typeface="Calibri"/>
              <a:cs typeface="Calibri"/>
              <a:sym typeface="Calibri"/>
            </a:endParaRPr>
          </a:p>
        </p:txBody>
      </p:sp>
      <p:sp>
        <p:nvSpPr>
          <p:cNvPr id="120" name="Google Shape;120;p7"/>
          <p:cNvSpPr/>
          <p:nvPr/>
        </p:nvSpPr>
        <p:spPr>
          <a:xfrm>
            <a:off x="1329725" y="3063250"/>
            <a:ext cx="3358200" cy="2601600"/>
          </a:xfrm>
          <a:prstGeom prst="rect">
            <a:avLst/>
          </a:prstGeom>
          <a:noFill/>
          <a:ln>
            <a:noFill/>
          </a:ln>
        </p:spPr>
        <p:txBody>
          <a:bodyPr anchorCtr="0" anchor="ctr" bIns="0" lIns="0" spcFirstLastPara="1" rIns="0" wrap="square" tIns="0">
            <a:noAutofit/>
          </a:bodyPr>
          <a:lstStyle/>
          <a:p>
            <a:pPr indent="-330200" lvl="0" marL="457200" marR="0" rtl="0" algn="l">
              <a:spcBef>
                <a:spcPts val="0"/>
              </a:spcBef>
              <a:spcAft>
                <a:spcPts val="0"/>
              </a:spcAft>
              <a:buClr>
                <a:srgbClr val="1E293B"/>
              </a:buClr>
              <a:buSzPts val="1600"/>
              <a:buFont typeface="Calibri"/>
              <a:buChar char="❏"/>
            </a:pPr>
            <a:r>
              <a:rPr b="1" i="0" lang="en-US" sz="1600" u="none" cap="none" strike="noStrike">
                <a:solidFill>
                  <a:srgbClr val="1E293B"/>
                </a:solidFill>
                <a:latin typeface="Calibri"/>
                <a:ea typeface="Calibri"/>
                <a:cs typeface="Calibri"/>
                <a:sym typeface="Calibri"/>
              </a:rPr>
              <a:t>Reads text in both directions</a:t>
            </a:r>
            <a:endParaRPr b="0" i="0" sz="1600" u="none" cap="none" strike="noStrike">
              <a:solidFill>
                <a:schemeClr val="dk1"/>
              </a:solidFill>
              <a:latin typeface="Calibri"/>
              <a:ea typeface="Calibri"/>
              <a:cs typeface="Calibri"/>
              <a:sym typeface="Calibri"/>
            </a:endParaRPr>
          </a:p>
          <a:p>
            <a:pPr indent="0" lvl="0" marL="457200" marR="0" rtl="0" algn="l">
              <a:spcBef>
                <a:spcPts val="0"/>
              </a:spcBef>
              <a:spcAft>
                <a:spcPts val="0"/>
              </a:spcAft>
              <a:buNone/>
            </a:pPr>
            <a:r>
              <a:rPr b="0" i="0" lang="en-US" sz="1000" u="none" cap="none" strike="noStrike">
                <a:solidFill>
                  <a:srgbClr val="1E293B"/>
                </a:solidFill>
                <a:latin typeface="Calibri"/>
                <a:ea typeface="Calibri"/>
                <a:cs typeface="Calibri"/>
                <a:sym typeface="Calibri"/>
              </a:rPr>
              <a:t> </a:t>
            </a:r>
            <a:endParaRPr b="0" i="0" sz="1600" u="none" cap="none" strike="noStrike">
              <a:solidFill>
                <a:schemeClr val="dk1"/>
              </a:solidFill>
              <a:latin typeface="Calibri"/>
              <a:ea typeface="Calibri"/>
              <a:cs typeface="Calibri"/>
              <a:sym typeface="Calibri"/>
            </a:endParaRPr>
          </a:p>
          <a:p>
            <a:pPr indent="-330200" lvl="0" marL="457200" marR="0" rtl="0" algn="l">
              <a:spcBef>
                <a:spcPts val="0"/>
              </a:spcBef>
              <a:spcAft>
                <a:spcPts val="0"/>
              </a:spcAft>
              <a:buClr>
                <a:srgbClr val="1E293B"/>
              </a:buClr>
              <a:buSzPts val="1600"/>
              <a:buFont typeface="Calibri"/>
              <a:buChar char="❏"/>
            </a:pPr>
            <a:r>
              <a:rPr b="1" i="0" lang="en-US" sz="1600" u="none" cap="none" strike="noStrike">
                <a:solidFill>
                  <a:srgbClr val="1E293B"/>
                </a:solidFill>
                <a:latin typeface="Calibri"/>
                <a:ea typeface="Calibri"/>
                <a:cs typeface="Calibri"/>
                <a:sym typeface="Calibri"/>
              </a:rPr>
              <a:t>Pretrained on huge corpora</a:t>
            </a:r>
            <a:endParaRPr b="0" i="0" sz="1600" u="none" cap="none" strike="noStrike">
              <a:solidFill>
                <a:schemeClr val="dk1"/>
              </a:solidFill>
              <a:latin typeface="Calibri"/>
              <a:ea typeface="Calibri"/>
              <a:cs typeface="Calibri"/>
              <a:sym typeface="Calibri"/>
            </a:endParaRPr>
          </a:p>
          <a:p>
            <a:pPr indent="0" lvl="0" marL="457200" marR="0" rtl="0" algn="l">
              <a:spcBef>
                <a:spcPts val="0"/>
              </a:spcBef>
              <a:spcAft>
                <a:spcPts val="0"/>
              </a:spcAft>
              <a:buNone/>
            </a:pPr>
            <a:r>
              <a:rPr b="0" i="0" lang="en-US" sz="1000" u="none" cap="none" strike="noStrike">
                <a:solidFill>
                  <a:srgbClr val="1E293B"/>
                </a:solidFill>
                <a:latin typeface="Calibri"/>
                <a:ea typeface="Calibri"/>
                <a:cs typeface="Calibri"/>
                <a:sym typeface="Calibri"/>
              </a:rPr>
              <a:t> </a:t>
            </a:r>
            <a:endParaRPr b="0" i="0" sz="1600" u="none" cap="none" strike="noStrike">
              <a:solidFill>
                <a:schemeClr val="dk1"/>
              </a:solidFill>
              <a:latin typeface="Calibri"/>
              <a:ea typeface="Calibri"/>
              <a:cs typeface="Calibri"/>
              <a:sym typeface="Calibri"/>
            </a:endParaRPr>
          </a:p>
          <a:p>
            <a:pPr indent="-330200" lvl="0" marL="457200" marR="0" rtl="0" algn="l">
              <a:spcBef>
                <a:spcPts val="0"/>
              </a:spcBef>
              <a:spcAft>
                <a:spcPts val="0"/>
              </a:spcAft>
              <a:buClr>
                <a:srgbClr val="1E293B"/>
              </a:buClr>
              <a:buSzPts val="1600"/>
              <a:buFont typeface="Calibri"/>
              <a:buChar char="❏"/>
            </a:pPr>
            <a:r>
              <a:rPr b="1" i="0" lang="en-US" sz="1600" u="none" cap="none" strike="noStrike">
                <a:solidFill>
                  <a:srgbClr val="1E293B"/>
                </a:solidFill>
                <a:latin typeface="Calibri"/>
                <a:ea typeface="Calibri"/>
                <a:cs typeface="Calibri"/>
                <a:sym typeface="Calibri"/>
              </a:rPr>
              <a:t>Fine-tuned for specific tasks</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200"/>
              <a:buFont typeface="Calibri"/>
              <a:buNone/>
            </a:pPr>
            <a:r>
              <a:t/>
            </a:r>
            <a:endParaRPr b="0" i="0" u="none" cap="none" strike="noStrike">
              <a:solidFill>
                <a:schemeClr val="dk1"/>
              </a:solidFill>
              <a:latin typeface="Calibri"/>
              <a:ea typeface="Calibri"/>
              <a:cs typeface="Calibri"/>
              <a:sym typeface="Calibri"/>
            </a:endParaRPr>
          </a:p>
        </p:txBody>
      </p:sp>
      <p:sp>
        <p:nvSpPr>
          <p:cNvPr id="121" name="Google Shape;121;p7"/>
          <p:cNvSpPr/>
          <p:nvPr/>
        </p:nvSpPr>
        <p:spPr>
          <a:xfrm>
            <a:off x="6949440" y="1691640"/>
            <a:ext cx="4663440" cy="452628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7"/>
          <p:cNvSpPr/>
          <p:nvPr/>
        </p:nvSpPr>
        <p:spPr>
          <a:xfrm>
            <a:off x="7223760" y="1874520"/>
            <a:ext cx="4114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1" i="0" lang="en-US" sz="1100" u="none" cap="none" strike="noStrike">
                <a:solidFill>
                  <a:srgbClr val="64748B"/>
                </a:solidFill>
                <a:latin typeface="Calibri"/>
                <a:ea typeface="Calibri"/>
                <a:cs typeface="Calibri"/>
                <a:sym typeface="Calibri"/>
              </a:rPr>
              <a:t>HOW BERT PROCESSES TEXT</a:t>
            </a:r>
            <a:endParaRPr b="0" i="0" sz="1100" u="none" cap="none" strike="noStrike">
              <a:solidFill>
                <a:schemeClr val="dk1"/>
              </a:solidFill>
              <a:latin typeface="Calibri"/>
              <a:ea typeface="Calibri"/>
              <a:cs typeface="Calibri"/>
              <a:sym typeface="Calibri"/>
            </a:endParaRPr>
          </a:p>
        </p:txBody>
      </p:sp>
      <p:sp>
        <p:nvSpPr>
          <p:cNvPr id="123" name="Google Shape;123;p7"/>
          <p:cNvSpPr/>
          <p:nvPr/>
        </p:nvSpPr>
        <p:spPr>
          <a:xfrm>
            <a:off x="7223760" y="2331720"/>
            <a:ext cx="4114800" cy="50292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7"/>
          <p:cNvSpPr/>
          <p:nvPr/>
        </p:nvSpPr>
        <p:spPr>
          <a:xfrm>
            <a:off x="7223760" y="2331720"/>
            <a:ext cx="41148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200"/>
              <a:buFont typeface="Consolas"/>
              <a:buNone/>
            </a:pPr>
            <a:r>
              <a:rPr b="0" i="1" lang="en-US" sz="1200" u="none" cap="none" strike="noStrike">
                <a:solidFill>
                  <a:schemeClr val="lt1"/>
                </a:solidFill>
                <a:highlight>
                  <a:schemeClr val="dk1"/>
                </a:highlight>
                <a:latin typeface="Consolas"/>
                <a:ea typeface="Consolas"/>
                <a:cs typeface="Consolas"/>
                <a:sym typeface="Consolas"/>
              </a:rPr>
              <a:t>"sprained left ankle, week recovery"</a:t>
            </a:r>
            <a:endParaRPr b="0" i="0" sz="1200" u="none" cap="none" strike="noStrike">
              <a:solidFill>
                <a:schemeClr val="lt1"/>
              </a:solidFill>
              <a:highlight>
                <a:schemeClr val="dk1"/>
              </a:highlight>
              <a:latin typeface="Calibri"/>
              <a:ea typeface="Calibri"/>
              <a:cs typeface="Calibri"/>
              <a:sym typeface="Calibri"/>
            </a:endParaRPr>
          </a:p>
        </p:txBody>
      </p:sp>
      <p:sp>
        <p:nvSpPr>
          <p:cNvPr id="125" name="Google Shape;125;p7"/>
          <p:cNvSpPr/>
          <p:nvPr/>
        </p:nvSpPr>
        <p:spPr>
          <a:xfrm>
            <a:off x="7223760" y="2834640"/>
            <a:ext cx="41148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INPUT TEXT</a:t>
            </a:r>
            <a:endParaRPr b="0" i="0" sz="800" u="none" cap="none" strike="noStrike">
              <a:solidFill>
                <a:schemeClr val="dk1"/>
              </a:solidFill>
              <a:latin typeface="Calibri"/>
              <a:ea typeface="Calibri"/>
              <a:cs typeface="Calibri"/>
              <a:sym typeface="Calibri"/>
            </a:endParaRPr>
          </a:p>
        </p:txBody>
      </p:sp>
      <p:sp>
        <p:nvSpPr>
          <p:cNvPr id="126" name="Google Shape;126;p7"/>
          <p:cNvSpPr/>
          <p:nvPr/>
        </p:nvSpPr>
        <p:spPr>
          <a:xfrm>
            <a:off x="6949440" y="3108960"/>
            <a:ext cx="466344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1400"/>
              <a:buFont typeface="Calibri"/>
              <a:buNone/>
            </a:pPr>
            <a:r>
              <a:rPr b="0" i="0" lang="en-US" sz="1400" u="none" cap="none" strike="noStrike">
                <a:solidFill>
                  <a:srgbClr val="F59E0B"/>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27" name="Google Shape;127;p7"/>
          <p:cNvSpPr/>
          <p:nvPr/>
        </p:nvSpPr>
        <p:spPr>
          <a:xfrm>
            <a:off x="7223760" y="3383280"/>
            <a:ext cx="4114800" cy="50292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7"/>
          <p:cNvSpPr/>
          <p:nvPr/>
        </p:nvSpPr>
        <p:spPr>
          <a:xfrm>
            <a:off x="7223760" y="3383280"/>
            <a:ext cx="41148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4C3A"/>
              </a:buClr>
              <a:buSzPts val="1100"/>
              <a:buFont typeface="Consolas"/>
              <a:buNone/>
            </a:pPr>
            <a:r>
              <a:rPr b="0" i="0" lang="en-US" sz="1100" u="none" cap="none" strike="noStrike">
                <a:solidFill>
                  <a:schemeClr val="lt1"/>
                </a:solidFill>
                <a:highlight>
                  <a:schemeClr val="dk1"/>
                </a:highlight>
                <a:latin typeface="Consolas"/>
                <a:ea typeface="Consolas"/>
                <a:cs typeface="Consolas"/>
                <a:sym typeface="Consolas"/>
              </a:rPr>
              <a:t>[CLS] sprained left ankle ... [SEP]</a:t>
            </a:r>
            <a:endParaRPr b="0" i="0" sz="1100" u="none" cap="none" strike="noStrike">
              <a:solidFill>
                <a:schemeClr val="lt1"/>
              </a:solidFill>
              <a:highlight>
                <a:schemeClr val="dk1"/>
              </a:highlight>
              <a:latin typeface="Calibri"/>
              <a:ea typeface="Calibri"/>
              <a:cs typeface="Calibri"/>
              <a:sym typeface="Calibri"/>
            </a:endParaRPr>
          </a:p>
        </p:txBody>
      </p:sp>
      <p:sp>
        <p:nvSpPr>
          <p:cNvPr id="129" name="Google Shape;129;p7"/>
          <p:cNvSpPr/>
          <p:nvPr/>
        </p:nvSpPr>
        <p:spPr>
          <a:xfrm>
            <a:off x="7223760" y="3886200"/>
            <a:ext cx="41148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TOKENIZED</a:t>
            </a:r>
            <a:endParaRPr b="0" i="0" sz="800" u="none" cap="none" strike="noStrike">
              <a:solidFill>
                <a:schemeClr val="dk1"/>
              </a:solidFill>
              <a:latin typeface="Calibri"/>
              <a:ea typeface="Calibri"/>
              <a:cs typeface="Calibri"/>
              <a:sym typeface="Calibri"/>
            </a:endParaRPr>
          </a:p>
        </p:txBody>
      </p:sp>
      <p:sp>
        <p:nvSpPr>
          <p:cNvPr id="130" name="Google Shape;130;p7"/>
          <p:cNvSpPr/>
          <p:nvPr/>
        </p:nvSpPr>
        <p:spPr>
          <a:xfrm>
            <a:off x="6949440" y="4160520"/>
            <a:ext cx="466344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1400"/>
              <a:buFont typeface="Calibri"/>
              <a:buNone/>
            </a:pPr>
            <a:r>
              <a:rPr b="0" i="0" lang="en-US" sz="1400" u="none" cap="none" strike="noStrike">
                <a:solidFill>
                  <a:srgbClr val="F59E0B"/>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31" name="Google Shape;131;p7"/>
          <p:cNvSpPr/>
          <p:nvPr/>
        </p:nvSpPr>
        <p:spPr>
          <a:xfrm>
            <a:off x="7223760" y="4434840"/>
            <a:ext cx="4114800" cy="777240"/>
          </a:xfrm>
          <a:prstGeom prst="rect">
            <a:avLst/>
          </a:prstGeom>
          <a:solidFill>
            <a:srgbClr val="0F4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7"/>
          <p:cNvSpPr/>
          <p:nvPr/>
        </p:nvSpPr>
        <p:spPr>
          <a:xfrm>
            <a:off x="7223760" y="4434840"/>
            <a:ext cx="411480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highlight>
                  <a:schemeClr val="dk1"/>
                </a:highlight>
                <a:latin typeface="Calibri"/>
                <a:ea typeface="Calibri"/>
                <a:cs typeface="Calibri"/>
                <a:sym typeface="Calibri"/>
              </a:rPr>
              <a:t>12 TRANSFORMER LAYERS</a:t>
            </a:r>
            <a:endParaRPr b="0" i="0" sz="1200" u="none" cap="none" strike="noStrike">
              <a:solidFill>
                <a:schemeClr val="dk1"/>
              </a:solidFill>
              <a:highlight>
                <a:schemeClr val="dk1"/>
              </a:highlight>
              <a:latin typeface="Calibri"/>
              <a:ea typeface="Calibri"/>
              <a:cs typeface="Calibri"/>
              <a:sym typeface="Calibri"/>
            </a:endParaRPr>
          </a:p>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highlight>
                  <a:schemeClr val="dk1"/>
                </a:highlight>
                <a:latin typeface="Calibri"/>
                <a:ea typeface="Calibri"/>
                <a:cs typeface="Calibri"/>
                <a:sym typeface="Calibri"/>
              </a:rPr>
              <a:t>(self-attention)</a:t>
            </a:r>
            <a:endParaRPr b="0" i="0" sz="1200" u="none" cap="none" strike="noStrike">
              <a:solidFill>
                <a:schemeClr val="dk1"/>
              </a:solidFill>
              <a:highlight>
                <a:schemeClr val="dk1"/>
              </a:highlight>
              <a:latin typeface="Calibri"/>
              <a:ea typeface="Calibri"/>
              <a:cs typeface="Calibri"/>
              <a:sym typeface="Calibri"/>
            </a:endParaRPr>
          </a:p>
        </p:txBody>
      </p:sp>
      <p:sp>
        <p:nvSpPr>
          <p:cNvPr id="133" name="Google Shape;133;p7"/>
          <p:cNvSpPr/>
          <p:nvPr/>
        </p:nvSpPr>
        <p:spPr>
          <a:xfrm>
            <a:off x="6949440" y="5257800"/>
            <a:ext cx="466344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1400"/>
              <a:buFont typeface="Calibri"/>
              <a:buNone/>
            </a:pPr>
            <a:r>
              <a:rPr b="0" i="0" lang="en-US" sz="1400" u="none" cap="none" strike="noStrike">
                <a:solidFill>
                  <a:srgbClr val="F59E0B"/>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34" name="Google Shape;134;p7"/>
          <p:cNvSpPr/>
          <p:nvPr/>
        </p:nvSpPr>
        <p:spPr>
          <a:xfrm>
            <a:off x="7223760" y="5532120"/>
            <a:ext cx="4114800" cy="502920"/>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7"/>
          <p:cNvSpPr/>
          <p:nvPr/>
        </p:nvSpPr>
        <p:spPr>
          <a:xfrm>
            <a:off x="7223760" y="5532120"/>
            <a:ext cx="41148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highlight>
                  <a:srgbClr val="082E22"/>
                </a:highlight>
                <a:latin typeface="Calibri"/>
                <a:ea typeface="Calibri"/>
                <a:cs typeface="Calibri"/>
                <a:sym typeface="Calibri"/>
              </a:rPr>
              <a:t>Severity = 2  (Mild)</a:t>
            </a:r>
            <a:endParaRPr b="0" i="0" sz="1300" u="none" cap="none" strike="noStrike">
              <a:solidFill>
                <a:schemeClr val="dk1"/>
              </a:solidFill>
              <a:highlight>
                <a:srgbClr val="082E22"/>
              </a:highlight>
              <a:latin typeface="Calibri"/>
              <a:ea typeface="Calibri"/>
              <a:cs typeface="Calibri"/>
              <a:sym typeface="Calibri"/>
            </a:endParaRPr>
          </a:p>
        </p:txBody>
      </p:sp>
      <p:cxnSp>
        <p:nvCxnSpPr>
          <p:cNvPr id="136" name="Google Shape;136;p7"/>
          <p:cNvCxnSpPr/>
          <p:nvPr/>
        </p:nvCxnSpPr>
        <p:spPr>
          <a:xfrm>
            <a:off x="548640" y="6446520"/>
            <a:ext cx="11094415" cy="0"/>
          </a:xfrm>
          <a:prstGeom prst="straightConnector1">
            <a:avLst/>
          </a:prstGeom>
          <a:noFill/>
          <a:ln cap="flat" cmpd="sng" w="9525">
            <a:solidFill>
              <a:srgbClr val="E2E8F0"/>
            </a:solidFill>
            <a:prstDash val="solid"/>
            <a:round/>
            <a:headEnd len="sm" w="sm" type="none"/>
            <a:tailEnd len="sm" w="sm" type="none"/>
          </a:ln>
        </p:spPr>
      </p:cxnSp>
      <p:sp>
        <p:nvSpPr>
          <p:cNvPr id="137" name="Google Shape;137;p7"/>
          <p:cNvSpPr/>
          <p:nvPr/>
        </p:nvSpPr>
        <p:spPr>
          <a:xfrm>
            <a:off x="54864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BioBERT · Soccer Injury Severity Classification</a:t>
            </a:r>
            <a:endParaRPr b="0" i="0" sz="900" u="none" cap="none" strike="noStrike">
              <a:solidFill>
                <a:schemeClr val="dk1"/>
              </a:solidFill>
              <a:latin typeface="Calibri"/>
              <a:ea typeface="Calibri"/>
              <a:cs typeface="Calibri"/>
              <a:sym typeface="Calibri"/>
            </a:endParaRPr>
          </a:p>
        </p:txBody>
      </p:sp>
      <p:sp>
        <p:nvSpPr>
          <p:cNvPr id="138" name="Google Shape;138;p7"/>
          <p:cNvSpPr/>
          <p:nvPr/>
        </p:nvSpPr>
        <p:spPr>
          <a:xfrm>
            <a:off x="10728655" y="649224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5 / 16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3" name="Shape 143"/>
        <p:cNvGrpSpPr/>
        <p:nvPr/>
      </p:nvGrpSpPr>
      <p:grpSpPr>
        <a:xfrm>
          <a:off x="0" y="0"/>
          <a:ext cx="0" cy="0"/>
          <a:chOff x="0" y="0"/>
          <a:chExt cx="0" cy="0"/>
        </a:xfrm>
      </p:grpSpPr>
      <p:sp>
        <p:nvSpPr>
          <p:cNvPr id="144" name="Google Shape;144;p8"/>
          <p:cNvSpPr/>
          <p:nvPr/>
        </p:nvSpPr>
        <p:spPr>
          <a:xfrm>
            <a:off x="548640" y="45720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100"/>
              <a:buFont typeface="Calibri"/>
              <a:buNone/>
            </a:pPr>
            <a:r>
              <a:rPr b="1" i="0" lang="en-US" sz="1100" u="none" cap="none" strike="noStrike">
                <a:solidFill>
                  <a:srgbClr val="B45309"/>
                </a:solidFill>
                <a:latin typeface="Calibri"/>
                <a:ea typeface="Calibri"/>
                <a:cs typeface="Calibri"/>
                <a:sym typeface="Calibri"/>
              </a:rPr>
              <a:t>05  ·  BACKGROUND</a:t>
            </a:r>
            <a:endParaRPr b="0" i="0" sz="1100" u="none" cap="none" strike="noStrike">
              <a:solidFill>
                <a:schemeClr val="dk1"/>
              </a:solidFill>
              <a:latin typeface="Calibri"/>
              <a:ea typeface="Calibri"/>
              <a:cs typeface="Calibri"/>
              <a:sym typeface="Calibri"/>
            </a:endParaRPr>
          </a:p>
        </p:txBody>
      </p:sp>
      <p:sp>
        <p:nvSpPr>
          <p:cNvPr id="145" name="Google Shape;145;p8"/>
          <p:cNvSpPr/>
          <p:nvPr/>
        </p:nvSpPr>
        <p:spPr>
          <a:xfrm>
            <a:off x="548640" y="77724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3200"/>
              <a:buFont typeface="Georgia"/>
              <a:buNone/>
            </a:pPr>
            <a:r>
              <a:rPr b="1" i="0" lang="en-US" sz="3200" u="none" cap="none" strike="noStrike">
                <a:solidFill>
                  <a:srgbClr val="1E293B"/>
                </a:solidFill>
                <a:latin typeface="Georgia"/>
                <a:ea typeface="Georgia"/>
                <a:cs typeface="Georgia"/>
                <a:sym typeface="Georgia"/>
              </a:rPr>
              <a:t>Why? BioBERT</a:t>
            </a:r>
            <a:r>
              <a:rPr b="1" lang="en-US" sz="3200">
                <a:solidFill>
                  <a:srgbClr val="1E293B"/>
                </a:solidFill>
                <a:latin typeface="Georgia"/>
                <a:ea typeface="Georgia"/>
                <a:cs typeface="Georgia"/>
                <a:sym typeface="Georgia"/>
              </a:rPr>
              <a:t>&gt;</a:t>
            </a:r>
            <a:r>
              <a:rPr b="1" i="0" lang="en-US" sz="3200" u="none" cap="none" strike="noStrike">
                <a:solidFill>
                  <a:srgbClr val="1E293B"/>
                </a:solidFill>
                <a:latin typeface="Georgia"/>
                <a:ea typeface="Georgia"/>
                <a:cs typeface="Georgia"/>
                <a:sym typeface="Georgia"/>
              </a:rPr>
              <a:t>BERT</a:t>
            </a:r>
            <a:r>
              <a:rPr b="1" lang="en-US" sz="3200">
                <a:solidFill>
                  <a:srgbClr val="1E293B"/>
                </a:solidFill>
                <a:latin typeface="Georgia"/>
                <a:ea typeface="Georgia"/>
                <a:cs typeface="Georgia"/>
                <a:sym typeface="Georgia"/>
              </a:rPr>
              <a:t>!</a:t>
            </a:r>
            <a:endParaRPr b="0" i="0" sz="3200" u="none" cap="none" strike="noStrike">
              <a:solidFill>
                <a:schemeClr val="dk1"/>
              </a:solidFill>
              <a:latin typeface="Calibri"/>
              <a:ea typeface="Calibri"/>
              <a:cs typeface="Calibri"/>
              <a:sym typeface="Calibri"/>
            </a:endParaRPr>
          </a:p>
        </p:txBody>
      </p:sp>
      <p:sp>
        <p:nvSpPr>
          <p:cNvPr id="146" name="Google Shape;146;p8"/>
          <p:cNvSpPr/>
          <p:nvPr/>
        </p:nvSpPr>
        <p:spPr>
          <a:xfrm>
            <a:off x="239125" y="1911050"/>
            <a:ext cx="5592900" cy="4352700"/>
          </a:xfrm>
          <a:prstGeom prst="rect">
            <a:avLst/>
          </a:prstGeom>
          <a:solidFill>
            <a:srgbClr val="F8FAFC"/>
          </a:solidFill>
          <a:ln cap="flat" cmpd="sng" w="9800">
            <a:solidFill>
              <a:srgbClr val="E2E8F0"/>
            </a:solidFill>
            <a:prstDash val="solid"/>
            <a:round/>
            <a:headEnd len="sm" w="sm" type="none"/>
            <a:tailEnd len="sm" w="sm" type="none"/>
          </a:ln>
        </p:spPr>
        <p:txBody>
          <a:bodyPr anchorCtr="0" anchor="ctr" bIns="93975" lIns="93975" spcFirstLastPara="1" rIns="93975" wrap="square" tIns="93975">
            <a:noAutofit/>
          </a:bodyPr>
          <a:lstStyle/>
          <a:p>
            <a:pPr indent="0" lvl="0" marL="0" rtl="0" algn="l">
              <a:spcBef>
                <a:spcPts val="0"/>
              </a:spcBef>
              <a:spcAft>
                <a:spcPts val="0"/>
              </a:spcAft>
              <a:buNone/>
            </a:pPr>
            <a:r>
              <a:t/>
            </a:r>
            <a:endParaRPr sz="1439"/>
          </a:p>
        </p:txBody>
      </p:sp>
      <p:sp>
        <p:nvSpPr>
          <p:cNvPr id="147" name="Google Shape;147;p8"/>
          <p:cNvSpPr/>
          <p:nvPr/>
        </p:nvSpPr>
        <p:spPr>
          <a:xfrm>
            <a:off x="239125" y="1911050"/>
            <a:ext cx="5592900" cy="652800"/>
          </a:xfrm>
          <a:prstGeom prst="rect">
            <a:avLst/>
          </a:prstGeom>
          <a:solidFill>
            <a:srgbClr val="1E293B"/>
          </a:solidFill>
          <a:ln>
            <a:noFill/>
          </a:ln>
        </p:spPr>
        <p:txBody>
          <a:bodyPr anchorCtr="0" anchor="ctr" bIns="93975" lIns="93975" spcFirstLastPara="1" rIns="93975" wrap="square" tIns="93975">
            <a:noAutofit/>
          </a:bodyPr>
          <a:lstStyle/>
          <a:p>
            <a:pPr indent="0" lvl="0" marL="0" rtl="0" algn="l">
              <a:spcBef>
                <a:spcPts val="0"/>
              </a:spcBef>
              <a:spcAft>
                <a:spcPts val="0"/>
              </a:spcAft>
              <a:buNone/>
            </a:pPr>
            <a:r>
              <a:t/>
            </a:r>
            <a:endParaRPr/>
          </a:p>
        </p:txBody>
      </p:sp>
      <p:sp>
        <p:nvSpPr>
          <p:cNvPr id="148" name="Google Shape;148;p8"/>
          <p:cNvSpPr/>
          <p:nvPr/>
        </p:nvSpPr>
        <p:spPr>
          <a:xfrm>
            <a:off x="521119" y="1911050"/>
            <a:ext cx="5028900" cy="65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50"/>
              <a:buFont typeface="Georgia"/>
              <a:buNone/>
            </a:pPr>
            <a:r>
              <a:rPr b="1" i="0" lang="en-US" sz="1850" u="none" cap="none" strike="noStrike">
                <a:solidFill>
                  <a:srgbClr val="FFFFFF"/>
                </a:solidFill>
                <a:latin typeface="Georgia"/>
                <a:ea typeface="Georgia"/>
                <a:cs typeface="Georgia"/>
                <a:sym typeface="Georgia"/>
              </a:rPr>
              <a:t>Vanilla BERT</a:t>
            </a:r>
            <a:endParaRPr b="0" i="0" sz="1850" u="none" cap="none" strike="noStrike">
              <a:solidFill>
                <a:schemeClr val="dk1"/>
              </a:solidFill>
              <a:latin typeface="Calibri"/>
              <a:ea typeface="Calibri"/>
              <a:cs typeface="Calibri"/>
              <a:sym typeface="Calibri"/>
            </a:endParaRPr>
          </a:p>
        </p:txBody>
      </p:sp>
      <p:sp>
        <p:nvSpPr>
          <p:cNvPr id="149" name="Google Shape;149;p8"/>
          <p:cNvSpPr/>
          <p:nvPr/>
        </p:nvSpPr>
        <p:spPr>
          <a:xfrm>
            <a:off x="521119" y="2781569"/>
            <a:ext cx="5028900" cy="32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28"/>
              <a:buFont typeface="Calibri"/>
              <a:buNone/>
            </a:pPr>
            <a:r>
              <a:rPr b="1" i="0" lang="en-US" sz="1028" u="none" cap="none" strike="noStrike">
                <a:solidFill>
                  <a:srgbClr val="64748B"/>
                </a:solidFill>
                <a:latin typeface="Calibri"/>
                <a:ea typeface="Calibri"/>
                <a:cs typeface="Calibri"/>
                <a:sym typeface="Calibri"/>
              </a:rPr>
              <a:t>Pretrained on:</a:t>
            </a:r>
            <a:endParaRPr b="0" i="0" sz="1028" u="none" cap="none" strike="noStrike">
              <a:solidFill>
                <a:schemeClr val="dk1"/>
              </a:solidFill>
              <a:latin typeface="Calibri"/>
              <a:ea typeface="Calibri"/>
              <a:cs typeface="Calibri"/>
              <a:sym typeface="Calibri"/>
            </a:endParaRPr>
          </a:p>
        </p:txBody>
      </p:sp>
      <p:sp>
        <p:nvSpPr>
          <p:cNvPr id="150" name="Google Shape;150;p8"/>
          <p:cNvSpPr/>
          <p:nvPr/>
        </p:nvSpPr>
        <p:spPr>
          <a:xfrm>
            <a:off x="521119" y="3053606"/>
            <a:ext cx="5028900" cy="43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36"/>
              <a:buFont typeface="Calibri"/>
              <a:buNone/>
            </a:pPr>
            <a:r>
              <a:rPr b="0" i="0" lang="en-US" sz="1336" u="none" cap="none" strike="noStrike">
                <a:solidFill>
                  <a:srgbClr val="1E293B"/>
                </a:solidFill>
                <a:latin typeface="Calibri"/>
                <a:ea typeface="Calibri"/>
                <a:cs typeface="Calibri"/>
                <a:sym typeface="Calibri"/>
              </a:rPr>
              <a:t>Wikipedia (</a:t>
            </a:r>
            <a:r>
              <a:rPr b="0" i="0" lang="en-US" sz="1336" u="none" cap="none" strike="noStrike">
                <a:solidFill>
                  <a:srgbClr val="1E293B"/>
                </a:solidFill>
                <a:highlight>
                  <a:srgbClr val="F59E0B"/>
                </a:highlight>
                <a:latin typeface="Calibri"/>
                <a:ea typeface="Calibri"/>
                <a:cs typeface="Calibri"/>
                <a:sym typeface="Calibri"/>
              </a:rPr>
              <a:t>2.5B</a:t>
            </a:r>
            <a:r>
              <a:rPr b="0" i="0" lang="en-US" sz="1336" u="none" cap="none" strike="noStrike">
                <a:solidFill>
                  <a:srgbClr val="1E293B"/>
                </a:solidFill>
                <a:latin typeface="Calibri"/>
                <a:ea typeface="Calibri"/>
                <a:cs typeface="Calibri"/>
                <a:sym typeface="Calibri"/>
              </a:rPr>
              <a:t> words) + BookCorpus (</a:t>
            </a:r>
            <a:r>
              <a:rPr b="0" i="0" lang="en-US" sz="1336" u="none" cap="none" strike="noStrike">
                <a:solidFill>
                  <a:srgbClr val="1E293B"/>
                </a:solidFill>
                <a:highlight>
                  <a:srgbClr val="F59E0B"/>
                </a:highlight>
                <a:latin typeface="Calibri"/>
                <a:ea typeface="Calibri"/>
                <a:cs typeface="Calibri"/>
                <a:sym typeface="Calibri"/>
              </a:rPr>
              <a:t>800M</a:t>
            </a:r>
            <a:r>
              <a:rPr b="0" i="0" lang="en-US" sz="1336" u="none" cap="none" strike="noStrike">
                <a:solidFill>
                  <a:srgbClr val="1E293B"/>
                </a:solidFill>
                <a:latin typeface="Calibri"/>
                <a:ea typeface="Calibri"/>
                <a:cs typeface="Calibri"/>
                <a:sym typeface="Calibri"/>
              </a:rPr>
              <a:t> words)</a:t>
            </a:r>
            <a:endParaRPr b="0" i="0" sz="1336" u="none" cap="none" strike="noStrike">
              <a:solidFill>
                <a:schemeClr val="dk1"/>
              </a:solidFill>
              <a:latin typeface="Calibri"/>
              <a:ea typeface="Calibri"/>
              <a:cs typeface="Calibri"/>
              <a:sym typeface="Calibri"/>
            </a:endParaRPr>
          </a:p>
        </p:txBody>
      </p:sp>
      <p:sp>
        <p:nvSpPr>
          <p:cNvPr id="151" name="Google Shape;151;p8"/>
          <p:cNvSpPr/>
          <p:nvPr/>
        </p:nvSpPr>
        <p:spPr>
          <a:xfrm>
            <a:off x="521119" y="3597681"/>
            <a:ext cx="5028900" cy="32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28"/>
              <a:buFont typeface="Calibri"/>
              <a:buNone/>
            </a:pPr>
            <a:r>
              <a:rPr b="1" i="0" lang="en-US" sz="1028" u="none" cap="none" strike="noStrike">
                <a:solidFill>
                  <a:srgbClr val="64748B"/>
                </a:solidFill>
                <a:latin typeface="Calibri"/>
                <a:ea typeface="Calibri"/>
                <a:cs typeface="Calibri"/>
                <a:sym typeface="Calibri"/>
              </a:rPr>
              <a:t>Strengths:</a:t>
            </a:r>
            <a:endParaRPr b="0" i="0" sz="1028" u="none" cap="none" strike="noStrike">
              <a:solidFill>
                <a:schemeClr val="dk1"/>
              </a:solidFill>
              <a:latin typeface="Calibri"/>
              <a:ea typeface="Calibri"/>
              <a:cs typeface="Calibri"/>
              <a:sym typeface="Calibri"/>
            </a:endParaRPr>
          </a:p>
        </p:txBody>
      </p:sp>
      <p:sp>
        <p:nvSpPr>
          <p:cNvPr id="152" name="Google Shape;152;p8"/>
          <p:cNvSpPr/>
          <p:nvPr/>
        </p:nvSpPr>
        <p:spPr>
          <a:xfrm>
            <a:off x="521119" y="3924126"/>
            <a:ext cx="5028900" cy="1142700"/>
          </a:xfrm>
          <a:prstGeom prst="rect">
            <a:avLst/>
          </a:prstGeom>
          <a:noFill/>
          <a:ln>
            <a:noFill/>
          </a:ln>
        </p:spPr>
        <p:txBody>
          <a:bodyPr anchorCtr="0" anchor="t" bIns="0" lIns="0" spcFirstLastPara="1" rIns="0" wrap="square" tIns="0">
            <a:noAutofit/>
          </a:bodyPr>
          <a:lstStyle/>
          <a:p>
            <a:pPr indent="-352493" lvl="0" marL="352492" marR="0" rtl="0" algn="l">
              <a:spcBef>
                <a:spcPts val="0"/>
              </a:spcBef>
              <a:spcAft>
                <a:spcPts val="0"/>
              </a:spcAft>
              <a:buClr>
                <a:srgbClr val="1E293B"/>
              </a:buClr>
              <a:buSzPts val="1234"/>
              <a:buFont typeface="Roboto"/>
              <a:buChar char="•"/>
            </a:pPr>
            <a:r>
              <a:rPr i="0" lang="en-US" sz="1234" u="none" cap="none" strike="noStrike">
                <a:solidFill>
                  <a:srgbClr val="1E293B"/>
                </a:solidFill>
                <a:latin typeface="Roboto"/>
                <a:ea typeface="Roboto"/>
                <a:cs typeface="Roboto"/>
                <a:sym typeface="Roboto"/>
              </a:rPr>
              <a:t>General language understanding</a:t>
            </a:r>
            <a:endParaRPr i="0" sz="1234" u="none" cap="none" strike="noStrike">
              <a:solidFill>
                <a:schemeClr val="dk1"/>
              </a:solidFill>
              <a:latin typeface="Roboto"/>
              <a:ea typeface="Roboto"/>
              <a:cs typeface="Roboto"/>
              <a:sym typeface="Roboto"/>
            </a:endParaRPr>
          </a:p>
          <a:p>
            <a:pPr indent="-352493" lvl="0" marL="352492" marR="0" rtl="0" algn="l">
              <a:spcBef>
                <a:spcPts val="0"/>
              </a:spcBef>
              <a:spcAft>
                <a:spcPts val="0"/>
              </a:spcAft>
              <a:buClr>
                <a:srgbClr val="1E293B"/>
              </a:buClr>
              <a:buSzPts val="1234"/>
              <a:buFont typeface="Roboto"/>
              <a:buChar char="•"/>
            </a:pPr>
            <a:r>
              <a:rPr i="0" lang="en-US" sz="1234" u="none" cap="none" strike="noStrike">
                <a:solidFill>
                  <a:srgbClr val="1E293B"/>
                </a:solidFill>
                <a:latin typeface="Roboto"/>
                <a:ea typeface="Roboto"/>
                <a:cs typeface="Roboto"/>
                <a:sym typeface="Roboto"/>
              </a:rPr>
              <a:t>Strong at common-sense context</a:t>
            </a:r>
            <a:endParaRPr i="0" sz="1234" u="none" cap="none" strike="noStrike">
              <a:solidFill>
                <a:schemeClr val="dk1"/>
              </a:solidFill>
              <a:latin typeface="Roboto"/>
              <a:ea typeface="Roboto"/>
              <a:cs typeface="Roboto"/>
              <a:sym typeface="Roboto"/>
            </a:endParaRPr>
          </a:p>
        </p:txBody>
      </p:sp>
      <p:sp>
        <p:nvSpPr>
          <p:cNvPr id="153" name="Google Shape;153;p8"/>
          <p:cNvSpPr/>
          <p:nvPr/>
        </p:nvSpPr>
        <p:spPr>
          <a:xfrm>
            <a:off x="521125" y="5121100"/>
            <a:ext cx="5028900" cy="32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028"/>
              <a:buFont typeface="Calibri"/>
              <a:buNone/>
            </a:pPr>
            <a:r>
              <a:rPr b="1" i="0" lang="en-US" sz="1228" u="none" cap="none" strike="noStrike">
                <a:solidFill>
                  <a:srgbClr val="B45309"/>
                </a:solidFill>
                <a:latin typeface="Calibri"/>
                <a:ea typeface="Calibri"/>
                <a:cs typeface="Calibri"/>
                <a:sym typeface="Calibri"/>
              </a:rPr>
              <a:t>Weakness for our task:</a:t>
            </a:r>
            <a:endParaRPr b="0" i="0" sz="1228" u="none" cap="none" strike="noStrike">
              <a:solidFill>
                <a:schemeClr val="dk1"/>
              </a:solidFill>
              <a:latin typeface="Calibri"/>
              <a:ea typeface="Calibri"/>
              <a:cs typeface="Calibri"/>
              <a:sym typeface="Calibri"/>
            </a:endParaRPr>
          </a:p>
        </p:txBody>
      </p:sp>
      <p:sp>
        <p:nvSpPr>
          <p:cNvPr id="154" name="Google Shape;154;p8"/>
          <p:cNvSpPr/>
          <p:nvPr/>
        </p:nvSpPr>
        <p:spPr>
          <a:xfrm>
            <a:off x="521125" y="5447539"/>
            <a:ext cx="5028900" cy="761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93B"/>
              </a:buClr>
              <a:buSzPts val="1131"/>
              <a:buFont typeface="Calibri"/>
              <a:buNone/>
            </a:pPr>
            <a:r>
              <a:rPr b="0" i="1" lang="en-US" sz="1231" u="none" cap="none" strike="noStrike">
                <a:solidFill>
                  <a:srgbClr val="1E293B"/>
                </a:solidFill>
                <a:latin typeface="Calibri"/>
                <a:ea typeface="Calibri"/>
                <a:cs typeface="Calibri"/>
                <a:sym typeface="Calibri"/>
              </a:rPr>
              <a:t>Medical terms get split into many sub-word tokens, losing semantic meaning. "Hamstring" is rare; "meniscectomy" almost never appears in training data.</a:t>
            </a:r>
            <a:endParaRPr b="0" i="0" sz="1231" u="none" cap="none" strike="noStrike">
              <a:solidFill>
                <a:schemeClr val="dk1"/>
              </a:solidFill>
              <a:latin typeface="Calibri"/>
              <a:ea typeface="Calibri"/>
              <a:cs typeface="Calibri"/>
              <a:sym typeface="Calibri"/>
            </a:endParaRPr>
          </a:p>
        </p:txBody>
      </p:sp>
      <p:sp>
        <p:nvSpPr>
          <p:cNvPr id="155" name="Google Shape;155;p8"/>
          <p:cNvSpPr/>
          <p:nvPr/>
        </p:nvSpPr>
        <p:spPr>
          <a:xfrm>
            <a:off x="6019999" y="1911050"/>
            <a:ext cx="5592900" cy="4352700"/>
          </a:xfrm>
          <a:prstGeom prst="rect">
            <a:avLst/>
          </a:prstGeom>
          <a:solidFill>
            <a:srgbClr val="F8FAFC"/>
          </a:solidFill>
          <a:ln cap="flat" cmpd="sng" w="9800">
            <a:solidFill>
              <a:srgbClr val="E2E8F0"/>
            </a:solidFill>
            <a:prstDash val="solid"/>
            <a:round/>
            <a:headEnd len="sm" w="sm" type="none"/>
            <a:tailEnd len="sm" w="sm" type="none"/>
          </a:ln>
        </p:spPr>
        <p:txBody>
          <a:bodyPr anchorCtr="0" anchor="ctr" bIns="93975" lIns="93975" spcFirstLastPara="1" rIns="93975" wrap="square" tIns="93975">
            <a:noAutofit/>
          </a:bodyPr>
          <a:lstStyle/>
          <a:p>
            <a:pPr indent="0" lvl="0" marL="0" rtl="0" algn="l">
              <a:spcBef>
                <a:spcPts val="0"/>
              </a:spcBef>
              <a:spcAft>
                <a:spcPts val="0"/>
              </a:spcAft>
              <a:buNone/>
            </a:pPr>
            <a:r>
              <a:t/>
            </a:r>
            <a:endParaRPr/>
          </a:p>
        </p:txBody>
      </p:sp>
      <p:sp>
        <p:nvSpPr>
          <p:cNvPr id="156" name="Google Shape;156;p8"/>
          <p:cNvSpPr/>
          <p:nvPr/>
        </p:nvSpPr>
        <p:spPr>
          <a:xfrm>
            <a:off x="6019999" y="1911050"/>
            <a:ext cx="5592900" cy="652800"/>
          </a:xfrm>
          <a:prstGeom prst="rect">
            <a:avLst/>
          </a:prstGeom>
          <a:solidFill>
            <a:srgbClr val="0F4C3A"/>
          </a:solidFill>
          <a:ln>
            <a:noFill/>
          </a:ln>
        </p:spPr>
        <p:txBody>
          <a:bodyPr anchorCtr="0" anchor="ctr" bIns="93975" lIns="93975" spcFirstLastPara="1" rIns="93975" wrap="square" tIns="93975">
            <a:noAutofit/>
          </a:bodyPr>
          <a:lstStyle/>
          <a:p>
            <a:pPr indent="0" lvl="0" marL="0" rtl="0" algn="l">
              <a:spcBef>
                <a:spcPts val="0"/>
              </a:spcBef>
              <a:spcAft>
                <a:spcPts val="0"/>
              </a:spcAft>
              <a:buNone/>
            </a:pPr>
            <a:r>
              <a:t/>
            </a:r>
            <a:endParaRPr/>
          </a:p>
        </p:txBody>
      </p:sp>
      <p:sp>
        <p:nvSpPr>
          <p:cNvPr id="157" name="Google Shape;157;p8"/>
          <p:cNvSpPr/>
          <p:nvPr/>
        </p:nvSpPr>
        <p:spPr>
          <a:xfrm>
            <a:off x="6301993" y="1911050"/>
            <a:ext cx="5028900" cy="65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50"/>
              <a:buFont typeface="Georgia"/>
              <a:buNone/>
            </a:pPr>
            <a:r>
              <a:rPr b="1" i="0" lang="en-US" sz="1850" u="none" cap="none" strike="noStrike">
                <a:solidFill>
                  <a:srgbClr val="FFFFFF"/>
                </a:solidFill>
                <a:latin typeface="Georgia"/>
                <a:ea typeface="Georgia"/>
                <a:cs typeface="Georgia"/>
                <a:sym typeface="Georgia"/>
              </a:rPr>
              <a:t>BioBERT</a:t>
            </a:r>
            <a:endParaRPr b="0" i="0" sz="1850" u="none" cap="none" strike="noStrike">
              <a:solidFill>
                <a:schemeClr val="dk1"/>
              </a:solidFill>
              <a:latin typeface="Calibri"/>
              <a:ea typeface="Calibri"/>
              <a:cs typeface="Calibri"/>
              <a:sym typeface="Calibri"/>
            </a:endParaRPr>
          </a:p>
        </p:txBody>
      </p:sp>
      <p:sp>
        <p:nvSpPr>
          <p:cNvPr id="158" name="Google Shape;158;p8"/>
          <p:cNvSpPr/>
          <p:nvPr/>
        </p:nvSpPr>
        <p:spPr>
          <a:xfrm>
            <a:off x="6301993" y="2781569"/>
            <a:ext cx="5028900" cy="32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28"/>
              <a:buFont typeface="Calibri"/>
              <a:buNone/>
            </a:pPr>
            <a:r>
              <a:rPr b="1" i="0" lang="en-US" sz="1028" u="none" cap="none" strike="noStrike">
                <a:solidFill>
                  <a:srgbClr val="64748B"/>
                </a:solidFill>
                <a:latin typeface="Calibri"/>
                <a:ea typeface="Calibri"/>
                <a:cs typeface="Calibri"/>
                <a:sym typeface="Calibri"/>
              </a:rPr>
              <a:t>Pretrained on:</a:t>
            </a:r>
            <a:endParaRPr b="0" i="0" sz="1028" u="none" cap="none" strike="noStrike">
              <a:solidFill>
                <a:schemeClr val="dk1"/>
              </a:solidFill>
              <a:latin typeface="Calibri"/>
              <a:ea typeface="Calibri"/>
              <a:cs typeface="Calibri"/>
              <a:sym typeface="Calibri"/>
            </a:endParaRPr>
          </a:p>
        </p:txBody>
      </p:sp>
      <p:sp>
        <p:nvSpPr>
          <p:cNvPr id="159" name="Google Shape;159;p8"/>
          <p:cNvSpPr/>
          <p:nvPr/>
        </p:nvSpPr>
        <p:spPr>
          <a:xfrm>
            <a:off x="6301993" y="3053606"/>
            <a:ext cx="5028900" cy="43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36"/>
              <a:buFont typeface="Calibri"/>
              <a:buNone/>
            </a:pPr>
            <a:r>
              <a:rPr b="0" i="0" lang="en-US" sz="1336" u="none" cap="none" strike="noStrike">
                <a:solidFill>
                  <a:srgbClr val="1E293B"/>
                </a:solidFill>
                <a:latin typeface="Calibri"/>
                <a:ea typeface="Calibri"/>
                <a:cs typeface="Calibri"/>
                <a:sym typeface="Calibri"/>
              </a:rPr>
              <a:t>BERT corpus + PubMed abstracts (</a:t>
            </a:r>
            <a:r>
              <a:rPr b="0" i="0" lang="en-US" sz="1336" u="none" cap="none" strike="noStrike">
                <a:solidFill>
                  <a:srgbClr val="1E293B"/>
                </a:solidFill>
                <a:highlight>
                  <a:srgbClr val="F59E0B"/>
                </a:highlight>
                <a:latin typeface="Calibri"/>
                <a:ea typeface="Calibri"/>
                <a:cs typeface="Calibri"/>
                <a:sym typeface="Calibri"/>
              </a:rPr>
              <a:t>4.5B</a:t>
            </a:r>
            <a:r>
              <a:rPr b="0" i="0" lang="en-US" sz="1336" u="none" cap="none" strike="noStrike">
                <a:solidFill>
                  <a:srgbClr val="1E293B"/>
                </a:solidFill>
                <a:latin typeface="Calibri"/>
                <a:ea typeface="Calibri"/>
                <a:cs typeface="Calibri"/>
                <a:sym typeface="Calibri"/>
              </a:rPr>
              <a:t> words) + PMC full-text (</a:t>
            </a:r>
            <a:r>
              <a:rPr b="0" i="0" lang="en-US" sz="1336" u="none" cap="none" strike="noStrike">
                <a:solidFill>
                  <a:srgbClr val="1E293B"/>
                </a:solidFill>
                <a:highlight>
                  <a:srgbClr val="F59E0B"/>
                </a:highlight>
                <a:latin typeface="Calibri"/>
                <a:ea typeface="Calibri"/>
                <a:cs typeface="Calibri"/>
                <a:sym typeface="Calibri"/>
              </a:rPr>
              <a:t>13.5B</a:t>
            </a:r>
            <a:r>
              <a:rPr b="0" i="0" lang="en-US" sz="1336" u="none" cap="none" strike="noStrike">
                <a:solidFill>
                  <a:srgbClr val="1E293B"/>
                </a:solidFill>
                <a:latin typeface="Calibri"/>
                <a:ea typeface="Calibri"/>
                <a:cs typeface="Calibri"/>
                <a:sym typeface="Calibri"/>
              </a:rPr>
              <a:t> words)</a:t>
            </a:r>
            <a:endParaRPr b="0" i="0" sz="1336" u="none" cap="none" strike="noStrike">
              <a:solidFill>
                <a:schemeClr val="dk1"/>
              </a:solidFill>
              <a:latin typeface="Calibri"/>
              <a:ea typeface="Calibri"/>
              <a:cs typeface="Calibri"/>
              <a:sym typeface="Calibri"/>
            </a:endParaRPr>
          </a:p>
        </p:txBody>
      </p:sp>
      <p:sp>
        <p:nvSpPr>
          <p:cNvPr id="160" name="Google Shape;160;p8"/>
          <p:cNvSpPr/>
          <p:nvPr/>
        </p:nvSpPr>
        <p:spPr>
          <a:xfrm>
            <a:off x="6301993" y="3597681"/>
            <a:ext cx="5028900" cy="32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28"/>
              <a:buFont typeface="Calibri"/>
              <a:buNone/>
            </a:pPr>
            <a:r>
              <a:rPr b="1" i="0" lang="en-US" sz="1028" u="none" cap="none" strike="noStrike">
                <a:solidFill>
                  <a:srgbClr val="64748B"/>
                </a:solidFill>
                <a:latin typeface="Calibri"/>
                <a:ea typeface="Calibri"/>
                <a:cs typeface="Calibri"/>
                <a:sym typeface="Calibri"/>
              </a:rPr>
              <a:t>Strengths:</a:t>
            </a:r>
            <a:endParaRPr b="0" i="0" sz="1028" u="none" cap="none" strike="noStrike">
              <a:solidFill>
                <a:schemeClr val="dk1"/>
              </a:solidFill>
              <a:latin typeface="Calibri"/>
              <a:ea typeface="Calibri"/>
              <a:cs typeface="Calibri"/>
              <a:sym typeface="Calibri"/>
            </a:endParaRPr>
          </a:p>
        </p:txBody>
      </p:sp>
      <p:sp>
        <p:nvSpPr>
          <p:cNvPr id="161" name="Google Shape;161;p8"/>
          <p:cNvSpPr/>
          <p:nvPr/>
        </p:nvSpPr>
        <p:spPr>
          <a:xfrm>
            <a:off x="6301993" y="3896863"/>
            <a:ext cx="5028900" cy="1142700"/>
          </a:xfrm>
          <a:prstGeom prst="rect">
            <a:avLst/>
          </a:prstGeom>
          <a:noFill/>
          <a:ln>
            <a:noFill/>
          </a:ln>
        </p:spPr>
        <p:txBody>
          <a:bodyPr anchorCtr="0" anchor="t" bIns="0" lIns="0" spcFirstLastPara="1" rIns="0" wrap="square" tIns="0">
            <a:noAutofit/>
          </a:bodyPr>
          <a:lstStyle/>
          <a:p>
            <a:pPr indent="-352493" lvl="0" marL="352492" marR="0" rtl="0" algn="l">
              <a:spcBef>
                <a:spcPts val="0"/>
              </a:spcBef>
              <a:spcAft>
                <a:spcPts val="0"/>
              </a:spcAft>
              <a:buClr>
                <a:srgbClr val="1E293B"/>
              </a:buClr>
              <a:buSzPts val="1234"/>
              <a:buFont typeface="Roboto"/>
              <a:buChar char="•"/>
            </a:pPr>
            <a:r>
              <a:rPr i="0" lang="en-US" sz="1234" u="none" cap="none" strike="noStrike">
                <a:solidFill>
                  <a:srgbClr val="1E293B"/>
                </a:solidFill>
                <a:latin typeface="Roboto"/>
                <a:ea typeface="Roboto"/>
                <a:cs typeface="Roboto"/>
                <a:sym typeface="Roboto"/>
              </a:rPr>
              <a:t>Recognizes medical terminology natively</a:t>
            </a:r>
            <a:endParaRPr i="0" sz="1234" u="none" cap="none" strike="noStrike">
              <a:solidFill>
                <a:schemeClr val="dk1"/>
              </a:solidFill>
              <a:latin typeface="Roboto"/>
              <a:ea typeface="Roboto"/>
              <a:cs typeface="Roboto"/>
              <a:sym typeface="Roboto"/>
            </a:endParaRPr>
          </a:p>
          <a:p>
            <a:pPr indent="-352493" lvl="0" marL="352492" marR="0" rtl="0" algn="l">
              <a:spcBef>
                <a:spcPts val="0"/>
              </a:spcBef>
              <a:spcAft>
                <a:spcPts val="0"/>
              </a:spcAft>
              <a:buClr>
                <a:srgbClr val="1E293B"/>
              </a:buClr>
              <a:buSzPts val="1234"/>
              <a:buFont typeface="Roboto"/>
              <a:buChar char="•"/>
            </a:pPr>
            <a:r>
              <a:rPr i="0" lang="en-US" sz="1234" u="none" cap="none" strike="noStrike">
                <a:solidFill>
                  <a:srgbClr val="1E293B"/>
                </a:solidFill>
                <a:latin typeface="Roboto"/>
                <a:ea typeface="Roboto"/>
                <a:cs typeface="Roboto"/>
                <a:sym typeface="Roboto"/>
              </a:rPr>
              <a:t>Better tokenization of anatomy &amp; procedures</a:t>
            </a:r>
            <a:endParaRPr i="0" sz="1234" u="none" cap="none" strike="noStrike">
              <a:solidFill>
                <a:schemeClr val="dk1"/>
              </a:solidFill>
              <a:latin typeface="Roboto"/>
              <a:ea typeface="Roboto"/>
              <a:cs typeface="Roboto"/>
              <a:sym typeface="Roboto"/>
            </a:endParaRPr>
          </a:p>
          <a:p>
            <a:pPr indent="-352493" lvl="0" marL="352492" marR="0" rtl="0" algn="l">
              <a:spcBef>
                <a:spcPts val="0"/>
              </a:spcBef>
              <a:spcAft>
                <a:spcPts val="0"/>
              </a:spcAft>
              <a:buClr>
                <a:srgbClr val="1E293B"/>
              </a:buClr>
              <a:buSzPts val="1234"/>
              <a:buFont typeface="Roboto"/>
              <a:buChar char="•"/>
            </a:pPr>
            <a:r>
              <a:rPr i="0" lang="en-US" sz="1234" u="none" cap="none" strike="noStrike">
                <a:solidFill>
                  <a:srgbClr val="1E293B"/>
                </a:solidFill>
                <a:latin typeface="Roboto"/>
                <a:ea typeface="Roboto"/>
                <a:cs typeface="Roboto"/>
                <a:sym typeface="Roboto"/>
              </a:rPr>
              <a:t>Outperforms BERT on biomedical NER, RE, QA</a:t>
            </a:r>
            <a:endParaRPr i="0" sz="1234" u="none" cap="none" strike="noStrike">
              <a:solidFill>
                <a:schemeClr val="dk1"/>
              </a:solidFill>
              <a:latin typeface="Roboto"/>
              <a:ea typeface="Roboto"/>
              <a:cs typeface="Roboto"/>
              <a:sym typeface="Roboto"/>
            </a:endParaRPr>
          </a:p>
        </p:txBody>
      </p:sp>
      <p:sp>
        <p:nvSpPr>
          <p:cNvPr id="162" name="Google Shape;162;p8"/>
          <p:cNvSpPr/>
          <p:nvPr/>
        </p:nvSpPr>
        <p:spPr>
          <a:xfrm>
            <a:off x="6301993" y="5121089"/>
            <a:ext cx="5028900" cy="32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4C3A"/>
              </a:buClr>
              <a:buSzPts val="1028"/>
              <a:buFont typeface="Calibri"/>
              <a:buNone/>
            </a:pPr>
            <a:r>
              <a:rPr b="1" i="0" lang="en-US" sz="1428" u="none" cap="none" strike="noStrike">
                <a:solidFill>
                  <a:srgbClr val="0F4C3A"/>
                </a:solidFill>
                <a:latin typeface="Calibri"/>
                <a:ea typeface="Calibri"/>
                <a:cs typeface="Calibri"/>
                <a:sym typeface="Calibri"/>
              </a:rPr>
              <a:t>Why we chose it:</a:t>
            </a:r>
            <a:endParaRPr b="0" i="0" sz="1428" u="none" cap="none" strike="noStrike">
              <a:solidFill>
                <a:schemeClr val="dk1"/>
              </a:solidFill>
              <a:latin typeface="Calibri"/>
              <a:ea typeface="Calibri"/>
              <a:cs typeface="Calibri"/>
              <a:sym typeface="Calibri"/>
            </a:endParaRPr>
          </a:p>
        </p:txBody>
      </p:sp>
      <p:sp>
        <p:nvSpPr>
          <p:cNvPr id="163" name="Google Shape;163;p8"/>
          <p:cNvSpPr/>
          <p:nvPr/>
        </p:nvSpPr>
        <p:spPr>
          <a:xfrm>
            <a:off x="6301993" y="5447534"/>
            <a:ext cx="5028900" cy="761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93B"/>
              </a:buClr>
              <a:buSzPts val="1131"/>
              <a:buFont typeface="Calibri"/>
              <a:buNone/>
            </a:pPr>
            <a:r>
              <a:rPr b="0" i="1" lang="en-US" sz="1531" u="none" cap="none" strike="noStrike">
                <a:solidFill>
                  <a:srgbClr val="1E293B"/>
                </a:solidFill>
                <a:latin typeface="Calibri"/>
                <a:ea typeface="Calibri"/>
                <a:cs typeface="Calibri"/>
                <a:sym typeface="Calibri"/>
              </a:rPr>
              <a:t>Injury reports </a:t>
            </a:r>
            <a:r>
              <a:rPr i="1" lang="en-US" sz="1531">
                <a:solidFill>
                  <a:srgbClr val="1E293B"/>
                </a:solidFill>
                <a:latin typeface="Calibri"/>
                <a:ea typeface="Calibri"/>
                <a:cs typeface="Calibri"/>
                <a:sym typeface="Calibri"/>
              </a:rPr>
              <a:t>= </a:t>
            </a:r>
            <a:r>
              <a:rPr b="0" i="1" lang="en-US" sz="1531" u="none" cap="none" strike="noStrike">
                <a:solidFill>
                  <a:srgbClr val="1E293B"/>
                </a:solidFill>
                <a:latin typeface="Calibri"/>
                <a:ea typeface="Calibri"/>
                <a:cs typeface="Calibri"/>
                <a:sym typeface="Calibri"/>
              </a:rPr>
              <a:t>short clinical notes. </a:t>
            </a:r>
            <a:endParaRPr b="0" i="0" sz="1531" u="none" cap="none" strike="noStrike">
              <a:solidFill>
                <a:schemeClr val="dk1"/>
              </a:solidFill>
              <a:latin typeface="Calibri"/>
              <a:ea typeface="Calibri"/>
              <a:cs typeface="Calibri"/>
              <a:sym typeface="Calibri"/>
            </a:endParaRPr>
          </a:p>
        </p:txBody>
      </p:sp>
      <p:cxnSp>
        <p:nvCxnSpPr>
          <p:cNvPr id="164" name="Google Shape;164;p8"/>
          <p:cNvCxnSpPr/>
          <p:nvPr/>
        </p:nvCxnSpPr>
        <p:spPr>
          <a:xfrm>
            <a:off x="548640" y="6446520"/>
            <a:ext cx="11094415" cy="0"/>
          </a:xfrm>
          <a:prstGeom prst="straightConnector1">
            <a:avLst/>
          </a:prstGeom>
          <a:noFill/>
          <a:ln cap="flat" cmpd="sng" w="9525">
            <a:solidFill>
              <a:srgbClr val="E2E8F0"/>
            </a:solidFill>
            <a:prstDash val="solid"/>
            <a:round/>
            <a:headEnd len="sm" w="sm" type="none"/>
            <a:tailEnd len="sm" w="sm" type="none"/>
          </a:ln>
        </p:spPr>
      </p:cxnSp>
      <p:sp>
        <p:nvSpPr>
          <p:cNvPr id="165" name="Google Shape;165;p8"/>
          <p:cNvSpPr/>
          <p:nvPr/>
        </p:nvSpPr>
        <p:spPr>
          <a:xfrm>
            <a:off x="54864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BioBERT · Soccer Injury Severity Classification</a:t>
            </a:r>
            <a:endParaRPr b="0" i="0" sz="900" u="none" cap="none" strike="noStrike">
              <a:solidFill>
                <a:schemeClr val="dk1"/>
              </a:solidFill>
              <a:latin typeface="Calibri"/>
              <a:ea typeface="Calibri"/>
              <a:cs typeface="Calibri"/>
              <a:sym typeface="Calibri"/>
            </a:endParaRPr>
          </a:p>
        </p:txBody>
      </p:sp>
      <p:sp>
        <p:nvSpPr>
          <p:cNvPr id="166" name="Google Shape;166;p8"/>
          <p:cNvSpPr/>
          <p:nvPr/>
        </p:nvSpPr>
        <p:spPr>
          <a:xfrm>
            <a:off x="10728655" y="649224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6 / 16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1" name="Shape 171"/>
        <p:cNvGrpSpPr/>
        <p:nvPr/>
      </p:nvGrpSpPr>
      <p:grpSpPr>
        <a:xfrm>
          <a:off x="0" y="0"/>
          <a:ext cx="0" cy="0"/>
          <a:chOff x="0" y="0"/>
          <a:chExt cx="0" cy="0"/>
        </a:xfrm>
      </p:grpSpPr>
      <p:sp>
        <p:nvSpPr>
          <p:cNvPr id="172" name="Google Shape;172;p9"/>
          <p:cNvSpPr/>
          <p:nvPr/>
        </p:nvSpPr>
        <p:spPr>
          <a:xfrm>
            <a:off x="548640" y="45720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100"/>
              <a:buFont typeface="Calibri"/>
              <a:buNone/>
            </a:pPr>
            <a:r>
              <a:rPr b="1" i="0" lang="en-US" sz="1100" u="none" cap="none" strike="noStrike">
                <a:solidFill>
                  <a:srgbClr val="B45309"/>
                </a:solidFill>
                <a:latin typeface="Calibri"/>
                <a:ea typeface="Calibri"/>
                <a:cs typeface="Calibri"/>
                <a:sym typeface="Calibri"/>
              </a:rPr>
              <a:t>06  ·  DATA</a:t>
            </a:r>
            <a:endParaRPr b="0" i="0" sz="1100" u="none" cap="none" strike="noStrike">
              <a:solidFill>
                <a:schemeClr val="dk1"/>
              </a:solidFill>
              <a:latin typeface="Calibri"/>
              <a:ea typeface="Calibri"/>
              <a:cs typeface="Calibri"/>
              <a:sym typeface="Calibri"/>
            </a:endParaRPr>
          </a:p>
        </p:txBody>
      </p:sp>
      <p:sp>
        <p:nvSpPr>
          <p:cNvPr id="173" name="Google Shape;173;p9"/>
          <p:cNvSpPr/>
          <p:nvPr/>
        </p:nvSpPr>
        <p:spPr>
          <a:xfrm>
            <a:off x="548640" y="77724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3200"/>
              <a:buFont typeface="Georgia"/>
              <a:buNone/>
            </a:pPr>
            <a:r>
              <a:rPr b="1" i="0" lang="en-US" sz="3200" u="none" cap="none" strike="noStrike">
                <a:solidFill>
                  <a:srgbClr val="1E293B"/>
                </a:solidFill>
                <a:latin typeface="Georgia"/>
                <a:ea typeface="Georgia"/>
                <a:cs typeface="Georgia"/>
                <a:sym typeface="Georgia"/>
              </a:rPr>
              <a:t>The dataset</a:t>
            </a:r>
            <a:endParaRPr b="0" i="0" sz="3200" u="none" cap="none" strike="noStrike">
              <a:solidFill>
                <a:schemeClr val="dk1"/>
              </a:solidFill>
              <a:latin typeface="Calibri"/>
              <a:ea typeface="Calibri"/>
              <a:cs typeface="Calibri"/>
              <a:sym typeface="Calibri"/>
            </a:endParaRPr>
          </a:p>
        </p:txBody>
      </p:sp>
      <p:sp>
        <p:nvSpPr>
          <p:cNvPr id="174" name="Google Shape;174;p9"/>
          <p:cNvSpPr/>
          <p:nvPr/>
        </p:nvSpPr>
        <p:spPr>
          <a:xfrm>
            <a:off x="548640" y="1600200"/>
            <a:ext cx="10972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2200"/>
              <a:buFont typeface="Georgia"/>
              <a:buNone/>
            </a:pPr>
            <a:r>
              <a:rPr b="1" i="0" lang="en-US" sz="2200" u="none" cap="none" strike="noStrike">
                <a:solidFill>
                  <a:srgbClr val="1E293B"/>
                </a:solidFill>
                <a:latin typeface="Georgia"/>
                <a:ea typeface="Georgia"/>
                <a:cs typeface="Georgia"/>
                <a:sym typeface="Georgia"/>
              </a:rPr>
              <a:t>Player Injuries and Team Performance Dataset</a:t>
            </a:r>
            <a:endParaRPr b="0" i="0" sz="2200" u="none" cap="none" strike="noStrike">
              <a:solidFill>
                <a:schemeClr val="dk1"/>
              </a:solidFill>
              <a:latin typeface="Calibri"/>
              <a:ea typeface="Calibri"/>
              <a:cs typeface="Calibri"/>
              <a:sym typeface="Calibri"/>
            </a:endParaRPr>
          </a:p>
        </p:txBody>
      </p:sp>
      <p:sp>
        <p:nvSpPr>
          <p:cNvPr id="175" name="Google Shape;175;p9"/>
          <p:cNvSpPr/>
          <p:nvPr/>
        </p:nvSpPr>
        <p:spPr>
          <a:xfrm>
            <a:off x="548640" y="2057400"/>
            <a:ext cx="10972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b="0" i="1" lang="en-US" sz="1200" u="none" cap="none" strike="noStrike">
                <a:solidFill>
                  <a:srgbClr val="64748B"/>
                </a:solidFill>
                <a:latin typeface="Calibri"/>
                <a:ea typeface="Calibri"/>
                <a:cs typeface="Calibri"/>
                <a:sym typeface="Calibri"/>
              </a:rPr>
              <a:t>Publicly available on Kaggle  ·  by Amrit Biswas  ·  </a:t>
            </a:r>
            <a:r>
              <a:rPr i="1" lang="en-US" sz="1200">
                <a:solidFill>
                  <a:srgbClr val="64748B"/>
                </a:solidFill>
                <a:latin typeface="Calibri"/>
                <a:ea typeface="Calibri"/>
                <a:cs typeface="Calibri"/>
                <a:sym typeface="Calibri"/>
              </a:rPr>
              <a:t>originally </a:t>
            </a:r>
            <a:r>
              <a:rPr b="0" i="1" lang="en-US" sz="1200" u="none" cap="none" strike="noStrike">
                <a:solidFill>
                  <a:srgbClr val="64748B"/>
                </a:solidFill>
                <a:latin typeface="Calibri"/>
                <a:ea typeface="Calibri"/>
                <a:cs typeface="Calibri"/>
                <a:sym typeface="Calibri"/>
              </a:rPr>
              <a:t>from Transfermarkt, soccer critic ratings, and SkySports</a:t>
            </a:r>
            <a:endParaRPr b="0" i="0" sz="1200" u="none" cap="none" strike="noStrike">
              <a:solidFill>
                <a:schemeClr val="dk1"/>
              </a:solidFill>
              <a:latin typeface="Calibri"/>
              <a:ea typeface="Calibri"/>
              <a:cs typeface="Calibri"/>
              <a:sym typeface="Calibri"/>
            </a:endParaRPr>
          </a:p>
        </p:txBody>
      </p:sp>
      <p:sp>
        <p:nvSpPr>
          <p:cNvPr id="176" name="Google Shape;176;p9"/>
          <p:cNvSpPr/>
          <p:nvPr/>
        </p:nvSpPr>
        <p:spPr>
          <a:xfrm>
            <a:off x="548640" y="2697480"/>
            <a:ext cx="5532120" cy="352044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9"/>
          <p:cNvSpPr/>
          <p:nvPr/>
        </p:nvSpPr>
        <p:spPr>
          <a:xfrm>
            <a:off x="822960" y="2926080"/>
            <a:ext cx="4983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000"/>
              <a:buFont typeface="Calibri"/>
              <a:buNone/>
            </a:pPr>
            <a:r>
              <a:rPr b="1" i="0" lang="en-US" sz="1000" u="none" cap="none" strike="noStrike">
                <a:solidFill>
                  <a:srgbClr val="B45309"/>
                </a:solidFill>
                <a:latin typeface="Calibri"/>
                <a:ea typeface="Calibri"/>
                <a:cs typeface="Calibri"/>
                <a:sym typeface="Calibri"/>
              </a:rPr>
              <a:t>EACH RECORD CONTAINS</a:t>
            </a:r>
            <a:endParaRPr b="0" i="0" sz="1000" u="none" cap="none" strike="noStrike">
              <a:solidFill>
                <a:schemeClr val="dk1"/>
              </a:solidFill>
              <a:latin typeface="Calibri"/>
              <a:ea typeface="Calibri"/>
              <a:cs typeface="Calibri"/>
              <a:sym typeface="Calibri"/>
            </a:endParaRPr>
          </a:p>
        </p:txBody>
      </p:sp>
      <p:sp>
        <p:nvSpPr>
          <p:cNvPr id="178" name="Google Shape;178;p9"/>
          <p:cNvSpPr/>
          <p:nvPr/>
        </p:nvSpPr>
        <p:spPr>
          <a:xfrm>
            <a:off x="822960" y="3291840"/>
            <a:ext cx="4983480" cy="2651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93B"/>
              </a:buClr>
              <a:buSzPts val="1250"/>
              <a:buFont typeface="Calibri"/>
              <a:buNone/>
            </a:pPr>
            <a:r>
              <a:rPr b="1" i="0" lang="en-US" sz="1250" u="none" cap="none" strike="noStrike">
                <a:solidFill>
                  <a:srgbClr val="1E293B"/>
                </a:solidFill>
                <a:latin typeface="Calibri"/>
                <a:ea typeface="Calibri"/>
                <a:cs typeface="Calibri"/>
                <a:sym typeface="Calibri"/>
              </a:rPr>
              <a:t>Player Identity </a:t>
            </a:r>
            <a:r>
              <a:rPr b="0" i="0" lang="en-US" sz="1250" u="none" cap="none" strike="noStrike">
                <a:solidFill>
                  <a:srgbClr val="64748B"/>
                </a:solidFill>
                <a:latin typeface="Calibri"/>
                <a:ea typeface="Calibri"/>
                <a:cs typeface="Calibri"/>
                <a:sym typeface="Calibri"/>
              </a:rPr>
              <a:t>— name, position, age, FIFA rating (5-year span)</a:t>
            </a:r>
            <a:endParaRPr b="0" i="0" sz="12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1E293B"/>
              </a:buClr>
              <a:buSzPts val="400"/>
              <a:buFont typeface="Calibri"/>
              <a:buNone/>
            </a:pPr>
            <a:r>
              <a:rPr b="0" i="0" lang="en-US" sz="400" u="none" cap="none" strike="noStrike">
                <a:solidFill>
                  <a:srgbClr val="1E293B"/>
                </a:solidFill>
                <a:latin typeface="Calibri"/>
                <a:ea typeface="Calibri"/>
                <a:cs typeface="Calibri"/>
                <a:sym typeface="Calibri"/>
              </a:rPr>
              <a:t> </a:t>
            </a:r>
            <a:endParaRPr b="0" i="0" sz="12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1E293B"/>
              </a:buClr>
              <a:buSzPts val="1250"/>
              <a:buFont typeface="Calibri"/>
              <a:buNone/>
            </a:pPr>
            <a:r>
              <a:rPr b="1" i="0" lang="en-US" sz="1250" u="none" cap="none" strike="noStrike">
                <a:solidFill>
                  <a:srgbClr val="1E293B"/>
                </a:solidFill>
                <a:latin typeface="Calibri"/>
                <a:ea typeface="Calibri"/>
                <a:cs typeface="Calibri"/>
                <a:sym typeface="Calibri"/>
              </a:rPr>
              <a:t>Injury Event </a:t>
            </a:r>
            <a:r>
              <a:rPr b="0" i="0" lang="en-US" sz="1250" u="none" cap="none" strike="noStrike">
                <a:solidFill>
                  <a:srgbClr val="64748B"/>
                </a:solidFill>
                <a:latin typeface="Calibri"/>
                <a:ea typeface="Calibri"/>
                <a:cs typeface="Calibri"/>
                <a:sym typeface="Calibri"/>
              </a:rPr>
              <a:t>— text description, date of occurrence, expected return date</a:t>
            </a:r>
            <a:endParaRPr b="0" i="0" sz="12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1E293B"/>
              </a:buClr>
              <a:buSzPts val="400"/>
              <a:buFont typeface="Calibri"/>
              <a:buNone/>
            </a:pPr>
            <a:r>
              <a:rPr b="0" i="0" lang="en-US" sz="400" u="none" cap="none" strike="noStrike">
                <a:solidFill>
                  <a:srgbClr val="1E293B"/>
                </a:solidFill>
                <a:latin typeface="Calibri"/>
                <a:ea typeface="Calibri"/>
                <a:cs typeface="Calibri"/>
                <a:sym typeface="Calibri"/>
              </a:rPr>
              <a:t> </a:t>
            </a:r>
            <a:endParaRPr b="0" i="0" sz="12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1E293B"/>
              </a:buClr>
              <a:buSzPts val="1250"/>
              <a:buFont typeface="Calibri"/>
              <a:buNone/>
            </a:pPr>
            <a:r>
              <a:rPr b="1" i="0" lang="en-US" sz="1250" u="none" cap="none" strike="noStrike">
                <a:solidFill>
                  <a:srgbClr val="1E293B"/>
                </a:solidFill>
                <a:latin typeface="Calibri"/>
                <a:ea typeface="Calibri"/>
                <a:cs typeface="Calibri"/>
                <a:sym typeface="Calibri"/>
              </a:rPr>
              <a:t>Match Performance </a:t>
            </a:r>
            <a:r>
              <a:rPr b="0" i="0" lang="en-US" sz="1250" u="none" cap="none" strike="noStrike">
                <a:solidFill>
                  <a:srgbClr val="64748B"/>
                </a:solidFill>
                <a:latin typeface="Calibri"/>
                <a:ea typeface="Calibri"/>
                <a:cs typeface="Calibri"/>
                <a:sym typeface="Calibri"/>
              </a:rPr>
              <a:t>— ratings before, during, and after each absence</a:t>
            </a:r>
            <a:endParaRPr b="0" i="0" sz="12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1E293B"/>
              </a:buClr>
              <a:buSzPts val="400"/>
              <a:buFont typeface="Calibri"/>
              <a:buNone/>
            </a:pPr>
            <a:r>
              <a:rPr b="0" i="0" lang="en-US" sz="400" u="none" cap="none" strike="noStrike">
                <a:solidFill>
                  <a:srgbClr val="1E293B"/>
                </a:solidFill>
                <a:latin typeface="Calibri"/>
                <a:ea typeface="Calibri"/>
                <a:cs typeface="Calibri"/>
                <a:sym typeface="Calibri"/>
              </a:rPr>
              <a:t> </a:t>
            </a:r>
            <a:endParaRPr b="0" i="0" sz="12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1E293B"/>
              </a:buClr>
              <a:buSzPts val="1250"/>
              <a:buFont typeface="Calibri"/>
              <a:buNone/>
            </a:pPr>
            <a:r>
              <a:rPr b="1" i="0" lang="en-US" sz="1250" u="none" cap="none" strike="noStrike">
                <a:solidFill>
                  <a:srgbClr val="1E293B"/>
                </a:solidFill>
                <a:latin typeface="Calibri"/>
                <a:ea typeface="Calibri"/>
                <a:cs typeface="Calibri"/>
                <a:sym typeface="Calibri"/>
              </a:rPr>
              <a:t>Temporal Window </a:t>
            </a:r>
            <a:r>
              <a:rPr b="0" i="0" lang="en-US" sz="1250" u="none" cap="none" strike="noStrike">
                <a:solidFill>
                  <a:srgbClr val="64748B"/>
                </a:solidFill>
                <a:latin typeface="Calibri"/>
                <a:ea typeface="Calibri"/>
                <a:cs typeface="Calibri"/>
                <a:sym typeface="Calibri"/>
              </a:rPr>
              <a:t>— 3 matches pre-injury, missed matches, 3 matches post-return</a:t>
            </a:r>
            <a:endParaRPr b="0" i="0" sz="1250" u="none" cap="none" strike="noStrike">
              <a:solidFill>
                <a:schemeClr val="dk1"/>
              </a:solidFill>
              <a:latin typeface="Calibri"/>
              <a:ea typeface="Calibri"/>
              <a:cs typeface="Calibri"/>
              <a:sym typeface="Calibri"/>
            </a:endParaRPr>
          </a:p>
        </p:txBody>
      </p:sp>
      <p:sp>
        <p:nvSpPr>
          <p:cNvPr id="179" name="Google Shape;179;p9"/>
          <p:cNvSpPr/>
          <p:nvPr/>
        </p:nvSpPr>
        <p:spPr>
          <a:xfrm>
            <a:off x="6263640" y="2697480"/>
            <a:ext cx="5349240" cy="105156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9"/>
          <p:cNvSpPr/>
          <p:nvPr/>
        </p:nvSpPr>
        <p:spPr>
          <a:xfrm>
            <a:off x="6263640" y="2697480"/>
            <a:ext cx="73152" cy="1051560"/>
          </a:xfrm>
          <a:prstGeom prst="rect">
            <a:avLst/>
          </a:prstGeom>
          <a:solidFill>
            <a:srgbClr val="0F4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9"/>
          <p:cNvSpPr/>
          <p:nvPr/>
        </p:nvSpPr>
        <p:spPr>
          <a:xfrm>
            <a:off x="6537960" y="2788920"/>
            <a:ext cx="4800600" cy="57835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4C3A"/>
              </a:buClr>
              <a:buSzPts val="2800"/>
              <a:buFont typeface="Georgia"/>
              <a:buNone/>
            </a:pPr>
            <a:r>
              <a:rPr b="1" i="0" lang="en-US" sz="2800" cap="none" strike="noStrike">
                <a:solidFill>
                  <a:srgbClr val="0F4C3A"/>
                </a:solidFill>
                <a:latin typeface="Georgia"/>
                <a:ea typeface="Georgia"/>
                <a:cs typeface="Georgia"/>
                <a:sym typeface="Georgia"/>
              </a:rPr>
              <a:t>15,603</a:t>
            </a:r>
            <a:endParaRPr b="0" i="0" sz="2800" cap="none" strike="noStrike">
              <a:solidFill>
                <a:schemeClr val="dk1"/>
              </a:solidFill>
              <a:latin typeface="Calibri"/>
              <a:ea typeface="Calibri"/>
              <a:cs typeface="Calibri"/>
              <a:sym typeface="Calibri"/>
            </a:endParaRPr>
          </a:p>
        </p:txBody>
      </p:sp>
      <p:sp>
        <p:nvSpPr>
          <p:cNvPr id="182" name="Google Shape;182;p9"/>
          <p:cNvSpPr/>
          <p:nvPr/>
        </p:nvSpPr>
        <p:spPr>
          <a:xfrm>
            <a:off x="6537960" y="3328416"/>
            <a:ext cx="480060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total injury records</a:t>
            </a:r>
            <a:endParaRPr b="0" i="0" sz="1200" u="none" cap="none" strike="noStrike">
              <a:solidFill>
                <a:schemeClr val="dk1"/>
              </a:solidFill>
              <a:latin typeface="Calibri"/>
              <a:ea typeface="Calibri"/>
              <a:cs typeface="Calibri"/>
              <a:sym typeface="Calibri"/>
            </a:endParaRPr>
          </a:p>
        </p:txBody>
      </p:sp>
      <p:sp>
        <p:nvSpPr>
          <p:cNvPr id="183" name="Google Shape;183;p9"/>
          <p:cNvSpPr/>
          <p:nvPr/>
        </p:nvSpPr>
        <p:spPr>
          <a:xfrm>
            <a:off x="6263640" y="3931920"/>
            <a:ext cx="5349240" cy="105156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9"/>
          <p:cNvSpPr/>
          <p:nvPr/>
        </p:nvSpPr>
        <p:spPr>
          <a:xfrm>
            <a:off x="6263640" y="3931920"/>
            <a:ext cx="73152" cy="1051560"/>
          </a:xfrm>
          <a:prstGeom prst="rect">
            <a:avLst/>
          </a:prstGeom>
          <a:solidFill>
            <a:srgbClr val="0F4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9"/>
          <p:cNvSpPr/>
          <p:nvPr/>
        </p:nvSpPr>
        <p:spPr>
          <a:xfrm>
            <a:off x="6537960" y="4023360"/>
            <a:ext cx="4800600" cy="57835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4C3A"/>
              </a:buClr>
              <a:buSzPts val="2800"/>
              <a:buFont typeface="Georgia"/>
              <a:buNone/>
            </a:pPr>
            <a:r>
              <a:rPr b="1" i="0" lang="en-US" sz="2800" u="none" cap="none" strike="noStrike">
                <a:solidFill>
                  <a:srgbClr val="0F4C3A"/>
                </a:solidFill>
                <a:latin typeface="Georgia"/>
                <a:ea typeface="Georgia"/>
                <a:cs typeface="Georgia"/>
                <a:sym typeface="Georgia"/>
              </a:rPr>
              <a:t>600+</a:t>
            </a:r>
            <a:endParaRPr b="0" i="0" sz="2800" u="none" cap="none" strike="noStrike">
              <a:solidFill>
                <a:schemeClr val="dk1"/>
              </a:solidFill>
              <a:latin typeface="Calibri"/>
              <a:ea typeface="Calibri"/>
              <a:cs typeface="Calibri"/>
              <a:sym typeface="Calibri"/>
            </a:endParaRPr>
          </a:p>
        </p:txBody>
      </p:sp>
      <p:sp>
        <p:nvSpPr>
          <p:cNvPr id="186" name="Google Shape;186;p9"/>
          <p:cNvSpPr/>
          <p:nvPr/>
        </p:nvSpPr>
        <p:spPr>
          <a:xfrm>
            <a:off x="6537960" y="4562856"/>
            <a:ext cx="480060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b="1" i="0" lang="en-US" sz="1200" u="none" cap="none" strike="noStrike">
                <a:solidFill>
                  <a:srgbClr val="64748B"/>
                </a:solidFill>
                <a:latin typeface="Calibri"/>
                <a:ea typeface="Calibri"/>
                <a:cs typeface="Calibri"/>
                <a:sym typeface="Calibri"/>
              </a:rPr>
              <a:t>unique </a:t>
            </a:r>
            <a:r>
              <a:rPr b="0" i="0" lang="en-US" sz="1200" u="none" cap="none" strike="noStrike">
                <a:solidFill>
                  <a:srgbClr val="64748B"/>
                </a:solidFill>
                <a:latin typeface="Calibri"/>
                <a:ea typeface="Calibri"/>
                <a:cs typeface="Calibri"/>
                <a:sym typeface="Calibri"/>
              </a:rPr>
              <a:t>players</a:t>
            </a:r>
            <a:endParaRPr b="0" i="0" sz="1200" u="none" cap="none" strike="noStrike">
              <a:solidFill>
                <a:schemeClr val="dk1"/>
              </a:solidFill>
              <a:latin typeface="Calibri"/>
              <a:ea typeface="Calibri"/>
              <a:cs typeface="Calibri"/>
              <a:sym typeface="Calibri"/>
            </a:endParaRPr>
          </a:p>
        </p:txBody>
      </p:sp>
      <p:sp>
        <p:nvSpPr>
          <p:cNvPr id="187" name="Google Shape;187;p9"/>
          <p:cNvSpPr/>
          <p:nvPr/>
        </p:nvSpPr>
        <p:spPr>
          <a:xfrm>
            <a:off x="6263640" y="5166360"/>
            <a:ext cx="5349240" cy="105156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9"/>
          <p:cNvSpPr/>
          <p:nvPr/>
        </p:nvSpPr>
        <p:spPr>
          <a:xfrm>
            <a:off x="6263640" y="5166360"/>
            <a:ext cx="73152" cy="1051560"/>
          </a:xfrm>
          <a:prstGeom prst="rect">
            <a:avLst/>
          </a:prstGeom>
          <a:solidFill>
            <a:srgbClr val="0F4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9"/>
          <p:cNvSpPr/>
          <p:nvPr/>
        </p:nvSpPr>
        <p:spPr>
          <a:xfrm>
            <a:off x="6537960" y="5257800"/>
            <a:ext cx="4800600" cy="57835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4C3A"/>
              </a:buClr>
              <a:buSzPts val="2800"/>
              <a:buFont typeface="Georgia"/>
              <a:buNone/>
            </a:pPr>
            <a:r>
              <a:rPr b="1" i="0" lang="en-US" sz="2800" u="none" cap="none" strike="noStrike">
                <a:solidFill>
                  <a:srgbClr val="0F4C3A"/>
                </a:solidFill>
                <a:latin typeface="Georgia"/>
                <a:ea typeface="Georgia"/>
                <a:cs typeface="Georgia"/>
                <a:sym typeface="Georgia"/>
              </a:rPr>
              <a:t>Multi-league</a:t>
            </a:r>
            <a:endParaRPr b="0" i="0" sz="2800" u="none" cap="none" strike="noStrike">
              <a:solidFill>
                <a:schemeClr val="dk1"/>
              </a:solidFill>
              <a:latin typeface="Calibri"/>
              <a:ea typeface="Calibri"/>
              <a:cs typeface="Calibri"/>
              <a:sym typeface="Calibri"/>
            </a:endParaRPr>
          </a:p>
        </p:txBody>
      </p:sp>
      <p:sp>
        <p:nvSpPr>
          <p:cNvPr id="190" name="Google Shape;190;p9"/>
          <p:cNvSpPr/>
          <p:nvPr/>
        </p:nvSpPr>
        <p:spPr>
          <a:xfrm>
            <a:off x="6537960" y="5797296"/>
            <a:ext cx="480060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EPL, La Liga, Bundesliga, Serie A</a:t>
            </a:r>
            <a:endParaRPr b="0" i="0" sz="1200" u="none" cap="none" strike="noStrike">
              <a:solidFill>
                <a:schemeClr val="dk1"/>
              </a:solidFill>
              <a:latin typeface="Calibri"/>
              <a:ea typeface="Calibri"/>
              <a:cs typeface="Calibri"/>
              <a:sym typeface="Calibri"/>
            </a:endParaRPr>
          </a:p>
        </p:txBody>
      </p:sp>
      <p:cxnSp>
        <p:nvCxnSpPr>
          <p:cNvPr id="191" name="Google Shape;191;p9"/>
          <p:cNvCxnSpPr/>
          <p:nvPr/>
        </p:nvCxnSpPr>
        <p:spPr>
          <a:xfrm>
            <a:off x="548640" y="6446520"/>
            <a:ext cx="11094415" cy="0"/>
          </a:xfrm>
          <a:prstGeom prst="straightConnector1">
            <a:avLst/>
          </a:prstGeom>
          <a:noFill/>
          <a:ln cap="flat" cmpd="sng" w="9525">
            <a:solidFill>
              <a:srgbClr val="E2E8F0"/>
            </a:solidFill>
            <a:prstDash val="solid"/>
            <a:round/>
            <a:headEnd len="sm" w="sm" type="none"/>
            <a:tailEnd len="sm" w="sm" type="none"/>
          </a:ln>
        </p:spPr>
      </p:cxnSp>
      <p:sp>
        <p:nvSpPr>
          <p:cNvPr id="192" name="Google Shape;192;p9"/>
          <p:cNvSpPr/>
          <p:nvPr/>
        </p:nvSpPr>
        <p:spPr>
          <a:xfrm>
            <a:off x="54864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BioBERT · Soccer Injury Severity Classification</a:t>
            </a:r>
            <a:endParaRPr b="0" i="0" sz="900" u="none" cap="none" strike="noStrike">
              <a:solidFill>
                <a:schemeClr val="dk1"/>
              </a:solidFill>
              <a:latin typeface="Calibri"/>
              <a:ea typeface="Calibri"/>
              <a:cs typeface="Calibri"/>
              <a:sym typeface="Calibri"/>
            </a:endParaRPr>
          </a:p>
        </p:txBody>
      </p:sp>
      <p:sp>
        <p:nvSpPr>
          <p:cNvPr id="193" name="Google Shape;193;p9"/>
          <p:cNvSpPr/>
          <p:nvPr/>
        </p:nvSpPr>
        <p:spPr>
          <a:xfrm>
            <a:off x="10728655" y="649224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7 / 16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8" name="Shape 198"/>
        <p:cNvGrpSpPr/>
        <p:nvPr/>
      </p:nvGrpSpPr>
      <p:grpSpPr>
        <a:xfrm>
          <a:off x="0" y="0"/>
          <a:ext cx="0" cy="0"/>
          <a:chOff x="0" y="0"/>
          <a:chExt cx="0" cy="0"/>
        </a:xfrm>
      </p:grpSpPr>
      <p:sp>
        <p:nvSpPr>
          <p:cNvPr id="199" name="Google Shape;199;p10"/>
          <p:cNvSpPr/>
          <p:nvPr/>
        </p:nvSpPr>
        <p:spPr>
          <a:xfrm>
            <a:off x="548640" y="45720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100"/>
              <a:buFont typeface="Calibri"/>
              <a:buNone/>
            </a:pPr>
            <a:r>
              <a:rPr b="1" i="0" lang="en-US" sz="1100" u="none" cap="none" strike="noStrike">
                <a:solidFill>
                  <a:srgbClr val="B45309"/>
                </a:solidFill>
                <a:latin typeface="Calibri"/>
                <a:ea typeface="Calibri"/>
                <a:cs typeface="Calibri"/>
                <a:sym typeface="Calibri"/>
              </a:rPr>
              <a:t>07  ·  PROCESS</a:t>
            </a:r>
            <a:endParaRPr b="0" i="0" sz="1100" u="none" cap="none" strike="noStrike">
              <a:solidFill>
                <a:schemeClr val="dk1"/>
              </a:solidFill>
              <a:latin typeface="Calibri"/>
              <a:ea typeface="Calibri"/>
              <a:cs typeface="Calibri"/>
              <a:sym typeface="Calibri"/>
            </a:endParaRPr>
          </a:p>
        </p:txBody>
      </p:sp>
      <p:sp>
        <p:nvSpPr>
          <p:cNvPr id="200" name="Google Shape;200;p10"/>
          <p:cNvSpPr/>
          <p:nvPr/>
        </p:nvSpPr>
        <p:spPr>
          <a:xfrm>
            <a:off x="548640" y="77724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3200"/>
              <a:buFont typeface="Georgia"/>
              <a:buNone/>
            </a:pPr>
            <a:r>
              <a:rPr b="1" i="0" lang="en-US" sz="3200" u="none" cap="none" strike="noStrike">
                <a:solidFill>
                  <a:srgbClr val="1E293B"/>
                </a:solidFill>
                <a:latin typeface="Georgia"/>
                <a:ea typeface="Georgia"/>
                <a:cs typeface="Georgia"/>
                <a:sym typeface="Georgia"/>
              </a:rPr>
              <a:t>End-to-end pipeline overview</a:t>
            </a:r>
            <a:endParaRPr b="0" i="0" sz="3200" u="none" cap="none" strike="noStrike">
              <a:solidFill>
                <a:schemeClr val="dk1"/>
              </a:solidFill>
              <a:latin typeface="Calibri"/>
              <a:ea typeface="Calibri"/>
              <a:cs typeface="Calibri"/>
              <a:sym typeface="Calibri"/>
            </a:endParaRPr>
          </a:p>
        </p:txBody>
      </p:sp>
      <p:sp>
        <p:nvSpPr>
          <p:cNvPr id="201" name="Google Shape;201;p10"/>
          <p:cNvSpPr/>
          <p:nvPr/>
        </p:nvSpPr>
        <p:spPr>
          <a:xfrm>
            <a:off x="350750" y="1521100"/>
            <a:ext cx="3704100" cy="47883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0"/>
          <p:cNvSpPr/>
          <p:nvPr/>
        </p:nvSpPr>
        <p:spPr>
          <a:xfrm>
            <a:off x="350750" y="1521100"/>
            <a:ext cx="3704100" cy="728700"/>
          </a:xfrm>
          <a:prstGeom prst="rect">
            <a:avLst/>
          </a:prstGeom>
          <a:solidFill>
            <a:srgbClr val="0F4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0"/>
          <p:cNvSpPr/>
          <p:nvPr/>
        </p:nvSpPr>
        <p:spPr>
          <a:xfrm>
            <a:off x="634859" y="1521100"/>
            <a:ext cx="3135600" cy="72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 DATA PREPARATION</a:t>
            </a:r>
            <a:endParaRPr b="0" i="0" sz="1300" u="none" cap="none" strike="noStrike">
              <a:solidFill>
                <a:schemeClr val="dk1"/>
              </a:solidFill>
              <a:latin typeface="Calibri"/>
              <a:ea typeface="Calibri"/>
              <a:cs typeface="Calibri"/>
              <a:sym typeface="Calibri"/>
            </a:endParaRPr>
          </a:p>
        </p:txBody>
      </p:sp>
      <p:sp>
        <p:nvSpPr>
          <p:cNvPr id="204" name="Google Shape;204;p10"/>
          <p:cNvSpPr/>
          <p:nvPr/>
        </p:nvSpPr>
        <p:spPr>
          <a:xfrm>
            <a:off x="634859" y="2551612"/>
            <a:ext cx="283800" cy="312300"/>
          </a:xfrm>
          <a:prstGeom prst="ellipse">
            <a:avLst/>
          </a:prstGeom>
          <a:solidFill>
            <a:srgbClr val="0F4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0"/>
          <p:cNvSpPr/>
          <p:nvPr/>
        </p:nvSpPr>
        <p:spPr>
          <a:xfrm>
            <a:off x="634859" y="2551612"/>
            <a:ext cx="283800" cy="31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206" name="Google Shape;206;p10"/>
          <p:cNvSpPr/>
          <p:nvPr/>
        </p:nvSpPr>
        <p:spPr>
          <a:xfrm>
            <a:off x="1013670" y="2509975"/>
            <a:ext cx="2804100" cy="41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Label raw data</a:t>
            </a:r>
            <a:endParaRPr b="0" i="0" sz="1200" u="none" cap="none" strike="noStrike">
              <a:solidFill>
                <a:schemeClr val="dk1"/>
              </a:solidFill>
              <a:latin typeface="Calibri"/>
              <a:ea typeface="Calibri"/>
              <a:cs typeface="Calibri"/>
              <a:sym typeface="Calibri"/>
            </a:endParaRPr>
          </a:p>
        </p:txBody>
      </p:sp>
      <p:sp>
        <p:nvSpPr>
          <p:cNvPr id="207" name="Google Shape;207;p10"/>
          <p:cNvSpPr/>
          <p:nvPr/>
        </p:nvSpPr>
        <p:spPr>
          <a:xfrm>
            <a:off x="634859" y="3228211"/>
            <a:ext cx="283800" cy="312300"/>
          </a:xfrm>
          <a:prstGeom prst="ellipse">
            <a:avLst/>
          </a:prstGeom>
          <a:solidFill>
            <a:srgbClr val="0F4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0"/>
          <p:cNvSpPr/>
          <p:nvPr/>
        </p:nvSpPr>
        <p:spPr>
          <a:xfrm>
            <a:off x="634859" y="3228211"/>
            <a:ext cx="283800" cy="31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209" name="Google Shape;209;p10"/>
          <p:cNvSpPr/>
          <p:nvPr/>
        </p:nvSpPr>
        <p:spPr>
          <a:xfrm>
            <a:off x="1013670" y="3186574"/>
            <a:ext cx="2804100" cy="41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Create severity labels (1–5)</a:t>
            </a:r>
            <a:endParaRPr b="0" i="0" sz="1200" u="none" cap="none" strike="noStrike">
              <a:solidFill>
                <a:schemeClr val="dk1"/>
              </a:solidFill>
              <a:latin typeface="Calibri"/>
              <a:ea typeface="Calibri"/>
              <a:cs typeface="Calibri"/>
              <a:sym typeface="Calibri"/>
            </a:endParaRPr>
          </a:p>
        </p:txBody>
      </p:sp>
      <p:sp>
        <p:nvSpPr>
          <p:cNvPr id="210" name="Google Shape;210;p10"/>
          <p:cNvSpPr/>
          <p:nvPr/>
        </p:nvSpPr>
        <p:spPr>
          <a:xfrm>
            <a:off x="634859" y="3904810"/>
            <a:ext cx="283800" cy="312300"/>
          </a:xfrm>
          <a:prstGeom prst="ellipse">
            <a:avLst/>
          </a:prstGeom>
          <a:solidFill>
            <a:srgbClr val="0F4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0"/>
          <p:cNvSpPr/>
          <p:nvPr/>
        </p:nvSpPr>
        <p:spPr>
          <a:xfrm>
            <a:off x="634859" y="3904810"/>
            <a:ext cx="283800" cy="31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212" name="Google Shape;212;p10"/>
          <p:cNvSpPr/>
          <p:nvPr/>
        </p:nvSpPr>
        <p:spPr>
          <a:xfrm>
            <a:off x="1013670" y="3863173"/>
            <a:ext cx="2804100" cy="41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Distribute by class</a:t>
            </a:r>
            <a:endParaRPr b="0" i="0" sz="1200" u="none" cap="none" strike="noStrike">
              <a:solidFill>
                <a:schemeClr val="dk1"/>
              </a:solidFill>
              <a:latin typeface="Calibri"/>
              <a:ea typeface="Calibri"/>
              <a:cs typeface="Calibri"/>
              <a:sym typeface="Calibri"/>
            </a:endParaRPr>
          </a:p>
        </p:txBody>
      </p:sp>
      <p:sp>
        <p:nvSpPr>
          <p:cNvPr id="213" name="Google Shape;213;p10"/>
          <p:cNvSpPr/>
          <p:nvPr/>
        </p:nvSpPr>
        <p:spPr>
          <a:xfrm>
            <a:off x="634859" y="4581408"/>
            <a:ext cx="283800" cy="312300"/>
          </a:xfrm>
          <a:prstGeom prst="ellipse">
            <a:avLst/>
          </a:prstGeom>
          <a:solidFill>
            <a:srgbClr val="0F4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0"/>
          <p:cNvSpPr/>
          <p:nvPr/>
        </p:nvSpPr>
        <p:spPr>
          <a:xfrm>
            <a:off x="634859" y="4581408"/>
            <a:ext cx="283800" cy="31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215" name="Google Shape;215;p10"/>
          <p:cNvSpPr/>
          <p:nvPr/>
        </p:nvSpPr>
        <p:spPr>
          <a:xfrm>
            <a:off x="1013670" y="4539771"/>
            <a:ext cx="2804100" cy="41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Clean injury text</a:t>
            </a:r>
            <a:endParaRPr b="0" i="0" sz="1200" u="none" cap="none" strike="noStrike">
              <a:solidFill>
                <a:schemeClr val="dk1"/>
              </a:solidFill>
              <a:latin typeface="Calibri"/>
              <a:ea typeface="Calibri"/>
              <a:cs typeface="Calibri"/>
              <a:sym typeface="Calibri"/>
            </a:endParaRPr>
          </a:p>
        </p:txBody>
      </p:sp>
      <p:sp>
        <p:nvSpPr>
          <p:cNvPr id="216" name="Google Shape;216;p10"/>
          <p:cNvSpPr/>
          <p:nvPr/>
        </p:nvSpPr>
        <p:spPr>
          <a:xfrm>
            <a:off x="634859" y="5258007"/>
            <a:ext cx="283800" cy="312300"/>
          </a:xfrm>
          <a:prstGeom prst="ellipse">
            <a:avLst/>
          </a:prstGeom>
          <a:solidFill>
            <a:srgbClr val="0F4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0"/>
          <p:cNvSpPr/>
          <p:nvPr/>
        </p:nvSpPr>
        <p:spPr>
          <a:xfrm>
            <a:off x="634859" y="5258007"/>
            <a:ext cx="283800" cy="31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5</a:t>
            </a:r>
            <a:endParaRPr b="0" i="0" sz="1100" u="none" cap="none" strike="noStrike">
              <a:solidFill>
                <a:schemeClr val="dk1"/>
              </a:solidFill>
              <a:latin typeface="Calibri"/>
              <a:ea typeface="Calibri"/>
              <a:cs typeface="Calibri"/>
              <a:sym typeface="Calibri"/>
            </a:endParaRPr>
          </a:p>
        </p:txBody>
      </p:sp>
      <p:sp>
        <p:nvSpPr>
          <p:cNvPr id="218" name="Google Shape;218;p10"/>
          <p:cNvSpPr/>
          <p:nvPr/>
        </p:nvSpPr>
        <p:spPr>
          <a:xfrm>
            <a:off x="1013670" y="5216370"/>
            <a:ext cx="2804100" cy="41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Stratified train/val/test split</a:t>
            </a:r>
            <a:endParaRPr b="0" i="0" sz="1200" u="none" cap="none" strike="noStrike">
              <a:solidFill>
                <a:schemeClr val="dk1"/>
              </a:solidFill>
              <a:latin typeface="Calibri"/>
              <a:ea typeface="Calibri"/>
              <a:cs typeface="Calibri"/>
              <a:sym typeface="Calibri"/>
            </a:endParaRPr>
          </a:p>
        </p:txBody>
      </p:sp>
      <p:sp>
        <p:nvSpPr>
          <p:cNvPr id="219" name="Google Shape;219;p10"/>
          <p:cNvSpPr/>
          <p:nvPr/>
        </p:nvSpPr>
        <p:spPr>
          <a:xfrm>
            <a:off x="4243984" y="1521100"/>
            <a:ext cx="3704100" cy="47883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0"/>
          <p:cNvSpPr/>
          <p:nvPr/>
        </p:nvSpPr>
        <p:spPr>
          <a:xfrm>
            <a:off x="4243984" y="1521100"/>
            <a:ext cx="3704100" cy="728700"/>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0"/>
          <p:cNvSpPr/>
          <p:nvPr/>
        </p:nvSpPr>
        <p:spPr>
          <a:xfrm>
            <a:off x="4528093" y="1521100"/>
            <a:ext cx="3135600" cy="72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 MODEL TRAINING</a:t>
            </a:r>
            <a:endParaRPr b="0" i="0" sz="1300" u="none" cap="none" strike="noStrike">
              <a:solidFill>
                <a:schemeClr val="dk1"/>
              </a:solidFill>
              <a:latin typeface="Calibri"/>
              <a:ea typeface="Calibri"/>
              <a:cs typeface="Calibri"/>
              <a:sym typeface="Calibri"/>
            </a:endParaRPr>
          </a:p>
        </p:txBody>
      </p:sp>
      <p:sp>
        <p:nvSpPr>
          <p:cNvPr id="222" name="Google Shape;222;p10"/>
          <p:cNvSpPr/>
          <p:nvPr/>
        </p:nvSpPr>
        <p:spPr>
          <a:xfrm>
            <a:off x="4528093" y="2551612"/>
            <a:ext cx="283800" cy="312300"/>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0"/>
          <p:cNvSpPr/>
          <p:nvPr/>
        </p:nvSpPr>
        <p:spPr>
          <a:xfrm>
            <a:off x="4528093" y="2551612"/>
            <a:ext cx="283800" cy="31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224" name="Google Shape;224;p10"/>
          <p:cNvSpPr/>
          <p:nvPr/>
        </p:nvSpPr>
        <p:spPr>
          <a:xfrm>
            <a:off x="4906904" y="2509975"/>
            <a:ext cx="2804100" cy="41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Tokenize for BioBERT</a:t>
            </a:r>
            <a:endParaRPr b="0" i="0" sz="1200" u="none" cap="none" strike="noStrike">
              <a:solidFill>
                <a:schemeClr val="dk1"/>
              </a:solidFill>
              <a:latin typeface="Calibri"/>
              <a:ea typeface="Calibri"/>
              <a:cs typeface="Calibri"/>
              <a:sym typeface="Calibri"/>
            </a:endParaRPr>
          </a:p>
        </p:txBody>
      </p:sp>
      <p:sp>
        <p:nvSpPr>
          <p:cNvPr id="225" name="Google Shape;225;p10"/>
          <p:cNvSpPr/>
          <p:nvPr/>
        </p:nvSpPr>
        <p:spPr>
          <a:xfrm>
            <a:off x="4528093" y="3228211"/>
            <a:ext cx="283800" cy="312300"/>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0"/>
          <p:cNvSpPr/>
          <p:nvPr/>
        </p:nvSpPr>
        <p:spPr>
          <a:xfrm>
            <a:off x="4528093" y="3228211"/>
            <a:ext cx="283800" cy="31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227" name="Google Shape;227;p10"/>
          <p:cNvSpPr/>
          <p:nvPr/>
        </p:nvSpPr>
        <p:spPr>
          <a:xfrm>
            <a:off x="4906904" y="3186574"/>
            <a:ext cx="2804100" cy="41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Build PyTorch dataset</a:t>
            </a:r>
            <a:endParaRPr b="0" i="0" sz="1200" u="none" cap="none" strike="noStrike">
              <a:solidFill>
                <a:schemeClr val="dk1"/>
              </a:solidFill>
              <a:latin typeface="Calibri"/>
              <a:ea typeface="Calibri"/>
              <a:cs typeface="Calibri"/>
              <a:sym typeface="Calibri"/>
            </a:endParaRPr>
          </a:p>
        </p:txBody>
      </p:sp>
      <p:sp>
        <p:nvSpPr>
          <p:cNvPr id="228" name="Google Shape;228;p10"/>
          <p:cNvSpPr/>
          <p:nvPr/>
        </p:nvSpPr>
        <p:spPr>
          <a:xfrm>
            <a:off x="4528093" y="3904810"/>
            <a:ext cx="283800" cy="312300"/>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0"/>
          <p:cNvSpPr/>
          <p:nvPr/>
        </p:nvSpPr>
        <p:spPr>
          <a:xfrm>
            <a:off x="4528093" y="3904810"/>
            <a:ext cx="283800" cy="31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230" name="Google Shape;230;p10"/>
          <p:cNvSpPr/>
          <p:nvPr/>
        </p:nvSpPr>
        <p:spPr>
          <a:xfrm>
            <a:off x="4906904" y="3863173"/>
            <a:ext cx="2804100" cy="41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Load BioBERT weights</a:t>
            </a:r>
            <a:endParaRPr b="0" i="0" sz="1200" u="none" cap="none" strike="noStrike">
              <a:solidFill>
                <a:schemeClr val="dk1"/>
              </a:solidFill>
              <a:latin typeface="Calibri"/>
              <a:ea typeface="Calibri"/>
              <a:cs typeface="Calibri"/>
              <a:sym typeface="Calibri"/>
            </a:endParaRPr>
          </a:p>
        </p:txBody>
      </p:sp>
      <p:sp>
        <p:nvSpPr>
          <p:cNvPr id="231" name="Google Shape;231;p10"/>
          <p:cNvSpPr/>
          <p:nvPr/>
        </p:nvSpPr>
        <p:spPr>
          <a:xfrm>
            <a:off x="4528093" y="4581408"/>
            <a:ext cx="283800" cy="312300"/>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0"/>
          <p:cNvSpPr/>
          <p:nvPr/>
        </p:nvSpPr>
        <p:spPr>
          <a:xfrm>
            <a:off x="4528093" y="4581408"/>
            <a:ext cx="283800" cy="31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233" name="Google Shape;233;p10"/>
          <p:cNvSpPr/>
          <p:nvPr/>
        </p:nvSpPr>
        <p:spPr>
          <a:xfrm>
            <a:off x="4906904" y="4539771"/>
            <a:ext cx="2804100" cy="41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Configure training args</a:t>
            </a:r>
            <a:endParaRPr b="0" i="0" sz="1200" u="none" cap="none" strike="noStrike">
              <a:solidFill>
                <a:schemeClr val="dk1"/>
              </a:solidFill>
              <a:latin typeface="Calibri"/>
              <a:ea typeface="Calibri"/>
              <a:cs typeface="Calibri"/>
              <a:sym typeface="Calibri"/>
            </a:endParaRPr>
          </a:p>
        </p:txBody>
      </p:sp>
      <p:sp>
        <p:nvSpPr>
          <p:cNvPr id="234" name="Google Shape;234;p10"/>
          <p:cNvSpPr/>
          <p:nvPr/>
        </p:nvSpPr>
        <p:spPr>
          <a:xfrm>
            <a:off x="4528093" y="5258007"/>
            <a:ext cx="283800" cy="312300"/>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0"/>
          <p:cNvSpPr/>
          <p:nvPr/>
        </p:nvSpPr>
        <p:spPr>
          <a:xfrm>
            <a:off x="4528093" y="5258007"/>
            <a:ext cx="283800" cy="31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5</a:t>
            </a:r>
            <a:endParaRPr b="0" i="0" sz="1100" u="none" cap="none" strike="noStrike">
              <a:solidFill>
                <a:schemeClr val="dk1"/>
              </a:solidFill>
              <a:latin typeface="Calibri"/>
              <a:ea typeface="Calibri"/>
              <a:cs typeface="Calibri"/>
              <a:sym typeface="Calibri"/>
            </a:endParaRPr>
          </a:p>
        </p:txBody>
      </p:sp>
      <p:sp>
        <p:nvSpPr>
          <p:cNvPr id="236" name="Google Shape;236;p10"/>
          <p:cNvSpPr/>
          <p:nvPr/>
        </p:nvSpPr>
        <p:spPr>
          <a:xfrm>
            <a:off x="4906904" y="5216370"/>
            <a:ext cx="2804100" cy="41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Fine-tune on labeled data</a:t>
            </a:r>
            <a:endParaRPr b="0" i="0" sz="1200" u="none" cap="none" strike="noStrike">
              <a:solidFill>
                <a:schemeClr val="dk1"/>
              </a:solidFill>
              <a:latin typeface="Calibri"/>
              <a:ea typeface="Calibri"/>
              <a:cs typeface="Calibri"/>
              <a:sym typeface="Calibri"/>
            </a:endParaRPr>
          </a:p>
        </p:txBody>
      </p:sp>
      <p:sp>
        <p:nvSpPr>
          <p:cNvPr id="237" name="Google Shape;237;p10"/>
          <p:cNvSpPr/>
          <p:nvPr/>
        </p:nvSpPr>
        <p:spPr>
          <a:xfrm>
            <a:off x="8137219" y="1521100"/>
            <a:ext cx="3704100" cy="47883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0"/>
          <p:cNvSpPr/>
          <p:nvPr/>
        </p:nvSpPr>
        <p:spPr>
          <a:xfrm>
            <a:off x="8137219" y="1521100"/>
            <a:ext cx="3704100" cy="728700"/>
          </a:xfrm>
          <a:prstGeom prst="rect">
            <a:avLst/>
          </a:prstGeom>
          <a:solidFill>
            <a:srgbClr val="1E2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0"/>
          <p:cNvSpPr/>
          <p:nvPr/>
        </p:nvSpPr>
        <p:spPr>
          <a:xfrm>
            <a:off x="8421328" y="1521100"/>
            <a:ext cx="3135600" cy="72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 EVALUATION &amp; DEPLOY</a:t>
            </a:r>
            <a:endParaRPr b="0" i="0" sz="1300" u="none" cap="none" strike="noStrike">
              <a:solidFill>
                <a:schemeClr val="dk1"/>
              </a:solidFill>
              <a:latin typeface="Calibri"/>
              <a:ea typeface="Calibri"/>
              <a:cs typeface="Calibri"/>
              <a:sym typeface="Calibri"/>
            </a:endParaRPr>
          </a:p>
        </p:txBody>
      </p:sp>
      <p:sp>
        <p:nvSpPr>
          <p:cNvPr id="240" name="Google Shape;240;p10"/>
          <p:cNvSpPr/>
          <p:nvPr/>
        </p:nvSpPr>
        <p:spPr>
          <a:xfrm>
            <a:off x="8421328" y="2551612"/>
            <a:ext cx="283800" cy="312300"/>
          </a:xfrm>
          <a:prstGeom prst="ellipse">
            <a:avLst/>
          </a:prstGeom>
          <a:solidFill>
            <a:srgbClr val="1E2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0"/>
          <p:cNvSpPr/>
          <p:nvPr/>
        </p:nvSpPr>
        <p:spPr>
          <a:xfrm>
            <a:off x="8421328" y="2551612"/>
            <a:ext cx="283800" cy="31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242" name="Google Shape;242;p10"/>
          <p:cNvSpPr/>
          <p:nvPr/>
        </p:nvSpPr>
        <p:spPr>
          <a:xfrm>
            <a:off x="8800139" y="2509975"/>
            <a:ext cx="2804100" cy="41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Define evaluation metrics</a:t>
            </a:r>
            <a:endParaRPr b="0" i="0" sz="1200" u="none" cap="none" strike="noStrike">
              <a:solidFill>
                <a:schemeClr val="dk1"/>
              </a:solidFill>
              <a:latin typeface="Calibri"/>
              <a:ea typeface="Calibri"/>
              <a:cs typeface="Calibri"/>
              <a:sym typeface="Calibri"/>
            </a:endParaRPr>
          </a:p>
        </p:txBody>
      </p:sp>
      <p:sp>
        <p:nvSpPr>
          <p:cNvPr id="243" name="Google Shape;243;p10"/>
          <p:cNvSpPr/>
          <p:nvPr/>
        </p:nvSpPr>
        <p:spPr>
          <a:xfrm>
            <a:off x="8421328" y="3228211"/>
            <a:ext cx="283800" cy="312300"/>
          </a:xfrm>
          <a:prstGeom prst="ellipse">
            <a:avLst/>
          </a:prstGeom>
          <a:solidFill>
            <a:srgbClr val="1E2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0"/>
          <p:cNvSpPr/>
          <p:nvPr/>
        </p:nvSpPr>
        <p:spPr>
          <a:xfrm>
            <a:off x="8421328" y="3228211"/>
            <a:ext cx="283800" cy="31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245" name="Google Shape;245;p10"/>
          <p:cNvSpPr/>
          <p:nvPr/>
        </p:nvSpPr>
        <p:spPr>
          <a:xfrm>
            <a:off x="8800139" y="3186574"/>
            <a:ext cx="2804100" cy="41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Evaluate on held-out test</a:t>
            </a:r>
            <a:endParaRPr b="0" i="0" sz="1200" u="none" cap="none" strike="noStrike">
              <a:solidFill>
                <a:schemeClr val="dk1"/>
              </a:solidFill>
              <a:latin typeface="Calibri"/>
              <a:ea typeface="Calibri"/>
              <a:cs typeface="Calibri"/>
              <a:sym typeface="Calibri"/>
            </a:endParaRPr>
          </a:p>
        </p:txBody>
      </p:sp>
      <p:sp>
        <p:nvSpPr>
          <p:cNvPr id="246" name="Google Shape;246;p10"/>
          <p:cNvSpPr/>
          <p:nvPr/>
        </p:nvSpPr>
        <p:spPr>
          <a:xfrm>
            <a:off x="8421328" y="3904810"/>
            <a:ext cx="283800" cy="312300"/>
          </a:xfrm>
          <a:prstGeom prst="ellipse">
            <a:avLst/>
          </a:prstGeom>
          <a:solidFill>
            <a:srgbClr val="1E2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0"/>
          <p:cNvSpPr/>
          <p:nvPr/>
        </p:nvSpPr>
        <p:spPr>
          <a:xfrm>
            <a:off x="8421328" y="3904810"/>
            <a:ext cx="283800" cy="31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248" name="Google Shape;248;p10"/>
          <p:cNvSpPr/>
          <p:nvPr/>
        </p:nvSpPr>
        <p:spPr>
          <a:xfrm>
            <a:off x="8800139" y="3863173"/>
            <a:ext cx="2804100" cy="41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Analyze per-class errors</a:t>
            </a:r>
            <a:endParaRPr b="0" i="0" sz="1200" u="none" cap="none" strike="noStrike">
              <a:solidFill>
                <a:schemeClr val="dk1"/>
              </a:solidFill>
              <a:latin typeface="Calibri"/>
              <a:ea typeface="Calibri"/>
              <a:cs typeface="Calibri"/>
              <a:sym typeface="Calibri"/>
            </a:endParaRPr>
          </a:p>
        </p:txBody>
      </p:sp>
      <p:sp>
        <p:nvSpPr>
          <p:cNvPr id="249" name="Google Shape;249;p10"/>
          <p:cNvSpPr/>
          <p:nvPr/>
        </p:nvSpPr>
        <p:spPr>
          <a:xfrm>
            <a:off x="8421328" y="4581408"/>
            <a:ext cx="283800" cy="312300"/>
          </a:xfrm>
          <a:prstGeom prst="ellipse">
            <a:avLst/>
          </a:prstGeom>
          <a:solidFill>
            <a:srgbClr val="1E2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0"/>
          <p:cNvSpPr/>
          <p:nvPr/>
        </p:nvSpPr>
        <p:spPr>
          <a:xfrm>
            <a:off x="8421328" y="4581408"/>
            <a:ext cx="283800" cy="31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251" name="Google Shape;251;p10"/>
          <p:cNvSpPr/>
          <p:nvPr/>
        </p:nvSpPr>
        <p:spPr>
          <a:xfrm>
            <a:off x="8800139" y="4539771"/>
            <a:ext cx="2804100" cy="41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Save model checkpoint</a:t>
            </a:r>
            <a:endParaRPr b="0" i="0" sz="1200" u="none" cap="none" strike="noStrike">
              <a:solidFill>
                <a:schemeClr val="dk1"/>
              </a:solidFill>
              <a:latin typeface="Calibri"/>
              <a:ea typeface="Calibri"/>
              <a:cs typeface="Calibri"/>
              <a:sym typeface="Calibri"/>
            </a:endParaRPr>
          </a:p>
        </p:txBody>
      </p:sp>
      <p:sp>
        <p:nvSpPr>
          <p:cNvPr id="252" name="Google Shape;252;p10"/>
          <p:cNvSpPr/>
          <p:nvPr/>
        </p:nvSpPr>
        <p:spPr>
          <a:xfrm>
            <a:off x="8421328" y="5258007"/>
            <a:ext cx="283800" cy="312300"/>
          </a:xfrm>
          <a:prstGeom prst="ellipse">
            <a:avLst/>
          </a:prstGeom>
          <a:solidFill>
            <a:srgbClr val="1E2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0"/>
          <p:cNvSpPr/>
          <p:nvPr/>
        </p:nvSpPr>
        <p:spPr>
          <a:xfrm>
            <a:off x="8421328" y="5258007"/>
            <a:ext cx="283800" cy="31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5</a:t>
            </a:r>
            <a:endParaRPr b="0" i="0" sz="1100" u="none" cap="none" strike="noStrike">
              <a:solidFill>
                <a:schemeClr val="dk1"/>
              </a:solidFill>
              <a:latin typeface="Calibri"/>
              <a:ea typeface="Calibri"/>
              <a:cs typeface="Calibri"/>
              <a:sym typeface="Calibri"/>
            </a:endParaRPr>
          </a:p>
        </p:txBody>
      </p:sp>
      <p:sp>
        <p:nvSpPr>
          <p:cNvPr id="254" name="Google Shape;254;p10"/>
          <p:cNvSpPr/>
          <p:nvPr/>
        </p:nvSpPr>
        <p:spPr>
          <a:xfrm>
            <a:off x="8800139" y="5216370"/>
            <a:ext cx="2804100" cy="41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Test on </a:t>
            </a:r>
            <a:r>
              <a:rPr lang="en-US" sz="1200">
                <a:solidFill>
                  <a:srgbClr val="1E293B"/>
                </a:solidFill>
                <a:latin typeface="Calibri"/>
                <a:ea typeface="Calibri"/>
                <a:cs typeface="Calibri"/>
                <a:sym typeface="Calibri"/>
              </a:rPr>
              <a:t>new </a:t>
            </a:r>
            <a:r>
              <a:rPr b="0" i="0" lang="en-US" sz="1200" u="none" cap="none" strike="noStrike">
                <a:solidFill>
                  <a:srgbClr val="1E293B"/>
                </a:solidFill>
                <a:latin typeface="Calibri"/>
                <a:ea typeface="Calibri"/>
                <a:cs typeface="Calibri"/>
                <a:sym typeface="Calibri"/>
              </a:rPr>
              <a:t>injuries</a:t>
            </a:r>
            <a:endParaRPr b="0" i="0" sz="1200" u="none" cap="none" strike="noStrike">
              <a:solidFill>
                <a:schemeClr val="dk1"/>
              </a:solidFill>
              <a:latin typeface="Calibri"/>
              <a:ea typeface="Calibri"/>
              <a:cs typeface="Calibri"/>
              <a:sym typeface="Calibri"/>
            </a:endParaRPr>
          </a:p>
        </p:txBody>
      </p:sp>
      <p:cxnSp>
        <p:nvCxnSpPr>
          <p:cNvPr id="255" name="Google Shape;255;p10"/>
          <p:cNvCxnSpPr/>
          <p:nvPr/>
        </p:nvCxnSpPr>
        <p:spPr>
          <a:xfrm>
            <a:off x="548640" y="6446520"/>
            <a:ext cx="11094415" cy="0"/>
          </a:xfrm>
          <a:prstGeom prst="straightConnector1">
            <a:avLst/>
          </a:prstGeom>
          <a:noFill/>
          <a:ln cap="flat" cmpd="sng" w="9525">
            <a:solidFill>
              <a:srgbClr val="E2E8F0"/>
            </a:solidFill>
            <a:prstDash val="solid"/>
            <a:round/>
            <a:headEnd len="sm" w="sm" type="none"/>
            <a:tailEnd len="sm" w="sm" type="none"/>
          </a:ln>
        </p:spPr>
      </p:cxnSp>
      <p:sp>
        <p:nvSpPr>
          <p:cNvPr id="256" name="Google Shape;256;p10"/>
          <p:cNvSpPr/>
          <p:nvPr/>
        </p:nvSpPr>
        <p:spPr>
          <a:xfrm>
            <a:off x="54864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BioBERT · Soccer Injury Severity Classification</a:t>
            </a:r>
            <a:endParaRPr b="0" i="0" sz="900" u="none" cap="none" strike="noStrike">
              <a:solidFill>
                <a:schemeClr val="dk1"/>
              </a:solidFill>
              <a:latin typeface="Calibri"/>
              <a:ea typeface="Calibri"/>
              <a:cs typeface="Calibri"/>
              <a:sym typeface="Calibri"/>
            </a:endParaRPr>
          </a:p>
        </p:txBody>
      </p:sp>
      <p:sp>
        <p:nvSpPr>
          <p:cNvPr id="257" name="Google Shape;257;p10"/>
          <p:cNvSpPr/>
          <p:nvPr/>
        </p:nvSpPr>
        <p:spPr>
          <a:xfrm>
            <a:off x="10728655" y="649224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8 / 16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2" name="Shape 262"/>
        <p:cNvGrpSpPr/>
        <p:nvPr/>
      </p:nvGrpSpPr>
      <p:grpSpPr>
        <a:xfrm>
          <a:off x="0" y="0"/>
          <a:ext cx="0" cy="0"/>
          <a:chOff x="0" y="0"/>
          <a:chExt cx="0" cy="0"/>
        </a:xfrm>
      </p:grpSpPr>
      <p:sp>
        <p:nvSpPr>
          <p:cNvPr id="263" name="Google Shape;263;p11"/>
          <p:cNvSpPr/>
          <p:nvPr/>
        </p:nvSpPr>
        <p:spPr>
          <a:xfrm>
            <a:off x="548640" y="45720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100"/>
              <a:buFont typeface="Calibri"/>
              <a:buNone/>
            </a:pPr>
            <a:r>
              <a:rPr b="1" i="0" lang="en-US" sz="1100" u="none" cap="none" strike="noStrike">
                <a:solidFill>
                  <a:srgbClr val="B45309"/>
                </a:solidFill>
                <a:latin typeface="Calibri"/>
                <a:ea typeface="Calibri"/>
                <a:cs typeface="Calibri"/>
                <a:sym typeface="Calibri"/>
              </a:rPr>
              <a:t>08  ·  PROCESS DEEP-DIVE</a:t>
            </a:r>
            <a:endParaRPr b="0" i="0" sz="1100" u="none" cap="none" strike="noStrike">
              <a:solidFill>
                <a:schemeClr val="dk1"/>
              </a:solidFill>
              <a:latin typeface="Calibri"/>
              <a:ea typeface="Calibri"/>
              <a:cs typeface="Calibri"/>
              <a:sym typeface="Calibri"/>
            </a:endParaRPr>
          </a:p>
        </p:txBody>
      </p:sp>
      <p:sp>
        <p:nvSpPr>
          <p:cNvPr id="264" name="Google Shape;264;p11"/>
          <p:cNvSpPr/>
          <p:nvPr/>
        </p:nvSpPr>
        <p:spPr>
          <a:xfrm>
            <a:off x="548640" y="77724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3200"/>
              <a:buFont typeface="Georgia"/>
              <a:buNone/>
            </a:pPr>
            <a:r>
              <a:rPr b="1" i="0" lang="en-US" sz="3200" u="none" cap="none" strike="noStrike">
                <a:solidFill>
                  <a:srgbClr val="1E293B"/>
                </a:solidFill>
                <a:latin typeface="Georgia"/>
                <a:ea typeface="Georgia"/>
                <a:cs typeface="Georgia"/>
                <a:sym typeface="Georgia"/>
              </a:rPr>
              <a:t>Why an 80/10/10 </a:t>
            </a:r>
            <a:r>
              <a:rPr b="1" lang="en-US" sz="3200">
                <a:solidFill>
                  <a:srgbClr val="1E293B"/>
                </a:solidFill>
                <a:latin typeface="Georgia"/>
                <a:ea typeface="Georgia"/>
                <a:cs typeface="Georgia"/>
                <a:sym typeface="Georgia"/>
              </a:rPr>
              <a:t>training </a:t>
            </a:r>
            <a:r>
              <a:rPr b="1" i="0" lang="en-US" sz="3200" u="none" cap="none" strike="noStrike">
                <a:solidFill>
                  <a:srgbClr val="1E293B"/>
                </a:solidFill>
                <a:latin typeface="Georgia"/>
                <a:ea typeface="Georgia"/>
                <a:cs typeface="Georgia"/>
                <a:sym typeface="Georgia"/>
              </a:rPr>
              <a:t>split</a:t>
            </a:r>
            <a:endParaRPr b="0" i="0" sz="3200" u="none" cap="none" strike="noStrike">
              <a:solidFill>
                <a:schemeClr val="dk1"/>
              </a:solidFill>
              <a:latin typeface="Calibri"/>
              <a:ea typeface="Calibri"/>
              <a:cs typeface="Calibri"/>
              <a:sym typeface="Calibri"/>
            </a:endParaRPr>
          </a:p>
        </p:txBody>
      </p:sp>
      <p:sp>
        <p:nvSpPr>
          <p:cNvPr id="265" name="Google Shape;265;p11"/>
          <p:cNvSpPr/>
          <p:nvPr/>
        </p:nvSpPr>
        <p:spPr>
          <a:xfrm>
            <a:off x="110287" y="2910588"/>
            <a:ext cx="5875800" cy="293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178"/>
              <a:buFont typeface="Calibri"/>
              <a:buNone/>
            </a:pPr>
            <a:r>
              <a:rPr b="1" i="0" lang="en-US" sz="1178" u="none" cap="none" strike="noStrike">
                <a:solidFill>
                  <a:srgbClr val="B45309"/>
                </a:solidFill>
                <a:latin typeface="Calibri"/>
                <a:ea typeface="Calibri"/>
                <a:cs typeface="Calibri"/>
                <a:sym typeface="Calibri"/>
              </a:rPr>
              <a:t>THE PROBLEM</a:t>
            </a:r>
            <a:endParaRPr b="0" i="0" sz="1178" u="none" cap="none" strike="noStrike">
              <a:solidFill>
                <a:schemeClr val="dk1"/>
              </a:solidFill>
              <a:latin typeface="Calibri"/>
              <a:ea typeface="Calibri"/>
              <a:cs typeface="Calibri"/>
              <a:sym typeface="Calibri"/>
            </a:endParaRPr>
          </a:p>
        </p:txBody>
      </p:sp>
      <p:sp>
        <p:nvSpPr>
          <p:cNvPr id="266" name="Google Shape;266;p11"/>
          <p:cNvSpPr/>
          <p:nvPr/>
        </p:nvSpPr>
        <p:spPr>
          <a:xfrm>
            <a:off x="110287" y="3240401"/>
            <a:ext cx="5875800" cy="10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39"/>
              <a:buFont typeface="Calibri"/>
              <a:buNone/>
            </a:pPr>
            <a:r>
              <a:rPr b="0" i="0" lang="en-US" sz="1539" u="none" cap="none" strike="noStrike">
                <a:solidFill>
                  <a:srgbClr val="1E293B"/>
                </a:solidFill>
                <a:latin typeface="Calibri"/>
                <a:ea typeface="Calibri"/>
                <a:cs typeface="Calibri"/>
                <a:sym typeface="Calibri"/>
              </a:rPr>
              <a:t>A 70/15/15 random split sounds reasonable, but if Class 5 (season-ending) </a:t>
            </a:r>
            <a:r>
              <a:rPr lang="en-US" sz="1539">
                <a:solidFill>
                  <a:srgbClr val="1E293B"/>
                </a:solidFill>
                <a:latin typeface="Calibri"/>
                <a:ea typeface="Calibri"/>
                <a:cs typeface="Calibri"/>
                <a:sym typeface="Calibri"/>
              </a:rPr>
              <a:t>is </a:t>
            </a:r>
            <a:r>
              <a:rPr b="0" i="0" lang="en-US" sz="1539" u="none" cap="none" strike="noStrike">
                <a:solidFill>
                  <a:srgbClr val="1E293B"/>
                </a:solidFill>
                <a:latin typeface="Calibri"/>
                <a:ea typeface="Calibri"/>
                <a:cs typeface="Calibri"/>
                <a:sym typeface="Calibri"/>
              </a:rPr>
              <a:t>3% of ALL records, a random sample may pull only a handful into validation</a:t>
            </a:r>
            <a:r>
              <a:rPr lang="en-US" sz="1539">
                <a:solidFill>
                  <a:srgbClr val="1E293B"/>
                </a:solidFill>
                <a:latin typeface="Calibri"/>
                <a:ea typeface="Calibri"/>
                <a:cs typeface="Calibri"/>
                <a:sym typeface="Calibri"/>
              </a:rPr>
              <a:t>, creating </a:t>
            </a:r>
            <a:r>
              <a:rPr b="0" i="0" lang="en-US" sz="1539" u="none" cap="none" strike="noStrike">
                <a:solidFill>
                  <a:srgbClr val="1E293B"/>
                </a:solidFill>
                <a:latin typeface="Calibri"/>
                <a:ea typeface="Calibri"/>
                <a:cs typeface="Calibri"/>
                <a:sym typeface="Calibri"/>
              </a:rPr>
              <a:t>metrics unstable.</a:t>
            </a:r>
            <a:endParaRPr b="0" i="0" sz="1539" u="none" cap="none" strike="noStrike">
              <a:solidFill>
                <a:schemeClr val="dk1"/>
              </a:solidFill>
              <a:latin typeface="Calibri"/>
              <a:ea typeface="Calibri"/>
              <a:cs typeface="Calibri"/>
              <a:sym typeface="Calibri"/>
            </a:endParaRPr>
          </a:p>
        </p:txBody>
      </p:sp>
      <p:sp>
        <p:nvSpPr>
          <p:cNvPr id="267" name="Google Shape;267;p11"/>
          <p:cNvSpPr/>
          <p:nvPr/>
        </p:nvSpPr>
        <p:spPr>
          <a:xfrm>
            <a:off x="110287" y="4281594"/>
            <a:ext cx="5875800" cy="293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4C3A"/>
              </a:buClr>
              <a:buSzPts val="1178"/>
              <a:buFont typeface="Calibri"/>
              <a:buNone/>
            </a:pPr>
            <a:r>
              <a:rPr b="1" i="0" lang="en-US" sz="1478" u="none" cap="none" strike="noStrike">
                <a:solidFill>
                  <a:srgbClr val="0F4C3A"/>
                </a:solidFill>
                <a:latin typeface="Calibri"/>
                <a:ea typeface="Calibri"/>
                <a:cs typeface="Calibri"/>
                <a:sym typeface="Calibri"/>
              </a:rPr>
              <a:t>THE SOLUTION</a:t>
            </a:r>
            <a:endParaRPr b="0" i="0" sz="1478" u="none" cap="none" strike="noStrike">
              <a:solidFill>
                <a:schemeClr val="dk1"/>
              </a:solidFill>
              <a:latin typeface="Calibri"/>
              <a:ea typeface="Calibri"/>
              <a:cs typeface="Calibri"/>
              <a:sym typeface="Calibri"/>
            </a:endParaRPr>
          </a:p>
        </p:txBody>
      </p:sp>
      <p:sp>
        <p:nvSpPr>
          <p:cNvPr id="268" name="Google Shape;268;p11"/>
          <p:cNvSpPr/>
          <p:nvPr/>
        </p:nvSpPr>
        <p:spPr>
          <a:xfrm>
            <a:off x="110275" y="4353798"/>
            <a:ext cx="5875800" cy="1239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39"/>
              <a:buFont typeface="Calibri"/>
              <a:buNone/>
            </a:pPr>
            <a:r>
              <a:rPr b="0" i="0" lang="en-US" sz="1739" u="none" cap="none" strike="noStrike">
                <a:solidFill>
                  <a:srgbClr val="1E293B"/>
                </a:solidFill>
                <a:latin typeface="Calibri"/>
                <a:ea typeface="Calibri"/>
                <a:cs typeface="Calibri"/>
                <a:sym typeface="Calibri"/>
              </a:rPr>
              <a:t>Every severity tier is proportionally represented across train, val, and test, preserving the integrity of rare classes.</a:t>
            </a:r>
            <a:endParaRPr b="0" i="0" sz="1739" u="none" cap="none" strike="noStrike">
              <a:solidFill>
                <a:schemeClr val="dk1"/>
              </a:solidFill>
              <a:latin typeface="Calibri"/>
              <a:ea typeface="Calibri"/>
              <a:cs typeface="Calibri"/>
              <a:sym typeface="Calibri"/>
            </a:endParaRPr>
          </a:p>
        </p:txBody>
      </p:sp>
      <p:pic>
        <p:nvPicPr>
          <p:cNvPr id="269" name="Google Shape;269;p11"/>
          <p:cNvPicPr preferRelativeResize="0"/>
          <p:nvPr/>
        </p:nvPicPr>
        <p:blipFill rotWithShape="1">
          <a:blip r:embed="rId3">
            <a:alphaModFix/>
          </a:blip>
          <a:srcRect b="0" l="0" r="0" t="0"/>
          <a:stretch/>
        </p:blipFill>
        <p:spPr>
          <a:xfrm>
            <a:off x="6573610" y="2116651"/>
            <a:ext cx="5386200" cy="3917100"/>
          </a:xfrm>
          <a:prstGeom prst="rect">
            <a:avLst/>
          </a:prstGeom>
          <a:noFill/>
          <a:ln>
            <a:noFill/>
          </a:ln>
        </p:spPr>
      </p:pic>
      <p:cxnSp>
        <p:nvCxnSpPr>
          <p:cNvPr id="270" name="Google Shape;270;p11"/>
          <p:cNvCxnSpPr/>
          <p:nvPr/>
        </p:nvCxnSpPr>
        <p:spPr>
          <a:xfrm>
            <a:off x="548640" y="6446520"/>
            <a:ext cx="11094415" cy="0"/>
          </a:xfrm>
          <a:prstGeom prst="straightConnector1">
            <a:avLst/>
          </a:prstGeom>
          <a:noFill/>
          <a:ln cap="flat" cmpd="sng" w="9525">
            <a:solidFill>
              <a:srgbClr val="E2E8F0"/>
            </a:solidFill>
            <a:prstDash val="solid"/>
            <a:round/>
            <a:headEnd len="sm" w="sm" type="none"/>
            <a:tailEnd len="sm" w="sm" type="none"/>
          </a:ln>
        </p:spPr>
      </p:cxnSp>
      <p:sp>
        <p:nvSpPr>
          <p:cNvPr id="271" name="Google Shape;271;p11"/>
          <p:cNvSpPr/>
          <p:nvPr/>
        </p:nvSpPr>
        <p:spPr>
          <a:xfrm>
            <a:off x="54864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BioBERT · Soccer Injury Severity Classification</a:t>
            </a:r>
            <a:endParaRPr b="0" i="0" sz="900" u="none" cap="none" strike="noStrike">
              <a:solidFill>
                <a:schemeClr val="dk1"/>
              </a:solidFill>
              <a:latin typeface="Calibri"/>
              <a:ea typeface="Calibri"/>
              <a:cs typeface="Calibri"/>
              <a:sym typeface="Calibri"/>
            </a:endParaRPr>
          </a:p>
        </p:txBody>
      </p:sp>
      <p:sp>
        <p:nvSpPr>
          <p:cNvPr id="272" name="Google Shape;272;p11"/>
          <p:cNvSpPr/>
          <p:nvPr/>
        </p:nvSpPr>
        <p:spPr>
          <a:xfrm>
            <a:off x="10728655" y="649224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9 / 16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7" name="Shape 277"/>
        <p:cNvGrpSpPr/>
        <p:nvPr/>
      </p:nvGrpSpPr>
      <p:grpSpPr>
        <a:xfrm>
          <a:off x="0" y="0"/>
          <a:ext cx="0" cy="0"/>
          <a:chOff x="0" y="0"/>
          <a:chExt cx="0" cy="0"/>
        </a:xfrm>
      </p:grpSpPr>
      <p:sp>
        <p:nvSpPr>
          <p:cNvPr id="278" name="Google Shape;278;p12"/>
          <p:cNvSpPr/>
          <p:nvPr/>
        </p:nvSpPr>
        <p:spPr>
          <a:xfrm>
            <a:off x="548640" y="45720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100"/>
              <a:buFont typeface="Calibri"/>
              <a:buNone/>
            </a:pPr>
            <a:r>
              <a:rPr b="1" i="0" lang="en-US" sz="1100" u="none" cap="none" strike="noStrike">
                <a:solidFill>
                  <a:srgbClr val="B45309"/>
                </a:solidFill>
                <a:latin typeface="Calibri"/>
                <a:ea typeface="Calibri"/>
                <a:cs typeface="Calibri"/>
                <a:sym typeface="Calibri"/>
              </a:rPr>
              <a:t>09  ·  PROCESS DEEP-DIVE</a:t>
            </a:r>
            <a:endParaRPr b="0" i="0" sz="1100" u="none" cap="none" strike="noStrike">
              <a:solidFill>
                <a:schemeClr val="dk1"/>
              </a:solidFill>
              <a:latin typeface="Calibri"/>
              <a:ea typeface="Calibri"/>
              <a:cs typeface="Calibri"/>
              <a:sym typeface="Calibri"/>
            </a:endParaRPr>
          </a:p>
        </p:txBody>
      </p:sp>
      <p:sp>
        <p:nvSpPr>
          <p:cNvPr id="279" name="Google Shape;279;p12"/>
          <p:cNvSpPr/>
          <p:nvPr/>
        </p:nvSpPr>
        <p:spPr>
          <a:xfrm>
            <a:off x="548640" y="77724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3200"/>
              <a:buFont typeface="Georgia"/>
              <a:buNone/>
            </a:pPr>
            <a:r>
              <a:rPr b="1" i="0" lang="en-US" sz="3200" u="none" cap="none" strike="noStrike">
                <a:solidFill>
                  <a:srgbClr val="1E293B"/>
                </a:solidFill>
                <a:latin typeface="Georgia"/>
                <a:ea typeface="Georgia"/>
                <a:cs typeface="Georgia"/>
                <a:sym typeface="Georgia"/>
              </a:rPr>
              <a:t>Tokenization &amp; PyTorch dataset</a:t>
            </a:r>
            <a:endParaRPr b="0" i="0" sz="3200" u="none" cap="none" strike="noStrike">
              <a:solidFill>
                <a:schemeClr val="dk1"/>
              </a:solidFill>
              <a:latin typeface="Calibri"/>
              <a:ea typeface="Calibri"/>
              <a:cs typeface="Calibri"/>
              <a:sym typeface="Calibri"/>
            </a:endParaRPr>
          </a:p>
        </p:txBody>
      </p:sp>
      <p:sp>
        <p:nvSpPr>
          <p:cNvPr id="280" name="Google Shape;280;p12"/>
          <p:cNvSpPr/>
          <p:nvPr/>
        </p:nvSpPr>
        <p:spPr>
          <a:xfrm>
            <a:off x="548650" y="1632850"/>
            <a:ext cx="11064300" cy="9714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2"/>
          <p:cNvSpPr/>
          <p:nvPr/>
        </p:nvSpPr>
        <p:spPr>
          <a:xfrm>
            <a:off x="548650" y="1632850"/>
            <a:ext cx="73200" cy="971400"/>
          </a:xfrm>
          <a:prstGeom prst="rect">
            <a:avLst/>
          </a:prstGeom>
          <a:solidFill>
            <a:srgbClr val="1E2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2"/>
          <p:cNvSpPr/>
          <p:nvPr/>
        </p:nvSpPr>
        <p:spPr>
          <a:xfrm>
            <a:off x="822970" y="1740784"/>
            <a:ext cx="2286000" cy="377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alibri"/>
              <a:buNone/>
            </a:pPr>
            <a:r>
              <a:rPr b="1" i="0" lang="en-US" sz="1200" u="none" cap="none" strike="noStrike">
                <a:solidFill>
                  <a:srgbClr val="1E293B"/>
                </a:solidFill>
                <a:latin typeface="Calibri"/>
                <a:ea typeface="Calibri"/>
                <a:cs typeface="Calibri"/>
                <a:sym typeface="Calibri"/>
              </a:rPr>
              <a:t>RAW TEXT</a:t>
            </a:r>
            <a:endParaRPr b="0" i="0" sz="1200" u="none" cap="none" strike="noStrike">
              <a:solidFill>
                <a:schemeClr val="dk1"/>
              </a:solidFill>
              <a:latin typeface="Calibri"/>
              <a:ea typeface="Calibri"/>
              <a:cs typeface="Calibri"/>
              <a:sym typeface="Calibri"/>
            </a:endParaRPr>
          </a:p>
        </p:txBody>
      </p:sp>
      <p:sp>
        <p:nvSpPr>
          <p:cNvPr id="283" name="Google Shape;283;p12"/>
          <p:cNvSpPr/>
          <p:nvPr/>
        </p:nvSpPr>
        <p:spPr>
          <a:xfrm>
            <a:off x="822970" y="2086172"/>
            <a:ext cx="10515600" cy="431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onsolas"/>
              <a:buNone/>
            </a:pPr>
            <a:r>
              <a:rPr b="0" i="0" lang="en-US" sz="1200" u="none" cap="none" strike="noStrike">
                <a:solidFill>
                  <a:srgbClr val="1E293B"/>
                </a:solidFill>
                <a:latin typeface="Consolas"/>
                <a:ea typeface="Consolas"/>
                <a:cs typeface="Consolas"/>
                <a:sym typeface="Consolas"/>
              </a:rPr>
              <a:t>"Player suffered a partial tear of the medial collateral ligament; expected absence 4–6 weeks."</a:t>
            </a:r>
            <a:endParaRPr b="0" i="0" sz="1200" u="none" cap="none" strike="noStrike">
              <a:solidFill>
                <a:schemeClr val="dk1"/>
              </a:solidFill>
              <a:latin typeface="Calibri"/>
              <a:ea typeface="Calibri"/>
              <a:cs typeface="Calibri"/>
              <a:sym typeface="Calibri"/>
            </a:endParaRPr>
          </a:p>
        </p:txBody>
      </p:sp>
      <p:sp>
        <p:nvSpPr>
          <p:cNvPr id="284" name="Google Shape;284;p12"/>
          <p:cNvSpPr/>
          <p:nvPr/>
        </p:nvSpPr>
        <p:spPr>
          <a:xfrm>
            <a:off x="548650" y="2733774"/>
            <a:ext cx="11064300" cy="9714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2"/>
          <p:cNvSpPr/>
          <p:nvPr/>
        </p:nvSpPr>
        <p:spPr>
          <a:xfrm>
            <a:off x="548650" y="2733774"/>
            <a:ext cx="73200" cy="971400"/>
          </a:xfrm>
          <a:prstGeom prst="rect">
            <a:avLst/>
          </a:prstGeom>
          <a:solidFill>
            <a:srgbClr val="0F4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2"/>
          <p:cNvSpPr/>
          <p:nvPr/>
        </p:nvSpPr>
        <p:spPr>
          <a:xfrm>
            <a:off x="822970" y="2841708"/>
            <a:ext cx="2286000" cy="377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4C3A"/>
              </a:buClr>
              <a:buSzPts val="1000"/>
              <a:buFont typeface="Calibri"/>
              <a:buNone/>
            </a:pPr>
            <a:r>
              <a:rPr b="1" i="0" lang="en-US" sz="1200" u="none" cap="none" strike="noStrike">
                <a:solidFill>
                  <a:srgbClr val="0F4C3A"/>
                </a:solidFill>
                <a:latin typeface="Calibri"/>
                <a:ea typeface="Calibri"/>
                <a:cs typeface="Calibri"/>
                <a:sym typeface="Calibri"/>
              </a:rPr>
              <a:t>WORDPIECE TOKENS</a:t>
            </a:r>
            <a:endParaRPr b="0" i="0" sz="1200" u="none" cap="none" strike="noStrike">
              <a:solidFill>
                <a:schemeClr val="dk1"/>
              </a:solidFill>
              <a:latin typeface="Calibri"/>
              <a:ea typeface="Calibri"/>
              <a:cs typeface="Calibri"/>
              <a:sym typeface="Calibri"/>
            </a:endParaRPr>
          </a:p>
        </p:txBody>
      </p:sp>
      <p:sp>
        <p:nvSpPr>
          <p:cNvPr id="287" name="Google Shape;287;p12"/>
          <p:cNvSpPr/>
          <p:nvPr/>
        </p:nvSpPr>
        <p:spPr>
          <a:xfrm>
            <a:off x="822970" y="3187096"/>
            <a:ext cx="10515600" cy="431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onsolas"/>
              <a:buNone/>
            </a:pPr>
            <a:r>
              <a:rPr b="0" i="0" lang="en-US" sz="1200" u="none" cap="none" strike="noStrike">
                <a:solidFill>
                  <a:srgbClr val="1E293B"/>
                </a:solidFill>
                <a:latin typeface="Consolas"/>
                <a:ea typeface="Consolas"/>
                <a:cs typeface="Consolas"/>
                <a:sym typeface="Consolas"/>
              </a:rPr>
              <a:t>["[CLS]", "player", "suffered", "a", "partial", "tear", "of", "the", "medial", "coll", "##ateral", "ligament", ";", "expected", "absence", "4", "–", "6", "weeks", ".", "[SEP]"]</a:t>
            </a:r>
            <a:endParaRPr b="0" i="0" sz="1200" u="none" cap="none" strike="noStrike">
              <a:solidFill>
                <a:schemeClr val="dk1"/>
              </a:solidFill>
              <a:latin typeface="Calibri"/>
              <a:ea typeface="Calibri"/>
              <a:cs typeface="Calibri"/>
              <a:sym typeface="Calibri"/>
            </a:endParaRPr>
          </a:p>
        </p:txBody>
      </p:sp>
      <p:sp>
        <p:nvSpPr>
          <p:cNvPr id="288" name="Google Shape;288;p12"/>
          <p:cNvSpPr/>
          <p:nvPr/>
        </p:nvSpPr>
        <p:spPr>
          <a:xfrm>
            <a:off x="548650" y="3834698"/>
            <a:ext cx="11064300" cy="9714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2"/>
          <p:cNvSpPr/>
          <p:nvPr/>
        </p:nvSpPr>
        <p:spPr>
          <a:xfrm>
            <a:off x="548650" y="3834698"/>
            <a:ext cx="73200" cy="971400"/>
          </a:xfrm>
          <a:prstGeom prst="rect">
            <a:avLst/>
          </a:prstGeom>
          <a:solidFill>
            <a:srgbClr val="B45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2"/>
          <p:cNvSpPr/>
          <p:nvPr/>
        </p:nvSpPr>
        <p:spPr>
          <a:xfrm>
            <a:off x="822970" y="3942632"/>
            <a:ext cx="2286000" cy="377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000"/>
              <a:buFont typeface="Calibri"/>
              <a:buNone/>
            </a:pPr>
            <a:r>
              <a:rPr b="1" i="0" lang="en-US" sz="1200" u="none" cap="none" strike="noStrike">
                <a:solidFill>
                  <a:srgbClr val="B45309"/>
                </a:solidFill>
                <a:latin typeface="Calibri"/>
                <a:ea typeface="Calibri"/>
                <a:cs typeface="Calibri"/>
                <a:sym typeface="Calibri"/>
              </a:rPr>
              <a:t>INPUT IDS</a:t>
            </a:r>
            <a:endParaRPr b="0" i="0" sz="1200" u="none" cap="none" strike="noStrike">
              <a:solidFill>
                <a:schemeClr val="dk1"/>
              </a:solidFill>
              <a:latin typeface="Calibri"/>
              <a:ea typeface="Calibri"/>
              <a:cs typeface="Calibri"/>
              <a:sym typeface="Calibri"/>
            </a:endParaRPr>
          </a:p>
        </p:txBody>
      </p:sp>
      <p:sp>
        <p:nvSpPr>
          <p:cNvPr id="291" name="Google Shape;291;p12"/>
          <p:cNvSpPr/>
          <p:nvPr/>
        </p:nvSpPr>
        <p:spPr>
          <a:xfrm>
            <a:off x="822970" y="4288019"/>
            <a:ext cx="10515600" cy="431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onsolas"/>
              <a:buNone/>
            </a:pPr>
            <a:r>
              <a:rPr b="0" i="0" lang="en-US" sz="1200" u="none" cap="none" strike="noStrike">
                <a:solidFill>
                  <a:srgbClr val="1E293B"/>
                </a:solidFill>
                <a:latin typeface="Consolas"/>
                <a:ea typeface="Consolas"/>
                <a:cs typeface="Consolas"/>
                <a:sym typeface="Consolas"/>
              </a:rPr>
              <a:t>[101, 2447, 4264, 1037, 7704, 6638, 1997, 1996, 23859, 8898, ##5092, 23092, 1025, 3517, 12407, 1018, 1516, 1020, 3134, 1012, 102]</a:t>
            </a:r>
            <a:endParaRPr b="0" i="0" sz="1200" u="none" cap="none" strike="noStrike">
              <a:solidFill>
                <a:schemeClr val="dk1"/>
              </a:solidFill>
              <a:latin typeface="Calibri"/>
              <a:ea typeface="Calibri"/>
              <a:cs typeface="Calibri"/>
              <a:sym typeface="Calibri"/>
            </a:endParaRPr>
          </a:p>
        </p:txBody>
      </p:sp>
      <p:sp>
        <p:nvSpPr>
          <p:cNvPr id="292" name="Google Shape;292;p12"/>
          <p:cNvSpPr/>
          <p:nvPr/>
        </p:nvSpPr>
        <p:spPr>
          <a:xfrm>
            <a:off x="548650" y="4935622"/>
            <a:ext cx="11064300" cy="9714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2"/>
          <p:cNvSpPr/>
          <p:nvPr/>
        </p:nvSpPr>
        <p:spPr>
          <a:xfrm>
            <a:off x="548650" y="4935622"/>
            <a:ext cx="73200" cy="971400"/>
          </a:xfrm>
          <a:prstGeom prst="rect">
            <a:avLst/>
          </a:prstGeom>
          <a:solidFill>
            <a:srgbClr val="5C8C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2"/>
          <p:cNvSpPr/>
          <p:nvPr/>
        </p:nvSpPr>
        <p:spPr>
          <a:xfrm>
            <a:off x="822970" y="5043555"/>
            <a:ext cx="2286000" cy="377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8C7A"/>
              </a:buClr>
              <a:buSzPts val="1000"/>
              <a:buFont typeface="Calibri"/>
              <a:buNone/>
            </a:pPr>
            <a:r>
              <a:rPr b="1" i="0" lang="en-US" sz="1200" u="none" cap="none" strike="noStrike">
                <a:solidFill>
                  <a:srgbClr val="5C8C7A"/>
                </a:solidFill>
                <a:latin typeface="Calibri"/>
                <a:ea typeface="Calibri"/>
                <a:cs typeface="Calibri"/>
                <a:sym typeface="Calibri"/>
              </a:rPr>
              <a:t>ATTENTION MASK + LABEL</a:t>
            </a:r>
            <a:endParaRPr b="0" i="0" sz="1200" u="none" cap="none" strike="noStrike">
              <a:solidFill>
                <a:schemeClr val="dk1"/>
              </a:solidFill>
              <a:latin typeface="Calibri"/>
              <a:ea typeface="Calibri"/>
              <a:cs typeface="Calibri"/>
              <a:sym typeface="Calibri"/>
            </a:endParaRPr>
          </a:p>
        </p:txBody>
      </p:sp>
      <p:sp>
        <p:nvSpPr>
          <p:cNvPr id="295" name="Google Shape;295;p12"/>
          <p:cNvSpPr/>
          <p:nvPr/>
        </p:nvSpPr>
        <p:spPr>
          <a:xfrm>
            <a:off x="822970" y="5388943"/>
            <a:ext cx="10515600" cy="431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onsolas"/>
              <a:buNone/>
            </a:pPr>
            <a:r>
              <a:rPr b="0" i="0" lang="en-US" sz="1200" u="none" cap="none" strike="noStrike">
                <a:solidFill>
                  <a:srgbClr val="1E293B"/>
                </a:solidFill>
                <a:latin typeface="Consolas"/>
                <a:ea typeface="Consolas"/>
                <a:cs typeface="Consolas"/>
                <a:sym typeface="Consolas"/>
              </a:rPr>
              <a:t>attention_mask = [1,1,1,1,...,1,1]    ·    label = 3 (Moderate)</a:t>
            </a:r>
            <a:endParaRPr b="0" i="0" sz="1200" u="none" cap="none" strike="noStrike">
              <a:solidFill>
                <a:schemeClr val="dk1"/>
              </a:solidFill>
              <a:latin typeface="Calibri"/>
              <a:ea typeface="Calibri"/>
              <a:cs typeface="Calibri"/>
              <a:sym typeface="Calibri"/>
            </a:endParaRPr>
          </a:p>
        </p:txBody>
      </p:sp>
      <p:cxnSp>
        <p:nvCxnSpPr>
          <p:cNvPr id="296" name="Google Shape;296;p12"/>
          <p:cNvCxnSpPr/>
          <p:nvPr/>
        </p:nvCxnSpPr>
        <p:spPr>
          <a:xfrm>
            <a:off x="548640" y="6446520"/>
            <a:ext cx="11094415" cy="0"/>
          </a:xfrm>
          <a:prstGeom prst="straightConnector1">
            <a:avLst/>
          </a:prstGeom>
          <a:noFill/>
          <a:ln cap="flat" cmpd="sng" w="9525">
            <a:solidFill>
              <a:srgbClr val="E2E8F0"/>
            </a:solidFill>
            <a:prstDash val="solid"/>
            <a:round/>
            <a:headEnd len="sm" w="sm" type="none"/>
            <a:tailEnd len="sm" w="sm" type="none"/>
          </a:ln>
        </p:spPr>
      </p:cxnSp>
      <p:sp>
        <p:nvSpPr>
          <p:cNvPr id="297" name="Google Shape;297;p12"/>
          <p:cNvSpPr/>
          <p:nvPr/>
        </p:nvSpPr>
        <p:spPr>
          <a:xfrm>
            <a:off x="54864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BioBERT · Soccer Injury Severity Classification</a:t>
            </a:r>
            <a:endParaRPr b="0" i="0" sz="900" u="none" cap="none" strike="noStrike">
              <a:solidFill>
                <a:schemeClr val="dk1"/>
              </a:solidFill>
              <a:latin typeface="Calibri"/>
              <a:ea typeface="Calibri"/>
              <a:cs typeface="Calibri"/>
              <a:sym typeface="Calibri"/>
            </a:endParaRPr>
          </a:p>
        </p:txBody>
      </p:sp>
      <p:sp>
        <p:nvSpPr>
          <p:cNvPr id="298" name="Google Shape;298;p12"/>
          <p:cNvSpPr/>
          <p:nvPr/>
        </p:nvSpPr>
        <p:spPr>
          <a:xfrm>
            <a:off x="10728655" y="649224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10 / 16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3" name="Shape 303"/>
        <p:cNvGrpSpPr/>
        <p:nvPr/>
      </p:nvGrpSpPr>
      <p:grpSpPr>
        <a:xfrm>
          <a:off x="0" y="0"/>
          <a:ext cx="0" cy="0"/>
          <a:chOff x="0" y="0"/>
          <a:chExt cx="0" cy="0"/>
        </a:xfrm>
      </p:grpSpPr>
      <p:sp>
        <p:nvSpPr>
          <p:cNvPr id="304" name="Google Shape;304;p13"/>
          <p:cNvSpPr/>
          <p:nvPr/>
        </p:nvSpPr>
        <p:spPr>
          <a:xfrm>
            <a:off x="548640" y="45720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100"/>
              <a:buFont typeface="Calibri"/>
              <a:buNone/>
            </a:pPr>
            <a:r>
              <a:rPr b="1" i="0" lang="en-US" sz="1100" u="none" cap="none" strike="noStrike">
                <a:solidFill>
                  <a:srgbClr val="B45309"/>
                </a:solidFill>
                <a:latin typeface="Calibri"/>
                <a:ea typeface="Calibri"/>
                <a:cs typeface="Calibri"/>
                <a:sym typeface="Calibri"/>
              </a:rPr>
              <a:t>10  ·  TRAINING</a:t>
            </a:r>
            <a:endParaRPr b="0" i="0" sz="1100" u="none" cap="none" strike="noStrike">
              <a:solidFill>
                <a:schemeClr val="dk1"/>
              </a:solidFill>
              <a:latin typeface="Calibri"/>
              <a:ea typeface="Calibri"/>
              <a:cs typeface="Calibri"/>
              <a:sym typeface="Calibri"/>
            </a:endParaRPr>
          </a:p>
        </p:txBody>
      </p:sp>
      <p:sp>
        <p:nvSpPr>
          <p:cNvPr id="305" name="Google Shape;305;p13"/>
          <p:cNvSpPr/>
          <p:nvPr/>
        </p:nvSpPr>
        <p:spPr>
          <a:xfrm>
            <a:off x="548640" y="77724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3200"/>
              <a:buFont typeface="Georgia"/>
              <a:buNone/>
            </a:pPr>
            <a:r>
              <a:rPr b="1" i="0" lang="en-US" sz="3200" u="none" cap="none" strike="noStrike">
                <a:solidFill>
                  <a:srgbClr val="1E293B"/>
                </a:solidFill>
                <a:latin typeface="Georgia"/>
                <a:ea typeface="Georgia"/>
                <a:cs typeface="Georgia"/>
                <a:sym typeface="Georgia"/>
              </a:rPr>
              <a:t>Hyperparameters &amp; training arguments</a:t>
            </a:r>
            <a:endParaRPr b="0" i="0" sz="3200" u="none" cap="none" strike="noStrike">
              <a:solidFill>
                <a:schemeClr val="dk1"/>
              </a:solidFill>
              <a:latin typeface="Calibri"/>
              <a:ea typeface="Calibri"/>
              <a:cs typeface="Calibri"/>
              <a:sym typeface="Calibri"/>
            </a:endParaRPr>
          </a:p>
        </p:txBody>
      </p:sp>
      <p:sp>
        <p:nvSpPr>
          <p:cNvPr id="306" name="Google Shape;306;p13"/>
          <p:cNvSpPr/>
          <p:nvPr/>
        </p:nvSpPr>
        <p:spPr>
          <a:xfrm>
            <a:off x="548640" y="1554480"/>
            <a:ext cx="10972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Calibri"/>
              <a:buNone/>
            </a:pPr>
            <a:r>
              <a:t/>
            </a:r>
            <a:endParaRPr b="0" i="0" sz="1300" u="none" cap="none" strike="noStrike">
              <a:solidFill>
                <a:schemeClr val="dk1"/>
              </a:solidFill>
              <a:latin typeface="Calibri"/>
              <a:ea typeface="Calibri"/>
              <a:cs typeface="Calibri"/>
              <a:sym typeface="Calibri"/>
            </a:endParaRPr>
          </a:p>
        </p:txBody>
      </p:sp>
      <p:graphicFrame>
        <p:nvGraphicFramePr>
          <p:cNvPr id="307" name="Google Shape;307;p13"/>
          <p:cNvGraphicFramePr/>
          <p:nvPr/>
        </p:nvGraphicFramePr>
        <p:xfrm>
          <a:off x="548640" y="2331720"/>
          <a:ext cx="3000000" cy="3000000"/>
        </p:xfrm>
        <a:graphic>
          <a:graphicData uri="http://schemas.openxmlformats.org/drawingml/2006/table">
            <a:tbl>
              <a:tblPr>
                <a:noFill/>
                <a:tableStyleId>{FB5CFB33-637F-46E9-A5E5-62C64E01FEC0}</a:tableStyleId>
              </a:tblPr>
              <a:tblGrid>
                <a:gridCol w="2377450"/>
                <a:gridCol w="2011675"/>
                <a:gridCol w="6675125"/>
              </a:tblGrid>
              <a:tr h="384050">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PARAMETER</a:t>
                      </a:r>
                      <a:endParaRPr sz="11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0F4C3A"/>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VALUE</a:t>
                      </a:r>
                      <a:endParaRPr sz="11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0F4C3A"/>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WHY</a:t>
                      </a:r>
                      <a:endParaRPr sz="11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0F4C3A"/>
                    </a:solidFill>
                  </a:tcPr>
                </a:tc>
              </a:tr>
              <a:tr h="384050">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Learning rate</a:t>
                      </a:r>
                      <a:endParaRPr sz="12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2e-5</a:t>
                      </a:r>
                      <a:endParaRPr sz="12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Small enough to avoid catastrophic forgetting of pretrained weights</a:t>
                      </a:r>
                      <a:endParaRPr sz="12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384050">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Batch size</a:t>
                      </a:r>
                      <a:endParaRPr sz="12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93B"/>
                        </a:buClr>
                        <a:buSzPts val="1200"/>
                        <a:buFont typeface="Calibri"/>
                        <a:buNone/>
                      </a:pPr>
                      <a:r>
                        <a:rPr lang="en-US" sz="1200">
                          <a:solidFill>
                            <a:srgbClr val="1E293B"/>
                          </a:solidFill>
                          <a:latin typeface="Calibri"/>
                          <a:ea typeface="Calibri"/>
                          <a:cs typeface="Calibri"/>
                          <a:sym typeface="Calibri"/>
                        </a:rPr>
                        <a:t>32</a:t>
                      </a:r>
                      <a:endParaRPr sz="12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Balances GPU memory limits with gradient stability</a:t>
                      </a:r>
                      <a:endParaRPr sz="12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384050">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Epochs</a:t>
                      </a:r>
                      <a:endParaRPr sz="12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3 – 4</a:t>
                      </a:r>
                      <a:endParaRPr sz="12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More than this typically overfits on small fine-tuning sets</a:t>
                      </a:r>
                      <a:endParaRPr sz="12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384050">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Max sequence length</a:t>
                      </a:r>
                      <a:endParaRPr sz="12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highlight>
                            <a:schemeClr val="lt2"/>
                          </a:highlight>
                          <a:latin typeface="Calibri"/>
                          <a:ea typeface="Calibri"/>
                          <a:cs typeface="Calibri"/>
                          <a:sym typeface="Calibri"/>
                        </a:rPr>
                        <a:t>128 tokens</a:t>
                      </a:r>
                      <a:endParaRPr sz="1200" u="none" cap="none" strike="noStrike">
                        <a:highlight>
                          <a:schemeClr val="lt2"/>
                        </a:highlight>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highlight>
                            <a:schemeClr val="lt2"/>
                          </a:highlight>
                          <a:latin typeface="Calibri"/>
                          <a:ea typeface="Calibri"/>
                          <a:cs typeface="Calibri"/>
                          <a:sym typeface="Calibri"/>
                        </a:rPr>
                        <a:t>Most injury reports are short; 128 covers &gt;95% of cases</a:t>
                      </a:r>
                      <a:endParaRPr sz="1200" u="none" cap="none" strike="noStrike">
                        <a:highlight>
                          <a:schemeClr val="lt2"/>
                        </a:highlight>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384050">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Optimizer</a:t>
                      </a:r>
                      <a:endParaRPr sz="12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AdamW</a:t>
                      </a:r>
                      <a:endParaRPr sz="12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Standard for transformer fine-tuning; decoupled weight decay</a:t>
                      </a:r>
                      <a:endParaRPr sz="12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384050">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Warmup ratio</a:t>
                      </a:r>
                      <a:endParaRPr sz="12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0.1</a:t>
                      </a:r>
                      <a:endParaRPr sz="12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Linear warmup prevents instability in the first few steps</a:t>
                      </a:r>
                      <a:endParaRPr sz="12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384050">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Weight decay</a:t>
                      </a:r>
                      <a:endParaRPr sz="12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0.01</a:t>
                      </a:r>
                      <a:endParaRPr sz="12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Regularization; helps generalization</a:t>
                      </a:r>
                      <a:endParaRPr sz="12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384050">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Loss function</a:t>
                      </a:r>
                      <a:endParaRPr sz="12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Cross-entropy</a:t>
                      </a:r>
                      <a:endParaRPr sz="12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Standard for multi-class classification</a:t>
                      </a:r>
                      <a:endParaRPr sz="1200" u="none" cap="none" strike="noStrike">
                        <a:latin typeface="Calibri"/>
                        <a:ea typeface="Calibri"/>
                        <a:cs typeface="Calibri"/>
                        <a:sym typeface="Calibri"/>
                      </a:endParaRPr>
                    </a:p>
                  </a:txBody>
                  <a:tcPr marT="45725" marB="45725" marR="91450" marL="91450" anchor="ctr">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bl>
          </a:graphicData>
        </a:graphic>
      </p:graphicFrame>
      <p:cxnSp>
        <p:nvCxnSpPr>
          <p:cNvPr id="308" name="Google Shape;308;p13"/>
          <p:cNvCxnSpPr/>
          <p:nvPr/>
        </p:nvCxnSpPr>
        <p:spPr>
          <a:xfrm>
            <a:off x="548640" y="6446520"/>
            <a:ext cx="11094415" cy="0"/>
          </a:xfrm>
          <a:prstGeom prst="straightConnector1">
            <a:avLst/>
          </a:prstGeom>
          <a:noFill/>
          <a:ln cap="flat" cmpd="sng" w="9525">
            <a:solidFill>
              <a:srgbClr val="E2E8F0"/>
            </a:solidFill>
            <a:prstDash val="solid"/>
            <a:round/>
            <a:headEnd len="sm" w="sm" type="none"/>
            <a:tailEnd len="sm" w="sm" type="none"/>
          </a:ln>
        </p:spPr>
      </p:cxnSp>
      <p:sp>
        <p:nvSpPr>
          <p:cNvPr id="309" name="Google Shape;309;p13"/>
          <p:cNvSpPr/>
          <p:nvPr/>
        </p:nvSpPr>
        <p:spPr>
          <a:xfrm>
            <a:off x="54864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BioBERT · Soccer Injury Severity Classification</a:t>
            </a:r>
            <a:endParaRPr b="0" i="0" sz="900" u="none" cap="none" strike="noStrike">
              <a:solidFill>
                <a:schemeClr val="dk1"/>
              </a:solidFill>
              <a:latin typeface="Calibri"/>
              <a:ea typeface="Calibri"/>
              <a:cs typeface="Calibri"/>
              <a:sym typeface="Calibri"/>
            </a:endParaRPr>
          </a:p>
        </p:txBody>
      </p:sp>
      <p:sp>
        <p:nvSpPr>
          <p:cNvPr id="310" name="Google Shape;310;p13"/>
          <p:cNvSpPr/>
          <p:nvPr/>
        </p:nvSpPr>
        <p:spPr>
          <a:xfrm>
            <a:off x="10728655" y="649224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11 / 16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5" name="Shape 315"/>
        <p:cNvGrpSpPr/>
        <p:nvPr/>
      </p:nvGrpSpPr>
      <p:grpSpPr>
        <a:xfrm>
          <a:off x="0" y="0"/>
          <a:ext cx="0" cy="0"/>
          <a:chOff x="0" y="0"/>
          <a:chExt cx="0" cy="0"/>
        </a:xfrm>
      </p:grpSpPr>
      <p:sp>
        <p:nvSpPr>
          <p:cNvPr id="316" name="Google Shape;316;p14"/>
          <p:cNvSpPr/>
          <p:nvPr/>
        </p:nvSpPr>
        <p:spPr>
          <a:xfrm>
            <a:off x="548640" y="45720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100"/>
              <a:buFont typeface="Calibri"/>
              <a:buNone/>
            </a:pPr>
            <a:r>
              <a:rPr b="1" i="0" lang="en-US" sz="1100" u="none" cap="none" strike="noStrike">
                <a:solidFill>
                  <a:srgbClr val="B45309"/>
                </a:solidFill>
                <a:latin typeface="Calibri"/>
                <a:ea typeface="Calibri"/>
                <a:cs typeface="Calibri"/>
                <a:sym typeface="Calibri"/>
              </a:rPr>
              <a:t>11  ·  EVALUATION</a:t>
            </a:r>
            <a:endParaRPr b="0" i="0" sz="1100" u="none" cap="none" strike="noStrike">
              <a:solidFill>
                <a:schemeClr val="dk1"/>
              </a:solidFill>
              <a:latin typeface="Calibri"/>
              <a:ea typeface="Calibri"/>
              <a:cs typeface="Calibri"/>
              <a:sym typeface="Calibri"/>
            </a:endParaRPr>
          </a:p>
        </p:txBody>
      </p:sp>
      <p:sp>
        <p:nvSpPr>
          <p:cNvPr id="317" name="Google Shape;317;p14"/>
          <p:cNvSpPr/>
          <p:nvPr/>
        </p:nvSpPr>
        <p:spPr>
          <a:xfrm>
            <a:off x="548640" y="77724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3200"/>
              <a:buFont typeface="Georgia"/>
              <a:buNone/>
            </a:pPr>
            <a:r>
              <a:rPr b="1" i="0" lang="en-US" sz="3200" u="none" cap="none" strike="noStrike">
                <a:solidFill>
                  <a:srgbClr val="1E293B"/>
                </a:solidFill>
                <a:latin typeface="Georgia"/>
                <a:ea typeface="Georgia"/>
                <a:cs typeface="Georgia"/>
                <a:sym typeface="Georgia"/>
              </a:rPr>
              <a:t>How we know the model works</a:t>
            </a:r>
            <a:endParaRPr b="0" i="0" sz="3200" u="none" cap="none" strike="noStrike">
              <a:solidFill>
                <a:schemeClr val="dk1"/>
              </a:solidFill>
              <a:latin typeface="Calibri"/>
              <a:ea typeface="Calibri"/>
              <a:cs typeface="Calibri"/>
              <a:sym typeface="Calibri"/>
            </a:endParaRPr>
          </a:p>
        </p:txBody>
      </p:sp>
      <p:sp>
        <p:nvSpPr>
          <p:cNvPr id="318" name="Google Shape;318;p14"/>
          <p:cNvSpPr/>
          <p:nvPr/>
        </p:nvSpPr>
        <p:spPr>
          <a:xfrm>
            <a:off x="548640" y="155448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Calibri"/>
              <a:buNone/>
            </a:pPr>
            <a:r>
              <a:rPr b="0" i="1" lang="en-US" sz="1300" u="none" cap="none" strike="noStrike">
                <a:solidFill>
                  <a:srgbClr val="64748B"/>
                </a:solidFill>
                <a:latin typeface="Calibri"/>
                <a:ea typeface="Calibri"/>
                <a:cs typeface="Calibri"/>
                <a:sym typeface="Calibri"/>
              </a:rPr>
              <a:t>Accuracy alone is misleading on imbalanced data — predicting "Class 1" for everything could yield 60% accuracy and zero clinical value. We track multiple metrics for a fuller picture.</a:t>
            </a:r>
            <a:endParaRPr b="0" i="0" sz="1300" u="none" cap="none" strike="noStrike">
              <a:solidFill>
                <a:schemeClr val="dk1"/>
              </a:solidFill>
              <a:latin typeface="Calibri"/>
              <a:ea typeface="Calibri"/>
              <a:cs typeface="Calibri"/>
              <a:sym typeface="Calibri"/>
            </a:endParaRPr>
          </a:p>
        </p:txBody>
      </p:sp>
      <p:sp>
        <p:nvSpPr>
          <p:cNvPr id="319" name="Google Shape;319;p14"/>
          <p:cNvSpPr/>
          <p:nvPr/>
        </p:nvSpPr>
        <p:spPr>
          <a:xfrm>
            <a:off x="548640" y="2377440"/>
            <a:ext cx="5532120" cy="18288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4"/>
          <p:cNvSpPr/>
          <p:nvPr/>
        </p:nvSpPr>
        <p:spPr>
          <a:xfrm>
            <a:off x="548640" y="2377440"/>
            <a:ext cx="73152" cy="1828800"/>
          </a:xfrm>
          <a:prstGeom prst="rect">
            <a:avLst/>
          </a:prstGeom>
          <a:solidFill>
            <a:srgbClr val="1E2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4"/>
          <p:cNvSpPr/>
          <p:nvPr/>
        </p:nvSpPr>
        <p:spPr>
          <a:xfrm>
            <a:off x="822960" y="2560320"/>
            <a:ext cx="49834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2000"/>
              <a:buFont typeface="Georgia"/>
              <a:buNone/>
            </a:pPr>
            <a:r>
              <a:rPr b="1" i="0" lang="en-US" sz="2000" u="none" cap="none" strike="noStrike">
                <a:solidFill>
                  <a:srgbClr val="1E293B"/>
                </a:solidFill>
                <a:latin typeface="Georgia"/>
                <a:ea typeface="Georgia"/>
                <a:cs typeface="Georgia"/>
                <a:sym typeface="Georgia"/>
              </a:rPr>
              <a:t>Accuracy</a:t>
            </a:r>
            <a:endParaRPr b="0" i="0" sz="2000" u="none" cap="none" strike="noStrike">
              <a:solidFill>
                <a:schemeClr val="dk1"/>
              </a:solidFill>
              <a:latin typeface="Calibri"/>
              <a:ea typeface="Calibri"/>
              <a:cs typeface="Calibri"/>
              <a:sym typeface="Calibri"/>
            </a:endParaRPr>
          </a:p>
        </p:txBody>
      </p:sp>
      <p:sp>
        <p:nvSpPr>
          <p:cNvPr id="322" name="Google Shape;322;p14"/>
          <p:cNvSpPr/>
          <p:nvPr/>
        </p:nvSpPr>
        <p:spPr>
          <a:xfrm>
            <a:off x="822960" y="3017520"/>
            <a:ext cx="4983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onsolas"/>
              <a:buNone/>
            </a:pPr>
            <a:r>
              <a:rPr b="0" i="1" lang="en-US" sz="1200" u="none" cap="none" strike="noStrike">
                <a:solidFill>
                  <a:srgbClr val="1E293B"/>
                </a:solidFill>
                <a:latin typeface="Consolas"/>
                <a:ea typeface="Consolas"/>
                <a:cs typeface="Consolas"/>
                <a:sym typeface="Consolas"/>
              </a:rPr>
              <a:t>(TP + TN) / Total</a:t>
            </a:r>
            <a:endParaRPr b="0" i="0" sz="1200" u="none" cap="none" strike="noStrike">
              <a:solidFill>
                <a:schemeClr val="dk1"/>
              </a:solidFill>
              <a:latin typeface="Calibri"/>
              <a:ea typeface="Calibri"/>
              <a:cs typeface="Calibri"/>
              <a:sym typeface="Calibri"/>
            </a:endParaRPr>
          </a:p>
        </p:txBody>
      </p:sp>
      <p:sp>
        <p:nvSpPr>
          <p:cNvPr id="323" name="Google Shape;323;p14"/>
          <p:cNvSpPr/>
          <p:nvPr/>
        </p:nvSpPr>
        <p:spPr>
          <a:xfrm>
            <a:off x="822960" y="3383280"/>
            <a:ext cx="49834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50"/>
              <a:buFont typeface="Calibri"/>
              <a:buNone/>
            </a:pPr>
            <a:r>
              <a:t/>
            </a:r>
            <a:endParaRPr b="0" i="0" sz="1150" u="none" cap="none" strike="noStrike">
              <a:solidFill>
                <a:schemeClr val="dk1"/>
              </a:solidFill>
              <a:latin typeface="Calibri"/>
              <a:ea typeface="Calibri"/>
              <a:cs typeface="Calibri"/>
              <a:sym typeface="Calibri"/>
            </a:endParaRPr>
          </a:p>
        </p:txBody>
      </p:sp>
      <p:sp>
        <p:nvSpPr>
          <p:cNvPr id="324" name="Google Shape;324;p14"/>
          <p:cNvSpPr/>
          <p:nvPr/>
        </p:nvSpPr>
        <p:spPr>
          <a:xfrm>
            <a:off x="6217920" y="2377440"/>
            <a:ext cx="5532120" cy="18288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4"/>
          <p:cNvSpPr/>
          <p:nvPr/>
        </p:nvSpPr>
        <p:spPr>
          <a:xfrm>
            <a:off x="6217920" y="2377440"/>
            <a:ext cx="73152" cy="1828800"/>
          </a:xfrm>
          <a:prstGeom prst="rect">
            <a:avLst/>
          </a:prstGeom>
          <a:solidFill>
            <a:srgbClr val="0F4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4"/>
          <p:cNvSpPr/>
          <p:nvPr/>
        </p:nvSpPr>
        <p:spPr>
          <a:xfrm>
            <a:off x="6492240" y="2560320"/>
            <a:ext cx="49834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4C3A"/>
              </a:buClr>
              <a:buSzPts val="2000"/>
              <a:buFont typeface="Georgia"/>
              <a:buNone/>
            </a:pPr>
            <a:r>
              <a:rPr b="1" i="0" lang="en-US" sz="2000" u="none" cap="none" strike="noStrike">
                <a:solidFill>
                  <a:srgbClr val="0F4C3A"/>
                </a:solidFill>
                <a:latin typeface="Georgia"/>
                <a:ea typeface="Georgia"/>
                <a:cs typeface="Georgia"/>
                <a:sym typeface="Georgia"/>
              </a:rPr>
              <a:t>Precision</a:t>
            </a:r>
            <a:endParaRPr b="0" i="0" sz="2000" u="none" cap="none" strike="noStrike">
              <a:solidFill>
                <a:schemeClr val="dk1"/>
              </a:solidFill>
              <a:latin typeface="Calibri"/>
              <a:ea typeface="Calibri"/>
              <a:cs typeface="Calibri"/>
              <a:sym typeface="Calibri"/>
            </a:endParaRPr>
          </a:p>
        </p:txBody>
      </p:sp>
      <p:sp>
        <p:nvSpPr>
          <p:cNvPr id="327" name="Google Shape;327;p14"/>
          <p:cNvSpPr/>
          <p:nvPr/>
        </p:nvSpPr>
        <p:spPr>
          <a:xfrm>
            <a:off x="6492240" y="3017520"/>
            <a:ext cx="4983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onsolas"/>
              <a:buNone/>
            </a:pPr>
            <a:r>
              <a:rPr b="0" i="1" lang="en-US" sz="1200" u="none" cap="none" strike="noStrike">
                <a:solidFill>
                  <a:srgbClr val="1E293B"/>
                </a:solidFill>
                <a:latin typeface="Consolas"/>
                <a:ea typeface="Consolas"/>
                <a:cs typeface="Consolas"/>
                <a:sym typeface="Consolas"/>
              </a:rPr>
              <a:t>TP / (TP + FP)</a:t>
            </a:r>
            <a:endParaRPr b="0" i="0" sz="1200" u="none" cap="none" strike="noStrike">
              <a:solidFill>
                <a:schemeClr val="dk1"/>
              </a:solidFill>
              <a:latin typeface="Calibri"/>
              <a:ea typeface="Calibri"/>
              <a:cs typeface="Calibri"/>
              <a:sym typeface="Calibri"/>
            </a:endParaRPr>
          </a:p>
        </p:txBody>
      </p:sp>
      <p:sp>
        <p:nvSpPr>
          <p:cNvPr id="328" name="Google Shape;328;p14"/>
          <p:cNvSpPr/>
          <p:nvPr/>
        </p:nvSpPr>
        <p:spPr>
          <a:xfrm>
            <a:off x="6492240" y="3383280"/>
            <a:ext cx="49834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50"/>
              <a:buFont typeface="Calibri"/>
              <a:buNone/>
            </a:pPr>
            <a:r>
              <a:t/>
            </a:r>
            <a:endParaRPr b="0" i="0" sz="1150" u="none" cap="none" strike="noStrike">
              <a:solidFill>
                <a:schemeClr val="dk1"/>
              </a:solidFill>
              <a:latin typeface="Calibri"/>
              <a:ea typeface="Calibri"/>
              <a:cs typeface="Calibri"/>
              <a:sym typeface="Calibri"/>
            </a:endParaRPr>
          </a:p>
        </p:txBody>
      </p:sp>
      <p:sp>
        <p:nvSpPr>
          <p:cNvPr id="329" name="Google Shape;329;p14"/>
          <p:cNvSpPr/>
          <p:nvPr/>
        </p:nvSpPr>
        <p:spPr>
          <a:xfrm>
            <a:off x="548640" y="4343400"/>
            <a:ext cx="5532120" cy="18288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4"/>
          <p:cNvSpPr/>
          <p:nvPr/>
        </p:nvSpPr>
        <p:spPr>
          <a:xfrm>
            <a:off x="548640" y="4343400"/>
            <a:ext cx="73152" cy="1828800"/>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4"/>
          <p:cNvSpPr/>
          <p:nvPr/>
        </p:nvSpPr>
        <p:spPr>
          <a:xfrm>
            <a:off x="822960" y="4526280"/>
            <a:ext cx="49834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2000"/>
              <a:buFont typeface="Georgia"/>
              <a:buNone/>
            </a:pPr>
            <a:r>
              <a:rPr b="1" i="0" lang="en-US" sz="2000" u="none" cap="none" strike="noStrike">
                <a:solidFill>
                  <a:srgbClr val="F59E0B"/>
                </a:solidFill>
                <a:latin typeface="Georgia"/>
                <a:ea typeface="Georgia"/>
                <a:cs typeface="Georgia"/>
                <a:sym typeface="Georgia"/>
              </a:rPr>
              <a:t>Recall</a:t>
            </a:r>
            <a:endParaRPr b="0" i="0" sz="2000" u="none" cap="none" strike="noStrike">
              <a:solidFill>
                <a:schemeClr val="dk1"/>
              </a:solidFill>
              <a:latin typeface="Calibri"/>
              <a:ea typeface="Calibri"/>
              <a:cs typeface="Calibri"/>
              <a:sym typeface="Calibri"/>
            </a:endParaRPr>
          </a:p>
        </p:txBody>
      </p:sp>
      <p:sp>
        <p:nvSpPr>
          <p:cNvPr id="332" name="Google Shape;332;p14"/>
          <p:cNvSpPr/>
          <p:nvPr/>
        </p:nvSpPr>
        <p:spPr>
          <a:xfrm>
            <a:off x="822960" y="4983480"/>
            <a:ext cx="4983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onsolas"/>
              <a:buNone/>
            </a:pPr>
            <a:r>
              <a:rPr b="0" i="1" lang="en-US" sz="1200" u="none" cap="none" strike="noStrike">
                <a:solidFill>
                  <a:srgbClr val="1E293B"/>
                </a:solidFill>
                <a:latin typeface="Consolas"/>
                <a:ea typeface="Consolas"/>
                <a:cs typeface="Consolas"/>
                <a:sym typeface="Consolas"/>
              </a:rPr>
              <a:t>TP / (TP + FN)</a:t>
            </a:r>
            <a:endParaRPr b="0" i="0" sz="1200" u="none" cap="none" strike="noStrike">
              <a:solidFill>
                <a:schemeClr val="dk1"/>
              </a:solidFill>
              <a:latin typeface="Calibri"/>
              <a:ea typeface="Calibri"/>
              <a:cs typeface="Calibri"/>
              <a:sym typeface="Calibri"/>
            </a:endParaRPr>
          </a:p>
        </p:txBody>
      </p:sp>
      <p:sp>
        <p:nvSpPr>
          <p:cNvPr id="333" name="Google Shape;333;p14"/>
          <p:cNvSpPr/>
          <p:nvPr/>
        </p:nvSpPr>
        <p:spPr>
          <a:xfrm>
            <a:off x="822960" y="5349240"/>
            <a:ext cx="49834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50"/>
              <a:buFont typeface="Calibri"/>
              <a:buNone/>
            </a:pPr>
            <a:r>
              <a:t/>
            </a:r>
            <a:endParaRPr b="0" i="0" sz="1150" u="none" cap="none" strike="noStrike">
              <a:solidFill>
                <a:schemeClr val="dk1"/>
              </a:solidFill>
              <a:latin typeface="Calibri"/>
              <a:ea typeface="Calibri"/>
              <a:cs typeface="Calibri"/>
              <a:sym typeface="Calibri"/>
            </a:endParaRPr>
          </a:p>
        </p:txBody>
      </p:sp>
      <p:sp>
        <p:nvSpPr>
          <p:cNvPr id="334" name="Google Shape;334;p14"/>
          <p:cNvSpPr/>
          <p:nvPr/>
        </p:nvSpPr>
        <p:spPr>
          <a:xfrm>
            <a:off x="6217920" y="4343400"/>
            <a:ext cx="5532120" cy="182880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4"/>
          <p:cNvSpPr/>
          <p:nvPr/>
        </p:nvSpPr>
        <p:spPr>
          <a:xfrm>
            <a:off x="6217920" y="4343400"/>
            <a:ext cx="73152" cy="1828800"/>
          </a:xfrm>
          <a:prstGeom prst="rect">
            <a:avLst/>
          </a:prstGeom>
          <a:solidFill>
            <a:srgbClr val="5C8C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4"/>
          <p:cNvSpPr/>
          <p:nvPr/>
        </p:nvSpPr>
        <p:spPr>
          <a:xfrm>
            <a:off x="6492240" y="4526280"/>
            <a:ext cx="49834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8C7A"/>
              </a:buClr>
              <a:buSzPts val="2000"/>
              <a:buFont typeface="Georgia"/>
              <a:buNone/>
            </a:pPr>
            <a:r>
              <a:rPr b="1" i="0" lang="en-US" sz="2000" u="none" cap="none" strike="noStrike">
                <a:solidFill>
                  <a:srgbClr val="5C8C7A"/>
                </a:solidFill>
                <a:latin typeface="Georgia"/>
                <a:ea typeface="Georgia"/>
                <a:cs typeface="Georgia"/>
                <a:sym typeface="Georgia"/>
              </a:rPr>
              <a:t>F1 (Macro)</a:t>
            </a:r>
            <a:endParaRPr b="0" i="0" sz="2000" u="none" cap="none" strike="noStrike">
              <a:solidFill>
                <a:schemeClr val="dk1"/>
              </a:solidFill>
              <a:latin typeface="Calibri"/>
              <a:ea typeface="Calibri"/>
              <a:cs typeface="Calibri"/>
              <a:sym typeface="Calibri"/>
            </a:endParaRPr>
          </a:p>
        </p:txBody>
      </p:sp>
      <p:sp>
        <p:nvSpPr>
          <p:cNvPr id="337" name="Google Shape;337;p14"/>
          <p:cNvSpPr/>
          <p:nvPr/>
        </p:nvSpPr>
        <p:spPr>
          <a:xfrm>
            <a:off x="6492240" y="4983480"/>
            <a:ext cx="4983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onsolas"/>
              <a:buNone/>
            </a:pPr>
            <a:r>
              <a:rPr b="0" i="1" lang="en-US" sz="1200" u="none" cap="none" strike="noStrike">
                <a:solidFill>
                  <a:srgbClr val="1E293B"/>
                </a:solidFill>
                <a:latin typeface="Consolas"/>
                <a:ea typeface="Consolas"/>
                <a:cs typeface="Consolas"/>
                <a:sym typeface="Consolas"/>
              </a:rPr>
              <a:t>mean of P &amp; R</a:t>
            </a:r>
            <a:endParaRPr b="0" i="0" sz="1200" u="none" cap="none" strike="noStrike">
              <a:solidFill>
                <a:schemeClr val="dk1"/>
              </a:solidFill>
              <a:latin typeface="Calibri"/>
              <a:ea typeface="Calibri"/>
              <a:cs typeface="Calibri"/>
              <a:sym typeface="Calibri"/>
            </a:endParaRPr>
          </a:p>
        </p:txBody>
      </p:sp>
      <p:sp>
        <p:nvSpPr>
          <p:cNvPr id="338" name="Google Shape;338;p14"/>
          <p:cNvSpPr/>
          <p:nvPr/>
        </p:nvSpPr>
        <p:spPr>
          <a:xfrm>
            <a:off x="548640" y="6126480"/>
            <a:ext cx="11064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45309"/>
              </a:buClr>
              <a:buSzPts val="1100"/>
              <a:buFont typeface="Calibri"/>
              <a:buNone/>
            </a:pPr>
            <a:r>
              <a:rPr b="1" i="0" lang="en-US" sz="1100" u="none" cap="none" strike="noStrike">
                <a:solidFill>
                  <a:srgbClr val="B45309"/>
                </a:solidFill>
                <a:latin typeface="Calibri"/>
                <a:ea typeface="Calibri"/>
                <a:cs typeface="Calibri"/>
                <a:sym typeface="Calibri"/>
              </a:rPr>
              <a:t>Plus: per-class confusion matrix to see exactly where the model confuses severities (e.g. mistaking Severity 3 for 4).</a:t>
            </a:r>
            <a:endParaRPr b="0" i="0" sz="1100" u="none" cap="none" strike="noStrike">
              <a:solidFill>
                <a:schemeClr val="dk1"/>
              </a:solidFill>
              <a:latin typeface="Calibri"/>
              <a:ea typeface="Calibri"/>
              <a:cs typeface="Calibri"/>
              <a:sym typeface="Calibri"/>
            </a:endParaRPr>
          </a:p>
        </p:txBody>
      </p:sp>
      <p:cxnSp>
        <p:nvCxnSpPr>
          <p:cNvPr id="339" name="Google Shape;339;p14"/>
          <p:cNvCxnSpPr/>
          <p:nvPr/>
        </p:nvCxnSpPr>
        <p:spPr>
          <a:xfrm>
            <a:off x="548640" y="6446520"/>
            <a:ext cx="11094415" cy="0"/>
          </a:xfrm>
          <a:prstGeom prst="straightConnector1">
            <a:avLst/>
          </a:prstGeom>
          <a:noFill/>
          <a:ln cap="flat" cmpd="sng" w="9525">
            <a:solidFill>
              <a:srgbClr val="E2E8F0"/>
            </a:solidFill>
            <a:prstDash val="solid"/>
            <a:round/>
            <a:headEnd len="sm" w="sm" type="none"/>
            <a:tailEnd len="sm" w="sm" type="none"/>
          </a:ln>
        </p:spPr>
      </p:cxnSp>
      <p:sp>
        <p:nvSpPr>
          <p:cNvPr id="340" name="Google Shape;340;p14"/>
          <p:cNvSpPr/>
          <p:nvPr/>
        </p:nvSpPr>
        <p:spPr>
          <a:xfrm>
            <a:off x="54864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BioBERT · Soccer Injury Severity Classification</a:t>
            </a:r>
            <a:endParaRPr b="0" i="0" sz="900" u="none" cap="none" strike="noStrike">
              <a:solidFill>
                <a:schemeClr val="dk1"/>
              </a:solidFill>
              <a:latin typeface="Calibri"/>
              <a:ea typeface="Calibri"/>
              <a:cs typeface="Calibri"/>
              <a:sym typeface="Calibri"/>
            </a:endParaRPr>
          </a:p>
        </p:txBody>
      </p:sp>
      <p:sp>
        <p:nvSpPr>
          <p:cNvPr id="341" name="Google Shape;341;p14"/>
          <p:cNvSpPr/>
          <p:nvPr/>
        </p:nvSpPr>
        <p:spPr>
          <a:xfrm>
            <a:off x="10728655" y="649224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12 / 16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6" name="Shape 346"/>
        <p:cNvGrpSpPr/>
        <p:nvPr/>
      </p:nvGrpSpPr>
      <p:grpSpPr>
        <a:xfrm>
          <a:off x="0" y="0"/>
          <a:ext cx="0" cy="0"/>
          <a:chOff x="0" y="0"/>
          <a:chExt cx="0" cy="0"/>
        </a:xfrm>
      </p:grpSpPr>
      <p:sp>
        <p:nvSpPr>
          <p:cNvPr id="347" name="Google Shape;347;p15"/>
          <p:cNvSpPr/>
          <p:nvPr/>
        </p:nvSpPr>
        <p:spPr>
          <a:xfrm>
            <a:off x="548640" y="45720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100"/>
              <a:buFont typeface="Calibri"/>
              <a:buNone/>
            </a:pPr>
            <a:r>
              <a:rPr b="1" i="0" lang="en-US" sz="1100" u="none" cap="none" strike="noStrike">
                <a:solidFill>
                  <a:srgbClr val="B45309"/>
                </a:solidFill>
                <a:latin typeface="Calibri"/>
                <a:ea typeface="Calibri"/>
                <a:cs typeface="Calibri"/>
                <a:sym typeface="Calibri"/>
              </a:rPr>
              <a:t>12  ·  LIMITATIONS</a:t>
            </a:r>
            <a:endParaRPr b="0" i="0" sz="1100" u="none" cap="none" strike="noStrike">
              <a:solidFill>
                <a:schemeClr val="dk1"/>
              </a:solidFill>
              <a:latin typeface="Calibri"/>
              <a:ea typeface="Calibri"/>
              <a:cs typeface="Calibri"/>
              <a:sym typeface="Calibri"/>
            </a:endParaRPr>
          </a:p>
        </p:txBody>
      </p:sp>
      <p:sp>
        <p:nvSpPr>
          <p:cNvPr id="348" name="Google Shape;348;p15"/>
          <p:cNvSpPr/>
          <p:nvPr/>
        </p:nvSpPr>
        <p:spPr>
          <a:xfrm>
            <a:off x="548640" y="77724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3200"/>
              <a:buFont typeface="Georgia"/>
              <a:buNone/>
            </a:pPr>
            <a:r>
              <a:rPr b="1" i="0" lang="en-US" sz="3200" u="none" cap="none" strike="noStrike">
                <a:solidFill>
                  <a:srgbClr val="1E293B"/>
                </a:solidFill>
                <a:latin typeface="Georgia"/>
                <a:ea typeface="Georgia"/>
                <a:cs typeface="Georgia"/>
                <a:sym typeface="Georgia"/>
              </a:rPr>
              <a:t>Where this approach falls short</a:t>
            </a:r>
            <a:endParaRPr b="0" i="0" sz="3200" u="none" cap="none" strike="noStrike">
              <a:solidFill>
                <a:schemeClr val="dk1"/>
              </a:solidFill>
              <a:latin typeface="Calibri"/>
              <a:ea typeface="Calibri"/>
              <a:cs typeface="Calibri"/>
              <a:sym typeface="Calibri"/>
            </a:endParaRPr>
          </a:p>
        </p:txBody>
      </p:sp>
      <p:sp>
        <p:nvSpPr>
          <p:cNvPr id="349" name="Google Shape;349;p15"/>
          <p:cNvSpPr/>
          <p:nvPr/>
        </p:nvSpPr>
        <p:spPr>
          <a:xfrm>
            <a:off x="548640" y="1554480"/>
            <a:ext cx="10972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Calibri"/>
              <a:buNone/>
            </a:pPr>
            <a:r>
              <a:rPr b="0" i="1" lang="en-US" sz="1300" u="none" cap="none" strike="noStrike">
                <a:solidFill>
                  <a:srgbClr val="64748B"/>
                </a:solidFill>
                <a:latin typeface="Calibri"/>
                <a:ea typeface="Calibri"/>
                <a:cs typeface="Calibri"/>
                <a:sym typeface="Calibri"/>
              </a:rPr>
              <a:t>BioBERT on a Kaggle dataset is a strong starting point, not a finished product. Honest engineering requires acknowledging the gaps.</a:t>
            </a:r>
            <a:endParaRPr b="0" i="0" sz="1300" u="none" cap="none" strike="noStrike">
              <a:solidFill>
                <a:schemeClr val="dk1"/>
              </a:solidFill>
              <a:latin typeface="Calibri"/>
              <a:ea typeface="Calibri"/>
              <a:cs typeface="Calibri"/>
              <a:sym typeface="Calibri"/>
            </a:endParaRPr>
          </a:p>
        </p:txBody>
      </p:sp>
      <p:sp>
        <p:nvSpPr>
          <p:cNvPr id="350" name="Google Shape;350;p15"/>
          <p:cNvSpPr/>
          <p:nvPr/>
        </p:nvSpPr>
        <p:spPr>
          <a:xfrm>
            <a:off x="548640" y="2286000"/>
            <a:ext cx="5455768" cy="196596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5"/>
          <p:cNvSpPr/>
          <p:nvPr/>
        </p:nvSpPr>
        <p:spPr>
          <a:xfrm>
            <a:off x="822960" y="2560320"/>
            <a:ext cx="594360" cy="594360"/>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52" name="Google Shape;352;p15"/>
          <p:cNvPicPr preferRelativeResize="0"/>
          <p:nvPr/>
        </p:nvPicPr>
        <p:blipFill rotWithShape="1">
          <a:blip r:embed="rId3">
            <a:alphaModFix/>
          </a:blip>
          <a:srcRect b="0" l="0" r="0" t="0"/>
          <a:stretch/>
        </p:blipFill>
        <p:spPr>
          <a:xfrm>
            <a:off x="941832" y="2679192"/>
            <a:ext cx="356616" cy="356616"/>
          </a:xfrm>
          <a:prstGeom prst="rect">
            <a:avLst/>
          </a:prstGeom>
          <a:noFill/>
          <a:ln>
            <a:noFill/>
          </a:ln>
        </p:spPr>
      </p:pic>
      <p:sp>
        <p:nvSpPr>
          <p:cNvPr id="353" name="Google Shape;353;p15"/>
          <p:cNvSpPr/>
          <p:nvPr/>
        </p:nvSpPr>
        <p:spPr>
          <a:xfrm>
            <a:off x="1554480" y="2578608"/>
            <a:ext cx="4267048"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600"/>
              <a:buFont typeface="Georgia"/>
              <a:buNone/>
            </a:pPr>
            <a:r>
              <a:rPr b="1" i="0" lang="en-US" sz="1600" u="none" cap="none" strike="noStrike">
                <a:solidFill>
                  <a:srgbClr val="1E293B"/>
                </a:solidFill>
                <a:latin typeface="Georgia"/>
                <a:ea typeface="Georgia"/>
                <a:cs typeface="Georgia"/>
                <a:sym typeface="Georgia"/>
              </a:rPr>
              <a:t>Dataset </a:t>
            </a:r>
            <a:r>
              <a:rPr b="1" lang="en-US" sz="1600">
                <a:solidFill>
                  <a:srgbClr val="1E293B"/>
                </a:solidFill>
                <a:latin typeface="Georgia"/>
                <a:ea typeface="Georgia"/>
                <a:cs typeface="Georgia"/>
                <a:sym typeface="Georgia"/>
              </a:rPr>
              <a:t>Length</a:t>
            </a:r>
            <a:endParaRPr b="0" i="0" sz="1600" u="none" cap="none" strike="noStrike">
              <a:solidFill>
                <a:schemeClr val="dk1"/>
              </a:solidFill>
              <a:latin typeface="Calibri"/>
              <a:ea typeface="Calibri"/>
              <a:cs typeface="Calibri"/>
              <a:sym typeface="Calibri"/>
            </a:endParaRPr>
          </a:p>
        </p:txBody>
      </p:sp>
      <p:sp>
        <p:nvSpPr>
          <p:cNvPr id="354" name="Google Shape;354;p15"/>
          <p:cNvSpPr/>
          <p:nvPr/>
        </p:nvSpPr>
        <p:spPr>
          <a:xfrm>
            <a:off x="822960" y="3246120"/>
            <a:ext cx="4952848"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lang="en-US" sz="1200">
                <a:solidFill>
                  <a:srgbClr val="64748B"/>
                </a:solidFill>
                <a:latin typeface="Calibri"/>
                <a:ea typeface="Calibri"/>
                <a:cs typeface="Calibri"/>
                <a:sym typeface="Calibri"/>
              </a:rPr>
              <a:t>What about </a:t>
            </a:r>
            <a:r>
              <a:rPr lang="en-US" sz="1200">
                <a:solidFill>
                  <a:srgbClr val="64748B"/>
                </a:solidFill>
                <a:latin typeface="Calibri"/>
                <a:ea typeface="Calibri"/>
                <a:cs typeface="Calibri"/>
                <a:sym typeface="Calibri"/>
              </a:rPr>
              <a:t>children</a:t>
            </a:r>
            <a:r>
              <a:rPr lang="en-US" sz="1200">
                <a:solidFill>
                  <a:srgbClr val="64748B"/>
                </a:solidFill>
                <a:latin typeface="Calibri"/>
                <a:ea typeface="Calibri"/>
                <a:cs typeface="Calibri"/>
                <a:sym typeface="Calibri"/>
              </a:rPr>
              <a:t>? Women? Diversity!?</a:t>
            </a:r>
            <a:endParaRPr b="0" i="0" sz="1200" u="none" cap="none" strike="noStrike">
              <a:solidFill>
                <a:schemeClr val="dk1"/>
              </a:solidFill>
              <a:latin typeface="Calibri"/>
              <a:ea typeface="Calibri"/>
              <a:cs typeface="Calibri"/>
              <a:sym typeface="Calibri"/>
            </a:endParaRPr>
          </a:p>
        </p:txBody>
      </p:sp>
      <p:sp>
        <p:nvSpPr>
          <p:cNvPr id="355" name="Google Shape;355;p15"/>
          <p:cNvSpPr/>
          <p:nvPr/>
        </p:nvSpPr>
        <p:spPr>
          <a:xfrm>
            <a:off x="6187288" y="2286000"/>
            <a:ext cx="5455768" cy="196596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5"/>
          <p:cNvSpPr/>
          <p:nvPr/>
        </p:nvSpPr>
        <p:spPr>
          <a:xfrm>
            <a:off x="6461608" y="2560320"/>
            <a:ext cx="594360" cy="594360"/>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57" name="Google Shape;357;p15"/>
          <p:cNvPicPr preferRelativeResize="0"/>
          <p:nvPr/>
        </p:nvPicPr>
        <p:blipFill rotWithShape="1">
          <a:blip r:embed="rId4">
            <a:alphaModFix/>
          </a:blip>
          <a:srcRect b="0" l="0" r="0" t="0"/>
          <a:stretch/>
        </p:blipFill>
        <p:spPr>
          <a:xfrm>
            <a:off x="6580480" y="2679192"/>
            <a:ext cx="356616" cy="356616"/>
          </a:xfrm>
          <a:prstGeom prst="rect">
            <a:avLst/>
          </a:prstGeom>
          <a:noFill/>
          <a:ln>
            <a:noFill/>
          </a:ln>
        </p:spPr>
      </p:pic>
      <p:sp>
        <p:nvSpPr>
          <p:cNvPr id="358" name="Google Shape;358;p15"/>
          <p:cNvSpPr/>
          <p:nvPr/>
        </p:nvSpPr>
        <p:spPr>
          <a:xfrm>
            <a:off x="7193128" y="2578608"/>
            <a:ext cx="4267048"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600"/>
              <a:buFont typeface="Georgia"/>
              <a:buNone/>
            </a:pPr>
            <a:r>
              <a:rPr b="1" i="0" lang="en-US" sz="1600" u="none" cap="none" strike="noStrike">
                <a:solidFill>
                  <a:srgbClr val="1E293B"/>
                </a:solidFill>
                <a:latin typeface="Georgia"/>
                <a:ea typeface="Georgia"/>
                <a:cs typeface="Georgia"/>
                <a:sym typeface="Georgia"/>
              </a:rPr>
              <a:t>Domain </a:t>
            </a:r>
            <a:r>
              <a:rPr b="1" lang="en-US" sz="1600">
                <a:solidFill>
                  <a:srgbClr val="1E293B"/>
                </a:solidFill>
                <a:latin typeface="Georgia"/>
                <a:ea typeface="Georgia"/>
                <a:cs typeface="Georgia"/>
                <a:sym typeface="Georgia"/>
              </a:rPr>
              <a:t>Errors</a:t>
            </a:r>
            <a:endParaRPr b="0" i="0" sz="1600" u="none" cap="none" strike="noStrike">
              <a:solidFill>
                <a:schemeClr val="dk1"/>
              </a:solidFill>
              <a:latin typeface="Calibri"/>
              <a:ea typeface="Calibri"/>
              <a:cs typeface="Calibri"/>
              <a:sym typeface="Calibri"/>
            </a:endParaRPr>
          </a:p>
        </p:txBody>
      </p:sp>
      <p:sp>
        <p:nvSpPr>
          <p:cNvPr id="359" name="Google Shape;359;p15"/>
          <p:cNvSpPr/>
          <p:nvPr/>
        </p:nvSpPr>
        <p:spPr>
          <a:xfrm>
            <a:off x="6461608" y="3246107"/>
            <a:ext cx="49527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br>
              <a:rPr lang="en-US" sz="1200">
                <a:solidFill>
                  <a:srgbClr val="64748B"/>
                </a:solidFill>
                <a:latin typeface="Calibri"/>
                <a:ea typeface="Calibri"/>
                <a:cs typeface="Calibri"/>
                <a:sym typeface="Calibri"/>
              </a:rPr>
            </a:br>
            <a:r>
              <a:rPr lang="en-US" sz="1200">
                <a:solidFill>
                  <a:srgbClr val="64748B"/>
                </a:solidFill>
                <a:latin typeface="Calibri"/>
                <a:ea typeface="Calibri"/>
                <a:cs typeface="Calibri"/>
                <a:sym typeface="Calibri"/>
              </a:rPr>
              <a:t>How do I tell it I got cleated?”</a:t>
            </a:r>
            <a:endParaRPr sz="1200">
              <a:solidFill>
                <a:srgbClr val="64748B"/>
              </a:solidFill>
              <a:latin typeface="Calibri"/>
              <a:ea typeface="Calibri"/>
              <a:cs typeface="Calibri"/>
              <a:sym typeface="Calibri"/>
            </a:endParaRPr>
          </a:p>
        </p:txBody>
      </p:sp>
      <p:sp>
        <p:nvSpPr>
          <p:cNvPr id="360" name="Google Shape;360;p15"/>
          <p:cNvSpPr/>
          <p:nvPr/>
        </p:nvSpPr>
        <p:spPr>
          <a:xfrm>
            <a:off x="548640" y="4434840"/>
            <a:ext cx="5455768" cy="196596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5"/>
          <p:cNvSpPr/>
          <p:nvPr/>
        </p:nvSpPr>
        <p:spPr>
          <a:xfrm>
            <a:off x="822960" y="4709160"/>
            <a:ext cx="594360" cy="594360"/>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62" name="Google Shape;362;p15"/>
          <p:cNvPicPr preferRelativeResize="0"/>
          <p:nvPr/>
        </p:nvPicPr>
        <p:blipFill rotWithShape="1">
          <a:blip r:embed="rId5">
            <a:alphaModFix/>
          </a:blip>
          <a:srcRect b="0" l="0" r="0" t="0"/>
          <a:stretch/>
        </p:blipFill>
        <p:spPr>
          <a:xfrm>
            <a:off x="941832" y="4828032"/>
            <a:ext cx="356616" cy="356616"/>
          </a:xfrm>
          <a:prstGeom prst="rect">
            <a:avLst/>
          </a:prstGeom>
          <a:noFill/>
          <a:ln>
            <a:noFill/>
          </a:ln>
        </p:spPr>
      </p:pic>
      <p:sp>
        <p:nvSpPr>
          <p:cNvPr id="363" name="Google Shape;363;p15"/>
          <p:cNvSpPr/>
          <p:nvPr/>
        </p:nvSpPr>
        <p:spPr>
          <a:xfrm>
            <a:off x="1554480" y="4727448"/>
            <a:ext cx="4267048"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600"/>
              <a:buFont typeface="Georgia"/>
              <a:buNone/>
            </a:pPr>
            <a:r>
              <a:rPr b="1" i="0" lang="en-US" sz="1600" u="none" cap="none" strike="noStrike">
                <a:solidFill>
                  <a:srgbClr val="1E293B"/>
                </a:solidFill>
                <a:latin typeface="Georgia"/>
                <a:ea typeface="Georgia"/>
                <a:cs typeface="Georgia"/>
                <a:sym typeface="Georgia"/>
              </a:rPr>
              <a:t>Label subjectivity</a:t>
            </a:r>
            <a:endParaRPr b="0" i="0" sz="1600" u="none" cap="none" strike="noStrike">
              <a:solidFill>
                <a:schemeClr val="dk1"/>
              </a:solidFill>
              <a:latin typeface="Calibri"/>
              <a:ea typeface="Calibri"/>
              <a:cs typeface="Calibri"/>
              <a:sym typeface="Calibri"/>
            </a:endParaRPr>
          </a:p>
        </p:txBody>
      </p:sp>
      <p:sp>
        <p:nvSpPr>
          <p:cNvPr id="364" name="Google Shape;364;p15"/>
          <p:cNvSpPr/>
          <p:nvPr/>
        </p:nvSpPr>
        <p:spPr>
          <a:xfrm>
            <a:off x="822960" y="5394960"/>
            <a:ext cx="4952848"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lang="en-US" sz="1200">
                <a:solidFill>
                  <a:srgbClr val="64748B"/>
                </a:solidFill>
                <a:latin typeface="Calibri"/>
                <a:ea typeface="Calibri"/>
                <a:cs typeface="Calibri"/>
                <a:sym typeface="Calibri"/>
              </a:rPr>
              <a:t>Flu = 2 weeks=minor</a:t>
            </a:r>
            <a:endParaRPr sz="1200">
              <a:solidFill>
                <a:srgbClr val="64748B"/>
              </a:solidFill>
              <a:latin typeface="Calibri"/>
              <a:ea typeface="Calibri"/>
              <a:cs typeface="Calibri"/>
              <a:sym typeface="Calibri"/>
            </a:endParaRPr>
          </a:p>
          <a:p>
            <a:pPr indent="0" lvl="0" marL="0" marR="0" rtl="0" algn="l">
              <a:spcBef>
                <a:spcPts val="0"/>
              </a:spcBef>
              <a:spcAft>
                <a:spcPts val="0"/>
              </a:spcAft>
              <a:buClr>
                <a:srgbClr val="64748B"/>
              </a:buClr>
              <a:buSzPts val="1200"/>
              <a:buFont typeface="Calibri"/>
              <a:buNone/>
            </a:pPr>
            <a:r>
              <a:rPr lang="en-US" sz="1200">
                <a:solidFill>
                  <a:srgbClr val="64748B"/>
                </a:solidFill>
                <a:latin typeface="Calibri"/>
                <a:ea typeface="Calibri"/>
                <a:cs typeface="Calibri"/>
                <a:sym typeface="Calibri"/>
              </a:rPr>
              <a:t>Broken arm = 3 months=moderate</a:t>
            </a:r>
            <a:endParaRPr sz="1200">
              <a:solidFill>
                <a:srgbClr val="64748B"/>
              </a:solidFill>
              <a:latin typeface="Calibri"/>
              <a:ea typeface="Calibri"/>
              <a:cs typeface="Calibri"/>
              <a:sym typeface="Calibri"/>
            </a:endParaRPr>
          </a:p>
        </p:txBody>
      </p:sp>
      <p:sp>
        <p:nvSpPr>
          <p:cNvPr id="365" name="Google Shape;365;p15"/>
          <p:cNvSpPr/>
          <p:nvPr/>
        </p:nvSpPr>
        <p:spPr>
          <a:xfrm>
            <a:off x="6187288" y="4434840"/>
            <a:ext cx="5455768" cy="196596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5"/>
          <p:cNvSpPr/>
          <p:nvPr/>
        </p:nvSpPr>
        <p:spPr>
          <a:xfrm>
            <a:off x="6461608" y="4709160"/>
            <a:ext cx="594360" cy="594360"/>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67" name="Google Shape;367;p15"/>
          <p:cNvPicPr preferRelativeResize="0"/>
          <p:nvPr/>
        </p:nvPicPr>
        <p:blipFill rotWithShape="1">
          <a:blip r:embed="rId6">
            <a:alphaModFix/>
          </a:blip>
          <a:srcRect b="0" l="0" r="0" t="0"/>
          <a:stretch/>
        </p:blipFill>
        <p:spPr>
          <a:xfrm>
            <a:off x="6580480" y="4828032"/>
            <a:ext cx="356616" cy="356616"/>
          </a:xfrm>
          <a:prstGeom prst="rect">
            <a:avLst/>
          </a:prstGeom>
          <a:noFill/>
          <a:ln>
            <a:noFill/>
          </a:ln>
        </p:spPr>
      </p:pic>
      <p:sp>
        <p:nvSpPr>
          <p:cNvPr id="368" name="Google Shape;368;p15"/>
          <p:cNvSpPr/>
          <p:nvPr/>
        </p:nvSpPr>
        <p:spPr>
          <a:xfrm>
            <a:off x="7193128" y="4727448"/>
            <a:ext cx="4267048"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600"/>
              <a:buFont typeface="Georgia"/>
              <a:buNone/>
            </a:pPr>
            <a:r>
              <a:rPr b="1" i="0" lang="en-US" sz="1600" u="none" cap="none" strike="noStrike">
                <a:solidFill>
                  <a:srgbClr val="1E293B"/>
                </a:solidFill>
                <a:latin typeface="Georgia"/>
                <a:ea typeface="Georgia"/>
                <a:cs typeface="Georgia"/>
                <a:sym typeface="Georgia"/>
              </a:rPr>
              <a:t>Single modality</a:t>
            </a:r>
            <a:endParaRPr b="0" i="0" sz="1600" u="none" cap="none" strike="noStrike">
              <a:solidFill>
                <a:schemeClr val="dk1"/>
              </a:solidFill>
              <a:latin typeface="Calibri"/>
              <a:ea typeface="Calibri"/>
              <a:cs typeface="Calibri"/>
              <a:sym typeface="Calibri"/>
            </a:endParaRPr>
          </a:p>
        </p:txBody>
      </p:sp>
      <p:sp>
        <p:nvSpPr>
          <p:cNvPr id="369" name="Google Shape;369;p15"/>
          <p:cNvSpPr/>
          <p:nvPr/>
        </p:nvSpPr>
        <p:spPr>
          <a:xfrm>
            <a:off x="6461608" y="5394960"/>
            <a:ext cx="4952848"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lang="en-US" sz="1200">
                <a:solidFill>
                  <a:srgbClr val="64748B"/>
                </a:solidFill>
                <a:latin typeface="Calibri"/>
                <a:ea typeface="Calibri"/>
                <a:cs typeface="Calibri"/>
                <a:sym typeface="Calibri"/>
              </a:rPr>
              <a:t>1st injury: Broken right leg - 3 months moderate</a:t>
            </a:r>
            <a:endParaRPr sz="1200">
              <a:solidFill>
                <a:srgbClr val="64748B"/>
              </a:solidFill>
              <a:latin typeface="Calibri"/>
              <a:ea typeface="Calibri"/>
              <a:cs typeface="Calibri"/>
              <a:sym typeface="Calibri"/>
            </a:endParaRPr>
          </a:p>
          <a:p>
            <a:pPr indent="0" lvl="0" marL="0" rtl="0" algn="l">
              <a:spcBef>
                <a:spcPts val="0"/>
              </a:spcBef>
              <a:spcAft>
                <a:spcPts val="0"/>
              </a:spcAft>
              <a:buClr>
                <a:srgbClr val="64748B"/>
              </a:buClr>
              <a:buSzPts val="1200"/>
              <a:buFont typeface="Calibri"/>
              <a:buNone/>
            </a:pPr>
            <a:r>
              <a:rPr lang="en-US" sz="1200">
                <a:solidFill>
                  <a:srgbClr val="64748B"/>
                </a:solidFill>
                <a:latin typeface="Calibri"/>
                <a:ea typeface="Calibri"/>
                <a:cs typeface="Calibri"/>
                <a:sym typeface="Calibri"/>
              </a:rPr>
              <a:t>2nd </a:t>
            </a:r>
            <a:r>
              <a:rPr lang="en-US" sz="1200">
                <a:solidFill>
                  <a:srgbClr val="64748B"/>
                </a:solidFill>
                <a:latin typeface="Calibri"/>
                <a:ea typeface="Calibri"/>
                <a:cs typeface="Calibri"/>
                <a:sym typeface="Calibri"/>
              </a:rPr>
              <a:t>injury: Broken right leg - 3 months moderate</a:t>
            </a:r>
            <a:endParaRPr sz="1200">
              <a:solidFill>
                <a:srgbClr val="64748B"/>
              </a:solidFill>
              <a:latin typeface="Calibri"/>
              <a:ea typeface="Calibri"/>
              <a:cs typeface="Calibri"/>
              <a:sym typeface="Calibri"/>
            </a:endParaRPr>
          </a:p>
          <a:p>
            <a:pPr indent="0" lvl="0" marL="0" rtl="0" algn="l">
              <a:spcBef>
                <a:spcPts val="0"/>
              </a:spcBef>
              <a:spcAft>
                <a:spcPts val="0"/>
              </a:spcAft>
              <a:buClr>
                <a:srgbClr val="64748B"/>
              </a:buClr>
              <a:buSzPts val="1200"/>
              <a:buFont typeface="Calibri"/>
              <a:buNone/>
            </a:pPr>
            <a:r>
              <a:rPr lang="en-US" sz="1200">
                <a:solidFill>
                  <a:srgbClr val="64748B"/>
                </a:solidFill>
                <a:latin typeface="Calibri"/>
                <a:ea typeface="Calibri"/>
                <a:cs typeface="Calibri"/>
                <a:sym typeface="Calibri"/>
              </a:rPr>
              <a:t>3rd injury: Broken right leg - 3 months moderate</a:t>
            </a:r>
            <a:endParaRPr sz="1200">
              <a:solidFill>
                <a:srgbClr val="64748B"/>
              </a:solidFill>
              <a:latin typeface="Calibri"/>
              <a:ea typeface="Calibri"/>
              <a:cs typeface="Calibri"/>
              <a:sym typeface="Calibri"/>
            </a:endParaRPr>
          </a:p>
          <a:p>
            <a:pPr indent="0" lvl="0" marL="0" rtl="0" algn="l">
              <a:spcBef>
                <a:spcPts val="0"/>
              </a:spcBef>
              <a:spcAft>
                <a:spcPts val="0"/>
              </a:spcAft>
              <a:buClr>
                <a:srgbClr val="64748B"/>
              </a:buClr>
              <a:buSzPts val="1200"/>
              <a:buFont typeface="Calibri"/>
              <a:buNone/>
            </a:pPr>
            <a:r>
              <a:rPr lang="en-US" sz="1200">
                <a:solidFill>
                  <a:srgbClr val="64748B"/>
                </a:solidFill>
                <a:latin typeface="Calibri"/>
                <a:ea typeface="Calibri"/>
                <a:cs typeface="Calibri"/>
                <a:sym typeface="Calibri"/>
              </a:rPr>
              <a:t>4th injury: Broken right leg - 3 months moderate</a:t>
            </a:r>
            <a:endParaRPr sz="1200">
              <a:solidFill>
                <a:srgbClr val="64748B"/>
              </a:solidFill>
              <a:latin typeface="Calibri"/>
              <a:ea typeface="Calibri"/>
              <a:cs typeface="Calibri"/>
              <a:sym typeface="Calibri"/>
            </a:endParaRPr>
          </a:p>
          <a:p>
            <a:pPr indent="0" lvl="0" marL="0" marR="0" rtl="0" algn="l">
              <a:spcBef>
                <a:spcPts val="0"/>
              </a:spcBef>
              <a:spcAft>
                <a:spcPts val="0"/>
              </a:spcAft>
              <a:buClr>
                <a:srgbClr val="64748B"/>
              </a:buClr>
              <a:buSzPts val="1200"/>
              <a:buFont typeface="Calibri"/>
              <a:buNone/>
            </a:pPr>
            <a:r>
              <a:t/>
            </a:r>
            <a:endParaRPr sz="1200">
              <a:solidFill>
                <a:srgbClr val="64748B"/>
              </a:solidFill>
              <a:latin typeface="Calibri"/>
              <a:ea typeface="Calibri"/>
              <a:cs typeface="Calibri"/>
              <a:sym typeface="Calibri"/>
            </a:endParaRPr>
          </a:p>
        </p:txBody>
      </p:sp>
      <p:cxnSp>
        <p:nvCxnSpPr>
          <p:cNvPr id="370" name="Google Shape;370;p15"/>
          <p:cNvCxnSpPr/>
          <p:nvPr/>
        </p:nvCxnSpPr>
        <p:spPr>
          <a:xfrm>
            <a:off x="548640" y="6446520"/>
            <a:ext cx="11094415" cy="0"/>
          </a:xfrm>
          <a:prstGeom prst="straightConnector1">
            <a:avLst/>
          </a:prstGeom>
          <a:noFill/>
          <a:ln cap="flat" cmpd="sng" w="9525">
            <a:solidFill>
              <a:srgbClr val="E2E8F0"/>
            </a:solidFill>
            <a:prstDash val="solid"/>
            <a:round/>
            <a:headEnd len="sm" w="sm" type="none"/>
            <a:tailEnd len="sm" w="sm" type="none"/>
          </a:ln>
        </p:spPr>
      </p:cxnSp>
      <p:sp>
        <p:nvSpPr>
          <p:cNvPr id="371" name="Google Shape;371;p15"/>
          <p:cNvSpPr/>
          <p:nvPr/>
        </p:nvSpPr>
        <p:spPr>
          <a:xfrm>
            <a:off x="54864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BioBERT · Soccer Injury Severity Classification</a:t>
            </a:r>
            <a:endParaRPr b="0" i="0" sz="900" u="none" cap="none" strike="noStrike">
              <a:solidFill>
                <a:schemeClr val="dk1"/>
              </a:solidFill>
              <a:latin typeface="Calibri"/>
              <a:ea typeface="Calibri"/>
              <a:cs typeface="Calibri"/>
              <a:sym typeface="Calibri"/>
            </a:endParaRPr>
          </a:p>
        </p:txBody>
      </p:sp>
      <p:sp>
        <p:nvSpPr>
          <p:cNvPr id="372" name="Google Shape;372;p15"/>
          <p:cNvSpPr/>
          <p:nvPr/>
        </p:nvSpPr>
        <p:spPr>
          <a:xfrm>
            <a:off x="10728655" y="649224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13 / 16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7" name="Shape 377"/>
        <p:cNvGrpSpPr/>
        <p:nvPr/>
      </p:nvGrpSpPr>
      <p:grpSpPr>
        <a:xfrm>
          <a:off x="0" y="0"/>
          <a:ext cx="0" cy="0"/>
          <a:chOff x="0" y="0"/>
          <a:chExt cx="0" cy="0"/>
        </a:xfrm>
      </p:grpSpPr>
      <p:sp>
        <p:nvSpPr>
          <p:cNvPr id="378" name="Google Shape;378;p16"/>
          <p:cNvSpPr/>
          <p:nvPr/>
        </p:nvSpPr>
        <p:spPr>
          <a:xfrm>
            <a:off x="548640" y="45720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100"/>
              <a:buFont typeface="Calibri"/>
              <a:buNone/>
            </a:pPr>
            <a:r>
              <a:rPr b="1" i="0" lang="en-US" sz="1100" u="none" cap="none" strike="noStrike">
                <a:solidFill>
                  <a:srgbClr val="B45309"/>
                </a:solidFill>
                <a:latin typeface="Calibri"/>
                <a:ea typeface="Calibri"/>
                <a:cs typeface="Calibri"/>
                <a:sym typeface="Calibri"/>
              </a:rPr>
              <a:t>13  ·  IMPROVEMENTS</a:t>
            </a:r>
            <a:endParaRPr b="0" i="0" sz="1100" u="none" cap="none" strike="noStrike">
              <a:solidFill>
                <a:schemeClr val="dk1"/>
              </a:solidFill>
              <a:latin typeface="Calibri"/>
              <a:ea typeface="Calibri"/>
              <a:cs typeface="Calibri"/>
              <a:sym typeface="Calibri"/>
            </a:endParaRPr>
          </a:p>
        </p:txBody>
      </p:sp>
      <p:sp>
        <p:nvSpPr>
          <p:cNvPr id="379" name="Google Shape;379;p16"/>
          <p:cNvSpPr/>
          <p:nvPr/>
        </p:nvSpPr>
        <p:spPr>
          <a:xfrm>
            <a:off x="548640" y="77724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3200"/>
              <a:buFont typeface="Georgia"/>
              <a:buNone/>
            </a:pPr>
            <a:r>
              <a:rPr b="1" i="0" lang="en-US" sz="3200" u="none" cap="none" strike="noStrike">
                <a:solidFill>
                  <a:srgbClr val="1E293B"/>
                </a:solidFill>
                <a:latin typeface="Georgia"/>
                <a:ea typeface="Georgia"/>
                <a:cs typeface="Georgia"/>
                <a:sym typeface="Georgia"/>
              </a:rPr>
              <a:t>Better datasets, better models</a:t>
            </a:r>
            <a:endParaRPr b="0" i="0" sz="3200" u="none" cap="none" strike="noStrike">
              <a:solidFill>
                <a:schemeClr val="dk1"/>
              </a:solidFill>
              <a:latin typeface="Calibri"/>
              <a:ea typeface="Calibri"/>
              <a:cs typeface="Calibri"/>
              <a:sym typeface="Calibri"/>
            </a:endParaRPr>
          </a:p>
        </p:txBody>
      </p:sp>
      <p:sp>
        <p:nvSpPr>
          <p:cNvPr id="380" name="Google Shape;380;p16"/>
          <p:cNvSpPr/>
          <p:nvPr/>
        </p:nvSpPr>
        <p:spPr>
          <a:xfrm>
            <a:off x="548640" y="1554480"/>
            <a:ext cx="5532120" cy="470916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6"/>
          <p:cNvSpPr/>
          <p:nvPr/>
        </p:nvSpPr>
        <p:spPr>
          <a:xfrm>
            <a:off x="822960" y="1828800"/>
            <a:ext cx="502920" cy="502920"/>
          </a:xfrm>
          <a:prstGeom prst="ellipse">
            <a:avLst/>
          </a:prstGeom>
          <a:solidFill>
            <a:srgbClr val="0F4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82" name="Google Shape;382;p16"/>
          <p:cNvPicPr preferRelativeResize="0"/>
          <p:nvPr/>
        </p:nvPicPr>
        <p:blipFill rotWithShape="1">
          <a:blip r:embed="rId3">
            <a:alphaModFix/>
          </a:blip>
          <a:srcRect b="0" l="0" r="0" t="0"/>
          <a:stretch/>
        </p:blipFill>
        <p:spPr>
          <a:xfrm>
            <a:off x="923544" y="1929384"/>
            <a:ext cx="301752" cy="301752"/>
          </a:xfrm>
          <a:prstGeom prst="rect">
            <a:avLst/>
          </a:prstGeom>
          <a:noFill/>
          <a:ln>
            <a:noFill/>
          </a:ln>
        </p:spPr>
      </p:pic>
      <p:sp>
        <p:nvSpPr>
          <p:cNvPr id="383" name="Google Shape;383;p16"/>
          <p:cNvSpPr/>
          <p:nvPr/>
        </p:nvSpPr>
        <p:spPr>
          <a:xfrm>
            <a:off x="1463040" y="1874520"/>
            <a:ext cx="44348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4C3A"/>
              </a:buClr>
              <a:buSzPts val="1600"/>
              <a:buFont typeface="Georgia"/>
              <a:buNone/>
            </a:pPr>
            <a:r>
              <a:rPr b="1" i="0" lang="en-US" sz="1600" u="none" cap="none" strike="noStrike">
                <a:solidFill>
                  <a:srgbClr val="0F4C3A"/>
                </a:solidFill>
                <a:latin typeface="Georgia"/>
                <a:ea typeface="Georgia"/>
                <a:cs typeface="Georgia"/>
                <a:sym typeface="Georgia"/>
              </a:rPr>
              <a:t>BETTER DATASETS</a:t>
            </a:r>
            <a:endParaRPr b="0" i="0" sz="1600" u="none" cap="none" strike="noStrike">
              <a:solidFill>
                <a:schemeClr val="dk1"/>
              </a:solidFill>
              <a:latin typeface="Calibri"/>
              <a:ea typeface="Calibri"/>
              <a:cs typeface="Calibri"/>
              <a:sym typeface="Calibri"/>
            </a:endParaRPr>
          </a:p>
        </p:txBody>
      </p:sp>
      <p:sp>
        <p:nvSpPr>
          <p:cNvPr id="384" name="Google Shape;384;p16"/>
          <p:cNvSpPr/>
          <p:nvPr/>
        </p:nvSpPr>
        <p:spPr>
          <a:xfrm>
            <a:off x="822960" y="2606040"/>
            <a:ext cx="4983600" cy="3429000"/>
          </a:xfrm>
          <a:prstGeom prst="rect">
            <a:avLst/>
          </a:prstGeom>
          <a:noFill/>
          <a:ln>
            <a:noFill/>
          </a:ln>
        </p:spPr>
        <p:txBody>
          <a:bodyPr anchorCtr="0" anchor="t" bIns="0" lIns="0" spcFirstLastPara="1" rIns="0" wrap="square" tIns="0">
            <a:noAutofit/>
          </a:bodyPr>
          <a:lstStyle/>
          <a:p>
            <a:pPr indent="0" lvl="0" marL="0" marR="0" rtl="0" algn="l">
              <a:spcBef>
                <a:spcPts val="200"/>
              </a:spcBef>
              <a:spcAft>
                <a:spcPts val="0"/>
              </a:spcAft>
              <a:buClr>
                <a:srgbClr val="1E293B"/>
              </a:buClr>
              <a:buSzPts val="1150"/>
              <a:buFont typeface="Calibri"/>
              <a:buNone/>
            </a:pPr>
            <a:r>
              <a:t/>
            </a:r>
            <a:endParaRPr b="0" i="0" sz="1150" u="none" cap="none" strike="noStrike">
              <a:solidFill>
                <a:schemeClr val="dk1"/>
              </a:solidFill>
              <a:latin typeface="Calibri"/>
              <a:ea typeface="Calibri"/>
              <a:cs typeface="Calibri"/>
              <a:sym typeface="Calibri"/>
            </a:endParaRPr>
          </a:p>
        </p:txBody>
      </p:sp>
      <p:sp>
        <p:nvSpPr>
          <p:cNvPr id="385" name="Google Shape;385;p16"/>
          <p:cNvSpPr/>
          <p:nvPr/>
        </p:nvSpPr>
        <p:spPr>
          <a:xfrm>
            <a:off x="6172200" y="1554480"/>
            <a:ext cx="5440680" cy="4709160"/>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6"/>
          <p:cNvSpPr/>
          <p:nvPr/>
        </p:nvSpPr>
        <p:spPr>
          <a:xfrm>
            <a:off x="6446520" y="1828800"/>
            <a:ext cx="502920" cy="502920"/>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87" name="Google Shape;387;p16"/>
          <p:cNvPicPr preferRelativeResize="0"/>
          <p:nvPr/>
        </p:nvPicPr>
        <p:blipFill rotWithShape="1">
          <a:blip r:embed="rId4">
            <a:alphaModFix/>
          </a:blip>
          <a:srcRect b="0" l="0" r="0" t="0"/>
          <a:stretch/>
        </p:blipFill>
        <p:spPr>
          <a:xfrm>
            <a:off x="6547104" y="1929384"/>
            <a:ext cx="301752" cy="301752"/>
          </a:xfrm>
          <a:prstGeom prst="rect">
            <a:avLst/>
          </a:prstGeom>
          <a:noFill/>
          <a:ln>
            <a:noFill/>
          </a:ln>
        </p:spPr>
      </p:pic>
      <p:sp>
        <p:nvSpPr>
          <p:cNvPr id="388" name="Google Shape;388;p16"/>
          <p:cNvSpPr/>
          <p:nvPr/>
        </p:nvSpPr>
        <p:spPr>
          <a:xfrm>
            <a:off x="7086600" y="1874520"/>
            <a:ext cx="4343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600"/>
              <a:buFont typeface="Georgia"/>
              <a:buNone/>
            </a:pPr>
            <a:r>
              <a:rPr b="1" i="0" lang="en-US" sz="1600" u="none" cap="none" strike="noStrike">
                <a:solidFill>
                  <a:srgbClr val="B45309"/>
                </a:solidFill>
                <a:latin typeface="Georgia"/>
                <a:ea typeface="Georgia"/>
                <a:cs typeface="Georgia"/>
                <a:sym typeface="Georgia"/>
              </a:rPr>
              <a:t>BETTER MODELS</a:t>
            </a:r>
            <a:endParaRPr b="0" i="0" sz="1600" u="none" cap="none" strike="noStrike">
              <a:solidFill>
                <a:schemeClr val="dk1"/>
              </a:solidFill>
              <a:latin typeface="Calibri"/>
              <a:ea typeface="Calibri"/>
              <a:cs typeface="Calibri"/>
              <a:sym typeface="Calibri"/>
            </a:endParaRPr>
          </a:p>
        </p:txBody>
      </p:sp>
      <p:sp>
        <p:nvSpPr>
          <p:cNvPr id="389" name="Google Shape;389;p16"/>
          <p:cNvSpPr/>
          <p:nvPr/>
        </p:nvSpPr>
        <p:spPr>
          <a:xfrm>
            <a:off x="6446520" y="2606040"/>
            <a:ext cx="4892040" cy="3429000"/>
          </a:xfrm>
          <a:prstGeom prst="rect">
            <a:avLst/>
          </a:prstGeom>
          <a:noFill/>
          <a:ln>
            <a:noFill/>
          </a:ln>
        </p:spPr>
        <p:txBody>
          <a:bodyPr anchorCtr="0" anchor="t" bIns="0" lIns="0" spcFirstLastPara="1" rIns="0" wrap="square" tIns="0">
            <a:noAutofit/>
          </a:bodyPr>
          <a:lstStyle/>
          <a:p>
            <a:pPr indent="0" lvl="0" marL="0" marR="0" rtl="0" algn="l">
              <a:spcBef>
                <a:spcPts val="200"/>
              </a:spcBef>
              <a:spcAft>
                <a:spcPts val="0"/>
              </a:spcAft>
              <a:buClr>
                <a:srgbClr val="1E293B"/>
              </a:buClr>
              <a:buSzPts val="1150"/>
              <a:buFont typeface="Calibri"/>
              <a:buNone/>
            </a:pPr>
            <a:r>
              <a:t/>
            </a:r>
            <a:endParaRPr b="0" i="0" sz="1150" u="none" cap="none" strike="noStrike">
              <a:solidFill>
                <a:schemeClr val="dk1"/>
              </a:solidFill>
              <a:latin typeface="Calibri"/>
              <a:ea typeface="Calibri"/>
              <a:cs typeface="Calibri"/>
              <a:sym typeface="Calibri"/>
            </a:endParaRPr>
          </a:p>
        </p:txBody>
      </p:sp>
      <p:cxnSp>
        <p:nvCxnSpPr>
          <p:cNvPr id="390" name="Google Shape;390;p16"/>
          <p:cNvCxnSpPr/>
          <p:nvPr/>
        </p:nvCxnSpPr>
        <p:spPr>
          <a:xfrm>
            <a:off x="548640" y="6446520"/>
            <a:ext cx="11094415" cy="0"/>
          </a:xfrm>
          <a:prstGeom prst="straightConnector1">
            <a:avLst/>
          </a:prstGeom>
          <a:noFill/>
          <a:ln cap="flat" cmpd="sng" w="9525">
            <a:solidFill>
              <a:srgbClr val="E2E8F0"/>
            </a:solidFill>
            <a:prstDash val="solid"/>
            <a:round/>
            <a:headEnd len="sm" w="sm" type="none"/>
            <a:tailEnd len="sm" w="sm" type="none"/>
          </a:ln>
        </p:spPr>
      </p:cxnSp>
      <p:sp>
        <p:nvSpPr>
          <p:cNvPr id="391" name="Google Shape;391;p16"/>
          <p:cNvSpPr/>
          <p:nvPr/>
        </p:nvSpPr>
        <p:spPr>
          <a:xfrm>
            <a:off x="54864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BioBERT · Soccer Injury Severity Classification</a:t>
            </a:r>
            <a:endParaRPr b="0" i="0" sz="900" u="none" cap="none" strike="noStrike">
              <a:solidFill>
                <a:schemeClr val="dk1"/>
              </a:solidFill>
              <a:latin typeface="Calibri"/>
              <a:ea typeface="Calibri"/>
              <a:cs typeface="Calibri"/>
              <a:sym typeface="Calibri"/>
            </a:endParaRPr>
          </a:p>
        </p:txBody>
      </p:sp>
      <p:sp>
        <p:nvSpPr>
          <p:cNvPr id="392" name="Google Shape;392;p16"/>
          <p:cNvSpPr/>
          <p:nvPr/>
        </p:nvSpPr>
        <p:spPr>
          <a:xfrm>
            <a:off x="10728655" y="649224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14 / 16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7" name="Shape 397"/>
        <p:cNvGrpSpPr/>
        <p:nvPr/>
      </p:nvGrpSpPr>
      <p:grpSpPr>
        <a:xfrm>
          <a:off x="0" y="0"/>
          <a:ext cx="0" cy="0"/>
          <a:chOff x="0" y="0"/>
          <a:chExt cx="0" cy="0"/>
        </a:xfrm>
      </p:grpSpPr>
      <p:sp>
        <p:nvSpPr>
          <p:cNvPr id="398" name="Google Shape;398;p17"/>
          <p:cNvSpPr/>
          <p:nvPr/>
        </p:nvSpPr>
        <p:spPr>
          <a:xfrm>
            <a:off x="548640" y="45720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309"/>
              </a:buClr>
              <a:buSzPts val="1100"/>
              <a:buFont typeface="Calibri"/>
              <a:buNone/>
            </a:pPr>
            <a:r>
              <a:rPr b="1" i="0" lang="en-US" sz="1100" u="none" cap="none" strike="noStrike">
                <a:solidFill>
                  <a:srgbClr val="B45309"/>
                </a:solidFill>
                <a:latin typeface="Calibri"/>
                <a:ea typeface="Calibri"/>
                <a:cs typeface="Calibri"/>
                <a:sym typeface="Calibri"/>
              </a:rPr>
              <a:t>14  ·  ROADMAP</a:t>
            </a:r>
            <a:endParaRPr b="0" i="0" sz="1100" u="none" cap="none" strike="noStrike">
              <a:solidFill>
                <a:schemeClr val="dk1"/>
              </a:solidFill>
              <a:latin typeface="Calibri"/>
              <a:ea typeface="Calibri"/>
              <a:cs typeface="Calibri"/>
              <a:sym typeface="Calibri"/>
            </a:endParaRPr>
          </a:p>
        </p:txBody>
      </p:sp>
      <p:sp>
        <p:nvSpPr>
          <p:cNvPr id="399" name="Google Shape;399;p17"/>
          <p:cNvSpPr/>
          <p:nvPr/>
        </p:nvSpPr>
        <p:spPr>
          <a:xfrm>
            <a:off x="548640" y="77724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3200"/>
              <a:buFont typeface="Georgia"/>
              <a:buNone/>
            </a:pPr>
            <a:r>
              <a:rPr b="1" i="0" lang="en-US" sz="3200" u="none" cap="none" strike="noStrike">
                <a:solidFill>
                  <a:srgbClr val="1E293B"/>
                </a:solidFill>
                <a:latin typeface="Georgia"/>
                <a:ea typeface="Georgia"/>
                <a:cs typeface="Georgia"/>
                <a:sym typeface="Georgia"/>
              </a:rPr>
              <a:t>Where we are &amp; what's next</a:t>
            </a:r>
            <a:endParaRPr b="0" i="0" sz="3200" u="none" cap="none" strike="noStrike">
              <a:solidFill>
                <a:schemeClr val="dk1"/>
              </a:solidFill>
              <a:latin typeface="Calibri"/>
              <a:ea typeface="Calibri"/>
              <a:cs typeface="Calibri"/>
              <a:sym typeface="Calibri"/>
            </a:endParaRPr>
          </a:p>
        </p:txBody>
      </p:sp>
      <p:cxnSp>
        <p:nvCxnSpPr>
          <p:cNvPr id="400" name="Google Shape;400;p17"/>
          <p:cNvCxnSpPr/>
          <p:nvPr/>
        </p:nvCxnSpPr>
        <p:spPr>
          <a:xfrm>
            <a:off x="914400" y="3291840"/>
            <a:ext cx="10362895" cy="0"/>
          </a:xfrm>
          <a:prstGeom prst="straightConnector1">
            <a:avLst/>
          </a:prstGeom>
          <a:noFill/>
          <a:ln cap="flat" cmpd="sng" w="25400">
            <a:solidFill>
              <a:srgbClr val="E2E8F0"/>
            </a:solidFill>
            <a:prstDash val="solid"/>
            <a:round/>
            <a:headEnd len="sm" w="sm" type="none"/>
            <a:tailEnd len="sm" w="sm" type="none"/>
          </a:ln>
        </p:spPr>
      </p:cxnSp>
      <p:sp>
        <p:nvSpPr>
          <p:cNvPr id="401" name="Google Shape;401;p17"/>
          <p:cNvSpPr/>
          <p:nvPr/>
        </p:nvSpPr>
        <p:spPr>
          <a:xfrm>
            <a:off x="1005840" y="3017520"/>
            <a:ext cx="548640" cy="548640"/>
          </a:xfrm>
          <a:prstGeom prst="ellipse">
            <a:avLst/>
          </a:prstGeom>
          <a:solidFill>
            <a:srgbClr val="0F4C3A"/>
          </a:solidFill>
          <a:ln cap="flat" cmpd="sng" w="25400">
            <a:solidFill>
              <a:srgbClr val="0F4C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7"/>
          <p:cNvSpPr/>
          <p:nvPr/>
        </p:nvSpPr>
        <p:spPr>
          <a:xfrm>
            <a:off x="1005790" y="3017520"/>
            <a:ext cx="548700" cy="54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403" name="Google Shape;403;p17"/>
          <p:cNvSpPr/>
          <p:nvPr/>
        </p:nvSpPr>
        <p:spPr>
          <a:xfrm>
            <a:off x="182880" y="2103120"/>
            <a:ext cx="21945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400"/>
              <a:buFont typeface="Georgia"/>
              <a:buNone/>
            </a:pPr>
            <a:r>
              <a:rPr b="1" i="0" lang="en-US" sz="1400" u="none" cap="none" strike="noStrike">
                <a:solidFill>
                  <a:srgbClr val="1E293B"/>
                </a:solidFill>
                <a:latin typeface="Georgia"/>
                <a:ea typeface="Georgia"/>
                <a:cs typeface="Georgia"/>
                <a:sym typeface="Georgia"/>
              </a:rPr>
              <a:t>Week 1</a:t>
            </a:r>
            <a:endParaRPr b="0" i="0" sz="1400" u="none" cap="none" strike="noStrike">
              <a:solidFill>
                <a:schemeClr val="dk1"/>
              </a:solidFill>
              <a:latin typeface="Calibri"/>
              <a:ea typeface="Calibri"/>
              <a:cs typeface="Calibri"/>
              <a:sym typeface="Calibri"/>
            </a:endParaRPr>
          </a:p>
        </p:txBody>
      </p:sp>
      <p:sp>
        <p:nvSpPr>
          <p:cNvPr id="404" name="Google Shape;404;p17"/>
          <p:cNvSpPr/>
          <p:nvPr/>
        </p:nvSpPr>
        <p:spPr>
          <a:xfrm>
            <a:off x="0" y="3703320"/>
            <a:ext cx="256032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Use case finalized,</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preliminary dataset</a:t>
            </a:r>
            <a:endParaRPr b="0" i="0" sz="1100" u="none" cap="none" strike="noStrike">
              <a:solidFill>
                <a:schemeClr val="dk1"/>
              </a:solidFill>
              <a:latin typeface="Calibri"/>
              <a:ea typeface="Calibri"/>
              <a:cs typeface="Calibri"/>
              <a:sym typeface="Calibri"/>
            </a:endParaRPr>
          </a:p>
        </p:txBody>
      </p:sp>
      <p:sp>
        <p:nvSpPr>
          <p:cNvPr id="405" name="Google Shape;405;p17"/>
          <p:cNvSpPr/>
          <p:nvPr/>
        </p:nvSpPr>
        <p:spPr>
          <a:xfrm>
            <a:off x="3749040" y="3017520"/>
            <a:ext cx="548640" cy="548640"/>
          </a:xfrm>
          <a:prstGeom prst="ellipse">
            <a:avLst/>
          </a:prstGeom>
          <a:solidFill>
            <a:srgbClr val="F59E0B"/>
          </a:solidFill>
          <a:ln cap="flat" cmpd="sng" w="254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7"/>
          <p:cNvSpPr/>
          <p:nvPr/>
        </p:nvSpPr>
        <p:spPr>
          <a:xfrm>
            <a:off x="2926080" y="2103120"/>
            <a:ext cx="21945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400"/>
              <a:buFont typeface="Georgia"/>
              <a:buNone/>
            </a:pPr>
            <a:r>
              <a:rPr b="1" i="0" lang="en-US" sz="1400" u="none" cap="none" strike="noStrike">
                <a:solidFill>
                  <a:srgbClr val="1E293B"/>
                </a:solidFill>
                <a:latin typeface="Georgia"/>
                <a:ea typeface="Georgia"/>
                <a:cs typeface="Georgia"/>
                <a:sym typeface="Georgia"/>
              </a:rPr>
              <a:t>Weeks 2–3</a:t>
            </a:r>
            <a:endParaRPr b="0" i="0" sz="1400" u="none" cap="none" strike="noStrike">
              <a:solidFill>
                <a:schemeClr val="dk1"/>
              </a:solidFill>
              <a:latin typeface="Calibri"/>
              <a:ea typeface="Calibri"/>
              <a:cs typeface="Calibri"/>
              <a:sym typeface="Calibri"/>
            </a:endParaRPr>
          </a:p>
        </p:txBody>
      </p:sp>
      <p:sp>
        <p:nvSpPr>
          <p:cNvPr id="407" name="Google Shape;407;p17"/>
          <p:cNvSpPr/>
          <p:nvPr/>
        </p:nvSpPr>
        <p:spPr>
          <a:xfrm>
            <a:off x="2743200" y="3703320"/>
            <a:ext cx="256032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Data labeling &amp;</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text cleaning</a:t>
            </a:r>
            <a:endParaRPr b="0" i="0" sz="1100" u="none" cap="none" strike="noStrike">
              <a:solidFill>
                <a:schemeClr val="dk1"/>
              </a:solidFill>
              <a:latin typeface="Calibri"/>
              <a:ea typeface="Calibri"/>
              <a:cs typeface="Calibri"/>
              <a:sym typeface="Calibri"/>
            </a:endParaRPr>
          </a:p>
        </p:txBody>
      </p:sp>
      <p:sp>
        <p:nvSpPr>
          <p:cNvPr id="408" name="Google Shape;408;p17"/>
          <p:cNvSpPr/>
          <p:nvPr/>
        </p:nvSpPr>
        <p:spPr>
          <a:xfrm>
            <a:off x="6492240" y="3017520"/>
            <a:ext cx="548640" cy="548640"/>
          </a:xfrm>
          <a:prstGeom prst="ellipse">
            <a:avLst/>
          </a:prstGeom>
          <a:solidFill>
            <a:srgbClr val="FFFFFF"/>
          </a:solidFill>
          <a:ln cap="flat" cmpd="sng" w="25400">
            <a:solidFill>
              <a:srgbClr val="6474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7"/>
          <p:cNvSpPr/>
          <p:nvPr/>
        </p:nvSpPr>
        <p:spPr>
          <a:xfrm>
            <a:off x="5669280" y="2103120"/>
            <a:ext cx="21945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400"/>
              <a:buFont typeface="Georgia"/>
              <a:buNone/>
            </a:pPr>
            <a:r>
              <a:rPr b="1" i="0" lang="en-US" sz="1400" u="none" cap="none" strike="noStrike">
                <a:solidFill>
                  <a:srgbClr val="1E293B"/>
                </a:solidFill>
                <a:latin typeface="Georgia"/>
                <a:ea typeface="Georgia"/>
                <a:cs typeface="Georgia"/>
                <a:sym typeface="Georgia"/>
              </a:rPr>
              <a:t>Weeks 3–4</a:t>
            </a:r>
            <a:endParaRPr b="0" i="0" sz="1400" u="none" cap="none" strike="noStrike">
              <a:solidFill>
                <a:schemeClr val="dk1"/>
              </a:solidFill>
              <a:latin typeface="Calibri"/>
              <a:ea typeface="Calibri"/>
              <a:cs typeface="Calibri"/>
              <a:sym typeface="Calibri"/>
            </a:endParaRPr>
          </a:p>
        </p:txBody>
      </p:sp>
      <p:sp>
        <p:nvSpPr>
          <p:cNvPr id="410" name="Google Shape;410;p17"/>
          <p:cNvSpPr/>
          <p:nvPr/>
        </p:nvSpPr>
        <p:spPr>
          <a:xfrm>
            <a:off x="5486400" y="3703320"/>
            <a:ext cx="256032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Fine-tune BioBERT,</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run experiments</a:t>
            </a:r>
            <a:endParaRPr b="0" i="0" sz="1100" u="none" cap="none" strike="noStrike">
              <a:solidFill>
                <a:schemeClr val="dk1"/>
              </a:solidFill>
              <a:latin typeface="Calibri"/>
              <a:ea typeface="Calibri"/>
              <a:cs typeface="Calibri"/>
              <a:sym typeface="Calibri"/>
            </a:endParaRPr>
          </a:p>
        </p:txBody>
      </p:sp>
      <p:sp>
        <p:nvSpPr>
          <p:cNvPr id="411" name="Google Shape;411;p17"/>
          <p:cNvSpPr/>
          <p:nvPr/>
        </p:nvSpPr>
        <p:spPr>
          <a:xfrm>
            <a:off x="9235440" y="3017520"/>
            <a:ext cx="548640" cy="548640"/>
          </a:xfrm>
          <a:prstGeom prst="ellipse">
            <a:avLst/>
          </a:prstGeom>
          <a:solidFill>
            <a:srgbClr val="FFFFFF"/>
          </a:solidFill>
          <a:ln cap="flat" cmpd="sng" w="25400">
            <a:solidFill>
              <a:srgbClr val="6474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7"/>
          <p:cNvSpPr/>
          <p:nvPr/>
        </p:nvSpPr>
        <p:spPr>
          <a:xfrm>
            <a:off x="8412480" y="2103120"/>
            <a:ext cx="21945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400"/>
              <a:buFont typeface="Georgia"/>
              <a:buNone/>
            </a:pPr>
            <a:r>
              <a:rPr b="1" i="0" lang="en-US" sz="1400" u="none" cap="none" strike="noStrike">
                <a:solidFill>
                  <a:srgbClr val="1E293B"/>
                </a:solidFill>
                <a:latin typeface="Georgia"/>
                <a:ea typeface="Georgia"/>
                <a:cs typeface="Georgia"/>
                <a:sym typeface="Georgia"/>
              </a:rPr>
              <a:t>Week 4+</a:t>
            </a:r>
            <a:endParaRPr b="0" i="0" sz="1400" u="none" cap="none" strike="noStrike">
              <a:solidFill>
                <a:schemeClr val="dk1"/>
              </a:solidFill>
              <a:latin typeface="Calibri"/>
              <a:ea typeface="Calibri"/>
              <a:cs typeface="Calibri"/>
              <a:sym typeface="Calibri"/>
            </a:endParaRPr>
          </a:p>
        </p:txBody>
      </p:sp>
      <p:sp>
        <p:nvSpPr>
          <p:cNvPr id="413" name="Google Shape;413;p17"/>
          <p:cNvSpPr/>
          <p:nvPr/>
        </p:nvSpPr>
        <p:spPr>
          <a:xfrm>
            <a:off x="8229600" y="3703320"/>
            <a:ext cx="256032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Final paper,</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result write-up</a:t>
            </a:r>
            <a:endParaRPr b="0" i="0" sz="1100" u="none" cap="none" strike="noStrike">
              <a:solidFill>
                <a:schemeClr val="dk1"/>
              </a:solidFill>
              <a:latin typeface="Calibri"/>
              <a:ea typeface="Calibri"/>
              <a:cs typeface="Calibri"/>
              <a:sym typeface="Calibri"/>
            </a:endParaRPr>
          </a:p>
        </p:txBody>
      </p:sp>
      <p:cxnSp>
        <p:nvCxnSpPr>
          <p:cNvPr id="414" name="Google Shape;414;p17"/>
          <p:cNvCxnSpPr/>
          <p:nvPr/>
        </p:nvCxnSpPr>
        <p:spPr>
          <a:xfrm>
            <a:off x="548640" y="6446520"/>
            <a:ext cx="11094415" cy="0"/>
          </a:xfrm>
          <a:prstGeom prst="straightConnector1">
            <a:avLst/>
          </a:prstGeom>
          <a:noFill/>
          <a:ln cap="flat" cmpd="sng" w="9525">
            <a:solidFill>
              <a:srgbClr val="E2E8F0"/>
            </a:solidFill>
            <a:prstDash val="solid"/>
            <a:round/>
            <a:headEnd len="sm" w="sm" type="none"/>
            <a:tailEnd len="sm" w="sm" type="none"/>
          </a:ln>
        </p:spPr>
      </p:cxnSp>
      <p:sp>
        <p:nvSpPr>
          <p:cNvPr id="415" name="Google Shape;415;p17"/>
          <p:cNvSpPr/>
          <p:nvPr/>
        </p:nvSpPr>
        <p:spPr>
          <a:xfrm>
            <a:off x="3748990" y="3017532"/>
            <a:ext cx="548700" cy="548700"/>
          </a:xfrm>
          <a:prstGeom prst="ellipse">
            <a:avLst/>
          </a:prstGeom>
          <a:solidFill>
            <a:srgbClr val="0F4C3A"/>
          </a:solidFill>
          <a:ln cap="flat" cmpd="sng" w="25400">
            <a:solidFill>
              <a:srgbClr val="0F4C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7"/>
          <p:cNvSpPr/>
          <p:nvPr/>
        </p:nvSpPr>
        <p:spPr>
          <a:xfrm>
            <a:off x="548640" y="6492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BioBERT · Soccer Injury Severity Classification</a:t>
            </a:r>
            <a:endParaRPr b="0" i="0" sz="900" u="none" cap="none" strike="noStrike">
              <a:solidFill>
                <a:schemeClr val="dk1"/>
              </a:solidFill>
              <a:latin typeface="Calibri"/>
              <a:ea typeface="Calibri"/>
              <a:cs typeface="Calibri"/>
              <a:sym typeface="Calibri"/>
            </a:endParaRPr>
          </a:p>
        </p:txBody>
      </p:sp>
      <p:sp>
        <p:nvSpPr>
          <p:cNvPr id="417" name="Google Shape;417;p17"/>
          <p:cNvSpPr/>
          <p:nvPr/>
        </p:nvSpPr>
        <p:spPr>
          <a:xfrm>
            <a:off x="10728655" y="649224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15 / 16</a:t>
            </a:r>
            <a:endParaRPr b="0" i="0" sz="900" u="none" cap="none" strike="noStrike">
              <a:solidFill>
                <a:schemeClr val="dk1"/>
              </a:solidFill>
              <a:latin typeface="Calibri"/>
              <a:ea typeface="Calibri"/>
              <a:cs typeface="Calibri"/>
              <a:sym typeface="Calibri"/>
            </a:endParaRPr>
          </a:p>
        </p:txBody>
      </p:sp>
      <p:sp>
        <p:nvSpPr>
          <p:cNvPr id="418" name="Google Shape;418;p17"/>
          <p:cNvSpPr/>
          <p:nvPr/>
        </p:nvSpPr>
        <p:spPr>
          <a:xfrm>
            <a:off x="3749015" y="2971770"/>
            <a:ext cx="548700" cy="54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419" name="Google Shape;419;p17"/>
          <p:cNvSpPr/>
          <p:nvPr/>
        </p:nvSpPr>
        <p:spPr>
          <a:xfrm>
            <a:off x="6492227" y="3017520"/>
            <a:ext cx="548700" cy="548700"/>
          </a:xfrm>
          <a:prstGeom prst="ellipse">
            <a:avLst/>
          </a:prstGeom>
          <a:solidFill>
            <a:srgbClr val="F59E0B"/>
          </a:solidFill>
          <a:ln cap="flat" cmpd="sng" w="254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7"/>
          <p:cNvSpPr/>
          <p:nvPr/>
        </p:nvSpPr>
        <p:spPr>
          <a:xfrm>
            <a:off x="6492227" y="3017520"/>
            <a:ext cx="548700" cy="54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2E22"/>
        </a:solidFill>
      </p:bgPr>
    </p:bg>
    <p:spTree>
      <p:nvGrpSpPr>
        <p:cNvPr id="425" name="Shape 425"/>
        <p:cNvGrpSpPr/>
        <p:nvPr/>
      </p:nvGrpSpPr>
      <p:grpSpPr>
        <a:xfrm>
          <a:off x="0" y="0"/>
          <a:ext cx="0" cy="0"/>
          <a:chOff x="0" y="0"/>
          <a:chExt cx="0" cy="0"/>
        </a:xfrm>
      </p:grpSpPr>
      <p:sp>
        <p:nvSpPr>
          <p:cNvPr id="426" name="Google Shape;426;p18"/>
          <p:cNvSpPr/>
          <p:nvPr/>
        </p:nvSpPr>
        <p:spPr>
          <a:xfrm>
            <a:off x="8534095" y="-2743200"/>
            <a:ext cx="6400800" cy="6400800"/>
          </a:xfrm>
          <a:prstGeom prst="ellipse">
            <a:avLst/>
          </a:prstGeom>
          <a:solidFill>
            <a:srgbClr val="0F4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8"/>
          <p:cNvSpPr/>
          <p:nvPr/>
        </p:nvSpPr>
        <p:spPr>
          <a:xfrm>
            <a:off x="-1828800" y="4114800"/>
            <a:ext cx="4572000" cy="4572000"/>
          </a:xfrm>
          <a:prstGeom prst="ellipse">
            <a:avLst/>
          </a:prstGeom>
          <a:solidFill>
            <a:srgbClr val="F59E0B">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8"/>
          <p:cNvSpPr/>
          <p:nvPr/>
        </p:nvSpPr>
        <p:spPr>
          <a:xfrm>
            <a:off x="5951030" y="634498"/>
            <a:ext cx="10972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300"/>
              <a:buFont typeface="Calibri"/>
              <a:buNone/>
            </a:pPr>
            <a:r>
              <a:rPr b="1" i="0" lang="en-US" sz="2200" u="none" cap="none" strike="noStrike">
                <a:solidFill>
                  <a:srgbClr val="F59E0B"/>
                </a:solidFill>
                <a:latin typeface="Calibri"/>
                <a:ea typeface="Calibri"/>
                <a:cs typeface="Calibri"/>
                <a:sym typeface="Calibri"/>
              </a:rPr>
              <a:t>THANK YOU</a:t>
            </a:r>
            <a:endParaRPr b="0" i="0" sz="2200" u="none" cap="none" strike="noStrike">
              <a:solidFill>
                <a:schemeClr val="dk1"/>
              </a:solidFill>
              <a:latin typeface="Calibri"/>
              <a:ea typeface="Calibri"/>
              <a:cs typeface="Calibri"/>
              <a:sym typeface="Calibri"/>
            </a:endParaRPr>
          </a:p>
        </p:txBody>
      </p:sp>
      <p:sp>
        <p:nvSpPr>
          <p:cNvPr id="429" name="Google Shape;429;p18"/>
          <p:cNvSpPr/>
          <p:nvPr/>
        </p:nvSpPr>
        <p:spPr>
          <a:xfrm>
            <a:off x="640080" y="4023360"/>
            <a:ext cx="548640" cy="36576"/>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8"/>
          <p:cNvSpPr/>
          <p:nvPr/>
        </p:nvSpPr>
        <p:spPr>
          <a:xfrm>
            <a:off x="5981505" y="588770"/>
            <a:ext cx="4114800" cy="548700"/>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300"/>
          </a:p>
        </p:txBody>
      </p:sp>
      <p:sp>
        <p:nvSpPr>
          <p:cNvPr id="431" name="Google Shape;431;p18"/>
          <p:cNvSpPr/>
          <p:nvPr/>
        </p:nvSpPr>
        <p:spPr>
          <a:xfrm>
            <a:off x="5981505" y="588770"/>
            <a:ext cx="4114800" cy="54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2E22"/>
              </a:buClr>
              <a:buSzPts val="1300"/>
              <a:buFont typeface="Calibri"/>
              <a:buNone/>
            </a:pPr>
            <a:r>
              <a:rPr lang="en-US" sz="2700">
                <a:solidFill>
                  <a:schemeClr val="dk1"/>
                </a:solidFill>
                <a:latin typeface="Satisfy"/>
                <a:ea typeface="Satisfy"/>
                <a:cs typeface="Satisfy"/>
                <a:sym typeface="Satisfy"/>
              </a:rPr>
              <a:t>Thank You</a:t>
            </a:r>
            <a:endParaRPr i="0" sz="2700" u="none" cap="none" strike="noStrike">
              <a:solidFill>
                <a:schemeClr val="dk1"/>
              </a:solidFill>
              <a:latin typeface="Satisfy"/>
              <a:ea typeface="Satisfy"/>
              <a:cs typeface="Satisfy"/>
              <a:sym typeface="Satisfy"/>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